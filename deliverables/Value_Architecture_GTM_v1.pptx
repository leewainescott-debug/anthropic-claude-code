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getting the value</c:v>
                </c:pt>
              </c:strCache>
            </c:strRef>
          </c:tx>
          <c:spPr>
            <a:solidFill>
              <a:srgbClr val="0C62FB"/>
            </a:solidFill>
            <a:effectLst/>
          </c:spPr>
          <c:invertIfNegative val="0"/>
          <c:dLbls>
            <c:numFmt formatCode="0&quot;%&quot;" sourceLinked="0"/>
            <c:txPr>
              <a:bodyPr/>
              <a:lstStyle/>
              <a:p>
                <a:pPr>
                  <a:defRPr b="1" i="0" strike="noStrike" sz="1000" u="none">
                    <a:solidFill>
                      <a:srgbClr val="14171F"/>
                    </a:solidFill>
                    <a:latin typeface="Arial"/>
                  </a:defRPr>
                </a:pPr>
              </a:p>
            </c:txPr>
            <c:showLegendKey val="0"/>
            <c:showVal val="1"/>
            <c:showCatName val="0"/>
            <c:showSerName val="0"/>
            <c:showPercent val="0"/>
            <c:showBubbleSize val="0"/>
            <c:showLeaderLines val="0"/>
          </c:dLbls>
          <c:cat>
            <c:multiLvlStrRef>
              <c:f>Sheet1!$A$2:$A$7</c:f>
              <c:multiLvlStrCache>
                <c:ptCount val="6"/>
                <c:lvl>
                  <c:pt idx="0">
                    <c:v>Companies with more than 5% of profit attributable to AI (McKinsey '25)</c:v>
                  </c:pt>
                  <c:pt idx="1">
                    <c:v>Transformations achieving their original ambition (Bain, 24,000 initiatives)</c:v>
                  </c:pt>
                  <c:pt idx="2">
                    <c:v>Acquirers hitting announced synergy targets (Bain)</c:v>
                  </c:pt>
                  <c:pt idx="3">
                    <c:v>Salesforce AI initiatives meeting expected returns (IBM '26)</c:v>
                  </c:pt>
                  <c:pt idx="4">
                    <c:v>Organisations that mostly or always deliver full project benefits (Wellingtone '26)</c:v>
                  </c:pt>
                  <c:pt idx="5">
                    <c:v>Companies fully achieving expected cloud value (Accenture '25)</c:v>
                  </c:pt>
                </c:lvl>
              </c:multiLvlStrCache>
            </c:multiLvlStrRef>
          </c:cat>
          <c:val>
            <c:numRef>
              <c:f>Sheet1!$B$2:$B$7</c:f>
              <c:numCache>
                <c:formatCode>General</c:formatCode>
                <c:ptCount val="6"/>
                <c:pt idx="0">
                  <c:v>6</c:v>
                </c:pt>
                <c:pt idx="1">
                  <c:v>12</c:v>
                </c:pt>
                <c:pt idx="2">
                  <c:v>30</c:v>
                </c:pt>
                <c:pt idx="3">
                  <c:v>33</c:v>
                </c:pt>
                <c:pt idx="4">
                  <c:v>39</c:v>
                </c:pt>
                <c:pt idx="5">
                  <c:v>42</c:v>
                </c:pt>
              </c:numCache>
            </c:numRef>
          </c:val>
        </c:ser>
        <c:dLbls>
          <c:numFmt formatCode="0&quot;%&quot;" sourceLinked="0"/>
          <c:txPr>
            <a:bodyPr/>
            <a:lstStyle/>
            <a:p>
              <a:pPr>
                <a:defRPr b="1" i="0" strike="noStrike" sz="1000" u="none">
                  <a:solidFill>
                    <a:srgbClr val="14171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14171F"/>
                </a:solidFill>
                <a:latin typeface="Arial"/>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share the thinking on value architecture, show what it looks like as practical client work rather than theory, and agree how we take it to market. Twenty minutes of content; the decision slide is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version of the whole deck. Situation-complication-resolution. If we only get five minutes, this is the five minutes: clients have a realisation problem, not an investment problem; we sell four practical doors into one capability; and the go-to-market runs through client partners recognising five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quotes, not the stats, first. These are the five sentences we hear in accounts today. Each one maps to an offering later in the deck. The point in the black box matters: we are not creating demand, we are naming a problem the client already feels and putting a number and a first step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timing argument. Four independent pressures landed in the same year: board scrutiny on AI spend, value reporting becoming a board-level norm, waste rising for the first time in five years, and private equity losing the multiple-expansion lever. Each pressure creates a buyer who has to act, not just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definitional slide, kept deliberately light on framework per the brief. The opening question is the product. The right-hand column earns trust: saying clearly what this is not separates it from every strategy deck the client has already been sold. Land on the blue box: value defined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practicality slide. Walk one row end to end — the business case row is the strongest: everyone in the room has watched a business case die the day it was approved. Emphasise the last row: finance agreeing the number moved is what separates claimed value from real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chart, one message: whatever the investment type, the share of organisations that actually capture the value is between 6 and 42 percent. The right column pre-empts the 'why' question with four root causes in plain English — all four are organisational, none are technical, which is why a value discipline fixes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on one page. Read it column by column, not row by row: each column is a door, opened by a client sentence we already hear. Stress the pattern in the SO WHAT: four doors, one room. The client can enter anywhere and end up with the same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offering. The four steps are deliberately sequential: one investment, baselined, given a rhythm, then institutionalised only if the client wants the standing muscle. Note the handover point — we build the office so the client can run it. That honesty sells; a value office designed to need us forever would poison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with care: this is not an AI offering, it is the value discipline applied to the spend currently under the most scrutiny. The footnote matters — we deliberately do not use the famous 95%-failure stat because a well-read CFO will puncture it, and being the firm that quotes careful numbers is part of the brand of this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slide. Two things make this offering different from the health checks every SI sells: the output is a dollar figure on trapped value with a no-new-spend roadmap, and the entry cost to the client can be near zero because the platform partners fund assessments that drive their own consumption. The caveat in italics is real: funding terms change quarterly, so the alliance leads own the current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credibility argument is the third step: integration timelines are paced by systems and data work, which is delivery we already do. The KPMG green-scorecards stat is the emotional core of this page — every corp dev lead has lived it. Note the PE angle at the bottom right: longer holds turn this from deal-driven work into recurring portfolio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positioning slide. Be generous to the competition — the room will trust the comparison more. The honesty row at the bottom is deliberate: claiming we out-think McKinsey loses the room; claiming we out-execute them inside the build is credible because it's structurally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GTM engine. Left side: where the work comes from — current accounts first, funded assessments for cold ones, timed moments for warm calls. Right side: the whole client-partner ask reduced to five sentences and five responses. Keep this table on one page forever; the moment it needs a second page the enablement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slide. Do not leave the room without the three account names — everything else in the deck survives a delay, this doesn't. The 90-day paragraph pre-empts the 'what does this cost us' question: no hires, no tooling, three small engagements, most of them 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the question 'where do these numbers come from'. The right-hand red box is worth thirty seconds even in a short session: rejecting famous-but-weak stats is a live demonstration of the discipline we're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F"/>
        </a:solidFill>
      </p:bgPr>
    </p:bg>
    <p:spTree>
      <p:nvGrpSpPr>
        <p:cNvPr id="1" name=""/>
        <p:cNvGrpSpPr/>
        <p:nvPr/>
      </p:nvGrpSpPr>
      <p:grpSpPr>
        <a:xfrm>
          <a:off x="0" y="0"/>
          <a:ext cx="0" cy="0"/>
          <a:chOff x="0" y="0"/>
          <a:chExt cx="0" cy="0"/>
        </a:xfrm>
      </p:grpSpPr>
      <p:sp>
        <p:nvSpPr>
          <p:cNvPr id="2" name="Text 0"/>
          <p:cNvSpPr/>
          <p:nvPr/>
        </p:nvSpPr>
        <p:spPr>
          <a:xfrm>
            <a:off x="502920" y="457200"/>
            <a:ext cx="2743200"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slalom</a:t>
            </a:r>
            <a:endParaRPr lang="en-US" sz="2600" dirty="0"/>
          </a:p>
        </p:txBody>
      </p:sp>
      <p:sp>
        <p:nvSpPr>
          <p:cNvPr id="3" name="Text 1"/>
          <p:cNvSpPr/>
          <p:nvPr/>
        </p:nvSpPr>
        <p:spPr>
          <a:xfrm>
            <a:off x="502920" y="2377440"/>
            <a:ext cx="11155680" cy="100584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Value architecture</a:t>
            </a:r>
            <a:endParaRPr lang="en-US" sz="5200" dirty="0"/>
          </a:p>
        </p:txBody>
      </p:sp>
      <p:sp>
        <p:nvSpPr>
          <p:cNvPr id="4" name="Text 2"/>
          <p:cNvSpPr/>
          <p:nvPr/>
        </p:nvSpPr>
        <p:spPr>
          <a:xfrm>
            <a:off x="502920" y="3474720"/>
            <a:ext cx="9601200" cy="822960"/>
          </a:xfrm>
          <a:prstGeom prst="rect">
            <a:avLst/>
          </a:prstGeom>
          <a:noFill/>
          <a:ln/>
        </p:spPr>
        <p:txBody>
          <a:bodyPr wrap="square" lIns="0" tIns="0" rIns="0" bIns="0" rtlCol="0" anchor="ctr"/>
          <a:lstStyle/>
          <a:p>
            <a:pPr indent="0" marL="0">
              <a:lnSpc>
                <a:spcPct val="110000"/>
              </a:lnSpc>
              <a:buNone/>
            </a:pPr>
            <a:r>
              <a:rPr lang="en-US" sz="2000" dirty="0">
                <a:solidFill>
                  <a:srgbClr val="E8F0FE"/>
                </a:solidFill>
                <a:latin typeface="Arial" pitchFamily="34" charset="0"/>
                <a:ea typeface="Arial" pitchFamily="34" charset="-122"/>
                <a:cs typeface="Arial" pitchFamily="34" charset="-120"/>
              </a:rPr>
              <a:t>How we help clients realise the value of what they buy — and how we take it to market</a:t>
            </a:r>
            <a:endParaRPr lang="en-US" sz="2000" dirty="0"/>
          </a:p>
        </p:txBody>
      </p:sp>
      <p:sp>
        <p:nvSpPr>
          <p:cNvPr id="5" name="Shape 3"/>
          <p:cNvSpPr/>
          <p:nvPr/>
        </p:nvSpPr>
        <p:spPr>
          <a:xfrm>
            <a:off x="502920" y="3310128"/>
            <a:ext cx="1463040" cy="41148"/>
          </a:xfrm>
          <a:prstGeom prst="rect">
            <a:avLst/>
          </a:prstGeom>
          <a:solidFill>
            <a:srgbClr val="0C62FB"/>
          </a:solidFill>
          <a:ln/>
        </p:spPr>
      </p:sp>
      <p:sp>
        <p:nvSpPr>
          <p:cNvPr id="6" name="Text 4"/>
          <p:cNvSpPr/>
          <p:nvPr/>
        </p:nvSpPr>
        <p:spPr>
          <a:xfrm>
            <a:off x="502920" y="6126480"/>
            <a:ext cx="5486400" cy="365760"/>
          </a:xfrm>
          <a:prstGeom prst="rect">
            <a:avLst/>
          </a:prstGeom>
          <a:noFill/>
          <a:ln/>
        </p:spPr>
        <p:txBody>
          <a:bodyPr wrap="square" lIns="0" tIns="0" rIns="0" bIns="0" rtlCol="0" anchor="ctr"/>
          <a:lstStyle/>
          <a:p>
            <a:pPr indent="0" marL="0">
              <a:buNone/>
            </a:pPr>
            <a:r>
              <a:rPr lang="en-US" sz="1200" dirty="0">
                <a:solidFill>
                  <a:srgbClr val="9AA3B2"/>
                </a:solidFill>
                <a:latin typeface="Arial" pitchFamily="34" charset="0"/>
                <a:ea typeface="Arial" pitchFamily="34" charset="-122"/>
                <a:cs typeface="Arial" pitchFamily="34" charset="-120"/>
              </a:rPr>
              <a:t>Draft for discussion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EXECUTIVE SUMMARY  |  VALUE ARCHITECTURE</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2</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Clients keep funding investments whose value they can't see, prove or steer — we can fix that</a:t>
            </a:r>
            <a:endParaRPr lang="en-US" sz="2200" dirty="0"/>
          </a:p>
        </p:txBody>
      </p:sp>
      <p:sp>
        <p:nvSpPr>
          <p:cNvPr id="7" name="Shape 5"/>
          <p:cNvSpPr/>
          <p:nvPr/>
        </p:nvSpPr>
        <p:spPr>
          <a:xfrm>
            <a:off x="502920" y="1371600"/>
            <a:ext cx="11183112" cy="566928"/>
          </a:xfrm>
          <a:prstGeom prst="rect">
            <a:avLst/>
          </a:prstGeom>
          <a:solidFill>
            <a:srgbClr val="F5F8FE"/>
          </a:solidFill>
          <a:ln/>
        </p:spPr>
      </p:sp>
      <p:sp>
        <p:nvSpPr>
          <p:cNvPr id="8" name="Text 6"/>
          <p:cNvSpPr/>
          <p:nvPr/>
        </p:nvSpPr>
        <p:spPr>
          <a:xfrm>
            <a:off x="658368" y="1371600"/>
            <a:ext cx="1325880" cy="566928"/>
          </a:xfrm>
          <a:prstGeom prst="rect">
            <a:avLst/>
          </a:prstGeom>
          <a:noFill/>
          <a:ln/>
        </p:spPr>
        <p:txBody>
          <a:bodyPr wrap="square" lIns="0" tIns="0" rIns="0" bIns="0" rtlCol="0" anchor="ctr"/>
          <a:lstStyle/>
          <a:p>
            <a:pPr indent="0" marL="0">
              <a:buNone/>
            </a:pPr>
            <a:r>
              <a:rPr lang="en-US" sz="900" b="1" spc="150" kern="0" dirty="0">
                <a:solidFill>
                  <a:srgbClr val="14171F"/>
                </a:solidFill>
                <a:latin typeface="Arial" pitchFamily="34" charset="0"/>
                <a:ea typeface="Arial" pitchFamily="34" charset="-122"/>
                <a:cs typeface="Arial" pitchFamily="34" charset="-120"/>
              </a:rPr>
              <a:t>SITUATION</a:t>
            </a:r>
            <a:endParaRPr lang="en-US" sz="900" dirty="0"/>
          </a:p>
        </p:txBody>
      </p:sp>
      <p:sp>
        <p:nvSpPr>
          <p:cNvPr id="9" name="Text 7"/>
          <p:cNvSpPr/>
          <p:nvPr/>
        </p:nvSpPr>
        <p:spPr>
          <a:xfrm>
            <a:off x="2103120" y="1371600"/>
            <a:ext cx="9418320" cy="566928"/>
          </a:xfrm>
          <a:prstGeom prst="rect">
            <a:avLst/>
          </a:prstGeom>
          <a:noFill/>
          <a:ln/>
        </p:spPr>
        <p:txBody>
          <a:bodyPr wrap="square" lIns="0" tIns="0" rIns="0" bIns="0" rtlCol="0" anchor="ctr"/>
          <a:lstStyle/>
          <a:p>
            <a:pPr indent="0" marL="0">
              <a:lnSpc>
                <a:spcPct val="108000"/>
              </a:lnSpc>
              <a:buNone/>
            </a:pPr>
            <a:r>
              <a:rPr lang="en-US" sz="1050" dirty="0">
                <a:solidFill>
                  <a:srgbClr val="14171F"/>
                </a:solidFill>
                <a:latin typeface="Arial" pitchFamily="34" charset="0"/>
                <a:ea typeface="Arial" pitchFamily="34" charset="-122"/>
                <a:cs typeface="Arial" pitchFamily="34" charset="-120"/>
              </a:rPr>
              <a:t>Clients are spending more on technology than ever — software spend alone grows about 15% in 2026 — and every dollar arrives with a business case that promises value to the board.</a:t>
            </a:r>
            <a:endParaRPr lang="en-US" sz="1050" dirty="0"/>
          </a:p>
        </p:txBody>
      </p:sp>
      <p:sp>
        <p:nvSpPr>
          <p:cNvPr id="10" name="Shape 8"/>
          <p:cNvSpPr/>
          <p:nvPr/>
        </p:nvSpPr>
        <p:spPr>
          <a:xfrm>
            <a:off x="502920" y="2029968"/>
            <a:ext cx="11183112" cy="713232"/>
          </a:xfrm>
          <a:prstGeom prst="rect">
            <a:avLst/>
          </a:prstGeom>
          <a:solidFill>
            <a:srgbClr val="F5F8FE"/>
          </a:solidFill>
          <a:ln/>
        </p:spPr>
      </p:sp>
      <p:sp>
        <p:nvSpPr>
          <p:cNvPr id="11" name="Text 9"/>
          <p:cNvSpPr/>
          <p:nvPr/>
        </p:nvSpPr>
        <p:spPr>
          <a:xfrm>
            <a:off x="658368" y="2029968"/>
            <a:ext cx="1325880" cy="713232"/>
          </a:xfrm>
          <a:prstGeom prst="rect">
            <a:avLst/>
          </a:prstGeom>
          <a:noFill/>
          <a:ln/>
        </p:spPr>
        <p:txBody>
          <a:bodyPr wrap="square" lIns="0" tIns="0" rIns="0" bIns="0" rtlCol="0" anchor="ctr"/>
          <a:lstStyle/>
          <a:p>
            <a:pPr indent="0" marL="0">
              <a:buNone/>
            </a:pPr>
            <a:r>
              <a:rPr lang="en-US" sz="900" b="1" spc="150" kern="0" dirty="0">
                <a:solidFill>
                  <a:srgbClr val="C62828"/>
                </a:solidFill>
                <a:latin typeface="Arial" pitchFamily="34" charset="0"/>
                <a:ea typeface="Arial" pitchFamily="34" charset="-122"/>
                <a:cs typeface="Arial" pitchFamily="34" charset="-120"/>
              </a:rPr>
              <a:t>COMPLICATION</a:t>
            </a:r>
            <a:endParaRPr lang="en-US" sz="900" dirty="0"/>
          </a:p>
        </p:txBody>
      </p:sp>
      <p:sp>
        <p:nvSpPr>
          <p:cNvPr id="12" name="Text 10"/>
          <p:cNvSpPr/>
          <p:nvPr/>
        </p:nvSpPr>
        <p:spPr>
          <a:xfrm>
            <a:off x="2103120" y="2029968"/>
            <a:ext cx="9418320" cy="713232"/>
          </a:xfrm>
          <a:prstGeom prst="rect">
            <a:avLst/>
          </a:prstGeom>
          <a:noFill/>
          <a:ln/>
        </p:spPr>
        <p:txBody>
          <a:bodyPr wrap="square" lIns="0" tIns="0" rIns="0" bIns="0" rtlCol="0" anchor="ctr"/>
          <a:lstStyle/>
          <a:p>
            <a:pPr indent="0" marL="0">
              <a:lnSpc>
                <a:spcPct val="108000"/>
              </a:lnSpc>
              <a:buNone/>
            </a:pPr>
            <a:r>
              <a:rPr lang="en-US" sz="1050" dirty="0">
                <a:solidFill>
                  <a:srgbClr val="14171F"/>
                </a:solidFill>
                <a:latin typeface="Arial" pitchFamily="34" charset="0"/>
                <a:ea typeface="Arial" pitchFamily="34" charset="-122"/>
                <a:cs typeface="Arial" pitchFamily="34" charset="-120"/>
              </a:rPr>
              <a:t>The value rarely lands, and nobody is set up to realise it. Of 16,000 studied projects, 0.5% hit cost, time and benefits. Fewer than four in ten organisations check benefits after go-live. And in 2026, two thirds of boards now condition further AI funding on proof of return.</a:t>
            </a:r>
            <a:endParaRPr lang="en-US" sz="1050" dirty="0"/>
          </a:p>
        </p:txBody>
      </p:sp>
      <p:sp>
        <p:nvSpPr>
          <p:cNvPr id="13" name="Text 11"/>
          <p:cNvSpPr/>
          <p:nvPr/>
        </p:nvSpPr>
        <p:spPr>
          <a:xfrm>
            <a:off x="658368" y="2871216"/>
            <a:ext cx="1828800" cy="274320"/>
          </a:xfrm>
          <a:prstGeom prst="rect">
            <a:avLst/>
          </a:prstGeom>
          <a:noFill/>
          <a:ln/>
        </p:spPr>
        <p:txBody>
          <a:bodyPr wrap="square" lIns="0" tIns="0" rIns="0" bIns="0" rtlCol="0" anchor="ctr"/>
          <a:lstStyle/>
          <a:p>
            <a:pPr indent="0" marL="0">
              <a:buNone/>
            </a:pPr>
            <a:r>
              <a:rPr lang="en-US" sz="900" b="1" spc="150" kern="0" dirty="0">
                <a:solidFill>
                  <a:srgbClr val="0C62FB"/>
                </a:solidFill>
                <a:latin typeface="Arial" pitchFamily="34" charset="0"/>
                <a:ea typeface="Arial" pitchFamily="34" charset="-122"/>
                <a:cs typeface="Arial" pitchFamily="34" charset="-120"/>
              </a:rPr>
              <a:t>RESOLUTION</a:t>
            </a:r>
            <a:endParaRPr lang="en-US" sz="900" dirty="0"/>
          </a:p>
        </p:txBody>
      </p:sp>
      <p:sp>
        <p:nvSpPr>
          <p:cNvPr id="14" name="Shape 12"/>
          <p:cNvSpPr/>
          <p:nvPr/>
        </p:nvSpPr>
        <p:spPr>
          <a:xfrm>
            <a:off x="502920" y="3218688"/>
            <a:ext cx="246888" cy="246888"/>
          </a:xfrm>
          <a:prstGeom prst="ellipse">
            <a:avLst/>
          </a:prstGeom>
          <a:solidFill>
            <a:srgbClr val="0C62FB"/>
          </a:solidFill>
          <a:ln/>
        </p:spPr>
      </p:sp>
      <p:sp>
        <p:nvSpPr>
          <p:cNvPr id="15" name="Text 13"/>
          <p:cNvSpPr/>
          <p:nvPr/>
        </p:nvSpPr>
        <p:spPr>
          <a:xfrm>
            <a:off x="484632" y="3204972"/>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4"/>
          <p:cNvSpPr/>
          <p:nvPr/>
        </p:nvSpPr>
        <p:spPr>
          <a:xfrm>
            <a:off x="850392" y="3163824"/>
            <a:ext cx="3264408" cy="566928"/>
          </a:xfrm>
          <a:prstGeom prst="rect">
            <a:avLst/>
          </a:prstGeom>
          <a:noFill/>
          <a:ln/>
        </p:spPr>
        <p:txBody>
          <a:bodyPr wrap="square" lIns="0" tIns="0" rIns="0" bIns="0" rtlCol="0" anchor="t"/>
          <a:lstStyle/>
          <a:p>
            <a:pPr indent="0" marL="0">
              <a:lnSpc>
                <a:spcPct val="102000"/>
              </a:lnSpc>
              <a:buNone/>
            </a:pPr>
            <a:r>
              <a:rPr lang="en-US" sz="1150" b="1" dirty="0">
                <a:solidFill>
                  <a:srgbClr val="14171F"/>
                </a:solidFill>
                <a:latin typeface="Arial" pitchFamily="34" charset="0"/>
                <a:ea typeface="Arial" pitchFamily="34" charset="-122"/>
                <a:cs typeface="Arial" pitchFamily="34" charset="-120"/>
              </a:rPr>
              <a:t>Open every investment with the value question</a:t>
            </a:r>
            <a:endParaRPr lang="en-US" sz="1150" dirty="0"/>
          </a:p>
        </p:txBody>
      </p:sp>
      <p:sp>
        <p:nvSpPr>
          <p:cNvPr id="17" name="Shape 15"/>
          <p:cNvSpPr/>
          <p:nvPr/>
        </p:nvSpPr>
        <p:spPr>
          <a:xfrm>
            <a:off x="502920" y="3822192"/>
            <a:ext cx="3611880" cy="1828800"/>
          </a:xfrm>
          <a:prstGeom prst="rect">
            <a:avLst/>
          </a:prstGeom>
          <a:solidFill>
            <a:srgbClr val="F5F8FE"/>
          </a:solidFill>
          <a:ln/>
        </p:spPr>
      </p:sp>
      <p:sp>
        <p:nvSpPr>
          <p:cNvPr id="18" name="Text 16"/>
          <p:cNvSpPr/>
          <p:nvPr/>
        </p:nvSpPr>
        <p:spPr>
          <a:xfrm>
            <a:off x="630936" y="3931920"/>
            <a:ext cx="3355848" cy="1609344"/>
          </a:xfrm>
          <a:prstGeom prst="rect">
            <a:avLst/>
          </a:prstGeom>
          <a:noFill/>
          <a:ln/>
        </p:spPr>
        <p:txBody>
          <a:bodyPr wrap="square" lIns="0" tIns="0" rIns="0" bIns="0" rtlCol="0" anchor="t"/>
          <a:lstStyle/>
          <a:p>
            <a:pPr indent="0" marL="0">
              <a:lnSpc>
                <a:spcPct val="114000"/>
              </a:lnSpc>
              <a:buNone/>
            </a:pPr>
            <a:r>
              <a:rPr lang="en-US" sz="1000" dirty="0">
                <a:solidFill>
                  <a:srgbClr val="14171F"/>
                </a:solidFill>
                <a:latin typeface="Arial" pitchFamily="34" charset="0"/>
                <a:ea typeface="Arial" pitchFamily="34" charset="-122"/>
                <a:cs typeface="Arial" pitchFamily="34" charset="-120"/>
              </a:rPr>
              <a:t>What value does this drive for the business as a whole — and how do we set ourselves up to realise it? We build value cases, not business cases: business KPIs with a baseline, a target, a date and a named owner.</a:t>
            </a:r>
            <a:endParaRPr lang="en-US" sz="1000" dirty="0"/>
          </a:p>
        </p:txBody>
      </p:sp>
      <p:sp>
        <p:nvSpPr>
          <p:cNvPr id="19" name="Shape 17"/>
          <p:cNvSpPr/>
          <p:nvPr/>
        </p:nvSpPr>
        <p:spPr>
          <a:xfrm>
            <a:off x="4288536" y="3218688"/>
            <a:ext cx="246888" cy="246888"/>
          </a:xfrm>
          <a:prstGeom prst="ellipse">
            <a:avLst/>
          </a:prstGeom>
          <a:solidFill>
            <a:srgbClr val="0C62FB"/>
          </a:solidFill>
          <a:ln/>
        </p:spPr>
      </p:sp>
      <p:sp>
        <p:nvSpPr>
          <p:cNvPr id="20" name="Text 18"/>
          <p:cNvSpPr/>
          <p:nvPr/>
        </p:nvSpPr>
        <p:spPr>
          <a:xfrm>
            <a:off x="4270248" y="3204972"/>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1" name="Text 19"/>
          <p:cNvSpPr/>
          <p:nvPr/>
        </p:nvSpPr>
        <p:spPr>
          <a:xfrm>
            <a:off x="4636008" y="3163824"/>
            <a:ext cx="3264408" cy="566928"/>
          </a:xfrm>
          <a:prstGeom prst="rect">
            <a:avLst/>
          </a:prstGeom>
          <a:noFill/>
          <a:ln/>
        </p:spPr>
        <p:txBody>
          <a:bodyPr wrap="square" lIns="0" tIns="0" rIns="0" bIns="0" rtlCol="0" anchor="t"/>
          <a:lstStyle/>
          <a:p>
            <a:pPr indent="0" marL="0">
              <a:lnSpc>
                <a:spcPct val="102000"/>
              </a:lnSpc>
              <a:buNone/>
            </a:pPr>
            <a:r>
              <a:rPr lang="en-US" sz="1150" b="1" dirty="0">
                <a:solidFill>
                  <a:srgbClr val="14171F"/>
                </a:solidFill>
                <a:latin typeface="Arial" pitchFamily="34" charset="0"/>
                <a:ea typeface="Arial" pitchFamily="34" charset="-122"/>
                <a:cs typeface="Arial" pitchFamily="34" charset="-120"/>
              </a:rPr>
              <a:t>Sell four practical doors into one capability</a:t>
            </a:r>
            <a:endParaRPr lang="en-US" sz="1150" dirty="0"/>
          </a:p>
        </p:txBody>
      </p:sp>
      <p:sp>
        <p:nvSpPr>
          <p:cNvPr id="22" name="Shape 20"/>
          <p:cNvSpPr/>
          <p:nvPr/>
        </p:nvSpPr>
        <p:spPr>
          <a:xfrm>
            <a:off x="4288536" y="3822192"/>
            <a:ext cx="3611880" cy="1828800"/>
          </a:xfrm>
          <a:prstGeom prst="rect">
            <a:avLst/>
          </a:prstGeom>
          <a:solidFill>
            <a:srgbClr val="F5F8FE"/>
          </a:solidFill>
          <a:ln/>
        </p:spPr>
      </p:sp>
      <p:sp>
        <p:nvSpPr>
          <p:cNvPr id="23" name="Text 21"/>
          <p:cNvSpPr/>
          <p:nvPr/>
        </p:nvSpPr>
        <p:spPr>
          <a:xfrm>
            <a:off x="4416552" y="3931920"/>
            <a:ext cx="3355848" cy="1609344"/>
          </a:xfrm>
          <a:prstGeom prst="rect">
            <a:avLst/>
          </a:prstGeom>
          <a:noFill/>
          <a:ln/>
        </p:spPr>
        <p:txBody>
          <a:bodyPr wrap="square" lIns="0" tIns="0" rIns="0" bIns="0" rtlCol="0" anchor="t"/>
          <a:lstStyle/>
          <a:p>
            <a:pPr indent="0" marL="0">
              <a:lnSpc>
                <a:spcPct val="114000"/>
              </a:lnSpc>
              <a:buNone/>
            </a:pPr>
            <a:r>
              <a:rPr lang="en-US" sz="1000" dirty="0">
                <a:solidFill>
                  <a:srgbClr val="14171F"/>
                </a:solidFill>
                <a:latin typeface="Arial" pitchFamily="34" charset="0"/>
                <a:ea typeface="Arial" pitchFamily="34" charset="-122"/>
                <a:cs typeface="Arial" pitchFamily="34" charset="-120"/>
              </a:rPr>
              <a:t>Value cases and a value office; AI value; platform value unlock; deal value. Every door opens with a small, fixed entry engagement — several of them funded by our platform partners rather than the client.</a:t>
            </a:r>
            <a:endParaRPr lang="en-US" sz="1000" dirty="0"/>
          </a:p>
        </p:txBody>
      </p:sp>
      <p:sp>
        <p:nvSpPr>
          <p:cNvPr id="24" name="Shape 22"/>
          <p:cNvSpPr/>
          <p:nvPr/>
        </p:nvSpPr>
        <p:spPr>
          <a:xfrm>
            <a:off x="8074152" y="3218688"/>
            <a:ext cx="246888" cy="246888"/>
          </a:xfrm>
          <a:prstGeom prst="ellipse">
            <a:avLst/>
          </a:prstGeom>
          <a:solidFill>
            <a:srgbClr val="0C62FB"/>
          </a:solidFill>
          <a:ln/>
        </p:spPr>
      </p:sp>
      <p:sp>
        <p:nvSpPr>
          <p:cNvPr id="25" name="Text 23"/>
          <p:cNvSpPr/>
          <p:nvPr/>
        </p:nvSpPr>
        <p:spPr>
          <a:xfrm>
            <a:off x="8055864" y="3204972"/>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6" name="Text 24"/>
          <p:cNvSpPr/>
          <p:nvPr/>
        </p:nvSpPr>
        <p:spPr>
          <a:xfrm>
            <a:off x="8421624" y="3163824"/>
            <a:ext cx="3264408" cy="566928"/>
          </a:xfrm>
          <a:prstGeom prst="rect">
            <a:avLst/>
          </a:prstGeom>
          <a:noFill/>
          <a:ln/>
        </p:spPr>
        <p:txBody>
          <a:bodyPr wrap="square" lIns="0" tIns="0" rIns="0" bIns="0" rtlCol="0" anchor="t"/>
          <a:lstStyle/>
          <a:p>
            <a:pPr indent="0" marL="0">
              <a:lnSpc>
                <a:spcPct val="102000"/>
              </a:lnSpc>
              <a:buNone/>
            </a:pPr>
            <a:r>
              <a:rPr lang="en-US" sz="1150" b="1" dirty="0">
                <a:solidFill>
                  <a:srgbClr val="14171F"/>
                </a:solidFill>
                <a:latin typeface="Arial" pitchFamily="34" charset="0"/>
                <a:ea typeface="Arial" pitchFamily="34" charset="-122"/>
                <a:cs typeface="Arial" pitchFamily="34" charset="-120"/>
              </a:rPr>
              <a:t>Equip client partners to spot the moment</a:t>
            </a:r>
            <a:endParaRPr lang="en-US" sz="1150" dirty="0"/>
          </a:p>
        </p:txBody>
      </p:sp>
      <p:sp>
        <p:nvSpPr>
          <p:cNvPr id="27" name="Shape 25"/>
          <p:cNvSpPr/>
          <p:nvPr/>
        </p:nvSpPr>
        <p:spPr>
          <a:xfrm>
            <a:off x="8074152" y="3822192"/>
            <a:ext cx="3611880" cy="1828800"/>
          </a:xfrm>
          <a:prstGeom prst="rect">
            <a:avLst/>
          </a:prstGeom>
          <a:solidFill>
            <a:srgbClr val="F5F8FE"/>
          </a:solidFill>
          <a:ln/>
        </p:spPr>
      </p:sp>
      <p:sp>
        <p:nvSpPr>
          <p:cNvPr id="28" name="Text 26"/>
          <p:cNvSpPr/>
          <p:nvPr/>
        </p:nvSpPr>
        <p:spPr>
          <a:xfrm>
            <a:off x="8202168" y="3931920"/>
            <a:ext cx="3355848" cy="1609344"/>
          </a:xfrm>
          <a:prstGeom prst="rect">
            <a:avLst/>
          </a:prstGeom>
          <a:noFill/>
          <a:ln/>
        </p:spPr>
        <p:txBody>
          <a:bodyPr wrap="square" lIns="0" tIns="0" rIns="0" bIns="0" rtlCol="0" anchor="t"/>
          <a:lstStyle/>
          <a:p>
            <a:pPr indent="0" marL="0">
              <a:lnSpc>
                <a:spcPct val="114000"/>
              </a:lnSpc>
              <a:buNone/>
            </a:pPr>
            <a:r>
              <a:rPr lang="en-US" sz="1000" dirty="0">
                <a:solidFill>
                  <a:srgbClr val="14171F"/>
                </a:solidFill>
                <a:latin typeface="Arial" pitchFamily="34" charset="0"/>
                <a:ea typeface="Arial" pitchFamily="34" charset="-122"/>
                <a:cs typeface="Arial" pitchFamily="34" charset="-120"/>
              </a:rPr>
              <a:t>Five client phrases that should trigger a value conversation, one enablement session, and a one-pager per offering — so the partner recognises the moment and makes the introduction.</a:t>
            </a:r>
            <a:endParaRPr lang="en-US" sz="1000" dirty="0"/>
          </a:p>
        </p:txBody>
      </p:sp>
      <p:sp>
        <p:nvSpPr>
          <p:cNvPr id="29" name="Text 27"/>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We already build the platforms where value shows up. Adding the value conversation moves us from delivery partner to the partner the CFO calls first.</a:t>
            </a:r>
            <a:endParaRPr lang="en-US" sz="900" dirty="0"/>
          </a:p>
        </p:txBody>
      </p:sp>
      <p:sp>
        <p:nvSpPr>
          <p:cNvPr id="30" name="Text 28"/>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Gartner IT spend forecast, Jul 2026; Flyvbjerg, How Big Things Get Done, 2023 (16,000-project database); PMI benefits research; RGP CFO survey 2026. Full stat bank with confidence ratings sits in the appendix.</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THE CLIENT PROBLEM  |  WHAT WE HEAR</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3</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In the client's words: five problems they already know they have</a:t>
            </a:r>
            <a:endParaRPr lang="en-US" sz="2200" dirty="0"/>
          </a:p>
        </p:txBody>
      </p:sp>
      <p:sp>
        <p:nvSpPr>
          <p:cNvPr id="7" name="Shape 5"/>
          <p:cNvSpPr/>
          <p:nvPr/>
        </p:nvSpPr>
        <p:spPr>
          <a:xfrm>
            <a:off x="502920" y="1481328"/>
            <a:ext cx="3611880" cy="2084832"/>
          </a:xfrm>
          <a:prstGeom prst="rect">
            <a:avLst/>
          </a:prstGeom>
          <a:solidFill>
            <a:srgbClr val="F5F8FE"/>
          </a:solidFill>
          <a:ln/>
        </p:spPr>
      </p:sp>
      <p:sp>
        <p:nvSpPr>
          <p:cNvPr id="8" name="Text 6"/>
          <p:cNvSpPr/>
          <p:nvPr/>
        </p:nvSpPr>
        <p:spPr>
          <a:xfrm>
            <a:off x="649224" y="1591056"/>
            <a:ext cx="3319272" cy="566928"/>
          </a:xfrm>
          <a:prstGeom prst="rect">
            <a:avLst/>
          </a:prstGeom>
          <a:noFill/>
          <a:ln/>
        </p:spPr>
        <p:txBody>
          <a:bodyPr wrap="square" lIns="0" tIns="0" rIns="0" bIns="0" rtlCol="0" anchor="ctr"/>
          <a:lstStyle/>
          <a:p>
            <a:pPr indent="0" marL="0">
              <a:lnSpc>
                <a:spcPct val="102000"/>
              </a:lnSpc>
              <a:buNone/>
            </a:pPr>
            <a:r>
              <a:rPr lang="en-US" sz="1200" b="1" i="1" dirty="0">
                <a:solidFill>
                  <a:srgbClr val="14171F"/>
                </a:solidFill>
                <a:latin typeface="Arial" pitchFamily="34" charset="0"/>
                <a:ea typeface="Arial" pitchFamily="34" charset="-122"/>
                <a:cs typeface="Arial" pitchFamily="34" charset="-120"/>
              </a:rPr>
              <a:t>“We can't prove our investments paid off.”</a:t>
            </a:r>
            <a:endParaRPr lang="en-US" sz="1200" dirty="0"/>
          </a:p>
        </p:txBody>
      </p:sp>
      <p:sp>
        <p:nvSpPr>
          <p:cNvPr id="9" name="Text 7"/>
          <p:cNvSpPr/>
          <p:nvPr/>
        </p:nvSpPr>
        <p:spPr>
          <a:xfrm>
            <a:off x="649224" y="2194560"/>
            <a:ext cx="1234440" cy="685800"/>
          </a:xfrm>
          <a:prstGeom prst="rect">
            <a:avLst/>
          </a:prstGeom>
          <a:noFill/>
          <a:ln/>
        </p:spPr>
        <p:txBody>
          <a:bodyPr wrap="square" lIns="0" tIns="0" rIns="0" bIns="0" rtlCol="0" anchor="ctr"/>
          <a:lstStyle/>
          <a:p>
            <a:pPr indent="0" marL="0">
              <a:buNone/>
            </a:pPr>
            <a:r>
              <a:rPr lang="en-US" sz="3400" b="1" dirty="0">
                <a:solidFill>
                  <a:srgbClr val="0C62FB"/>
                </a:solidFill>
                <a:latin typeface="Arial" pitchFamily="34" charset="0"/>
                <a:ea typeface="Arial" pitchFamily="34" charset="-122"/>
                <a:cs typeface="Arial" pitchFamily="34" charset="-120"/>
              </a:rPr>
              <a:t>89%</a:t>
            </a:r>
            <a:endParaRPr lang="en-US" sz="3400" dirty="0"/>
          </a:p>
        </p:txBody>
      </p:sp>
      <p:sp>
        <p:nvSpPr>
          <p:cNvPr id="10" name="Text 8"/>
          <p:cNvSpPr/>
          <p:nvPr/>
        </p:nvSpPr>
        <p:spPr>
          <a:xfrm>
            <a:off x="1920240" y="2212848"/>
            <a:ext cx="2029968" cy="1005840"/>
          </a:xfrm>
          <a:prstGeom prst="rect">
            <a:avLst/>
          </a:prstGeom>
          <a:noFill/>
          <a:ln/>
        </p:spPr>
        <p:txBody>
          <a:bodyPr wrap="square" lIns="0" tIns="0" rIns="0" bIns="0" rtlCol="0" anchor="ctr"/>
          <a:lstStyle/>
          <a:p>
            <a:pPr indent="0" marL="0">
              <a:lnSpc>
                <a:spcPct val="110000"/>
              </a:lnSpc>
              <a:buNone/>
            </a:pPr>
            <a:r>
              <a:rPr lang="en-US" sz="950" dirty="0">
                <a:solidFill>
                  <a:srgbClr val="14171F"/>
                </a:solidFill>
                <a:latin typeface="Arial" pitchFamily="34" charset="0"/>
                <a:ea typeface="Arial" pitchFamily="34" charset="-122"/>
                <a:cs typeface="Arial" pitchFamily="34" charset="-120"/>
              </a:rPr>
              <a:t>of operations leaders say their technology investments haven't fully delivered the expected results.</a:t>
            </a:r>
            <a:endParaRPr lang="en-US" sz="950" dirty="0"/>
          </a:p>
        </p:txBody>
      </p:sp>
      <p:sp>
        <p:nvSpPr>
          <p:cNvPr id="11" name="Text 9"/>
          <p:cNvSpPr/>
          <p:nvPr/>
        </p:nvSpPr>
        <p:spPr>
          <a:xfrm>
            <a:off x="649224" y="3273552"/>
            <a:ext cx="3319272"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PwC, 2026</a:t>
            </a:r>
            <a:endParaRPr lang="en-US" sz="800" dirty="0"/>
          </a:p>
        </p:txBody>
      </p:sp>
      <p:sp>
        <p:nvSpPr>
          <p:cNvPr id="12" name="Shape 10"/>
          <p:cNvSpPr/>
          <p:nvPr/>
        </p:nvSpPr>
        <p:spPr>
          <a:xfrm>
            <a:off x="4288536" y="1481328"/>
            <a:ext cx="3611880" cy="2084832"/>
          </a:xfrm>
          <a:prstGeom prst="rect">
            <a:avLst/>
          </a:prstGeom>
          <a:solidFill>
            <a:srgbClr val="F5F8FE"/>
          </a:solidFill>
          <a:ln/>
        </p:spPr>
      </p:sp>
      <p:sp>
        <p:nvSpPr>
          <p:cNvPr id="13" name="Text 11"/>
          <p:cNvSpPr/>
          <p:nvPr/>
        </p:nvSpPr>
        <p:spPr>
          <a:xfrm>
            <a:off x="4434840" y="1591056"/>
            <a:ext cx="3319272" cy="566928"/>
          </a:xfrm>
          <a:prstGeom prst="rect">
            <a:avLst/>
          </a:prstGeom>
          <a:noFill/>
          <a:ln/>
        </p:spPr>
        <p:txBody>
          <a:bodyPr wrap="square" lIns="0" tIns="0" rIns="0" bIns="0" rtlCol="0" anchor="ctr"/>
          <a:lstStyle/>
          <a:p>
            <a:pPr indent="0" marL="0">
              <a:lnSpc>
                <a:spcPct val="102000"/>
              </a:lnSpc>
              <a:buNone/>
            </a:pPr>
            <a:r>
              <a:rPr lang="en-US" sz="1200" b="1" i="1" dirty="0">
                <a:solidFill>
                  <a:srgbClr val="14171F"/>
                </a:solidFill>
                <a:latin typeface="Arial" pitchFamily="34" charset="0"/>
                <a:ea typeface="Arial" pitchFamily="34" charset="-122"/>
                <a:cs typeface="Arial" pitchFamily="34" charset="-120"/>
              </a:rPr>
              <a:t>“Our business cases get the funding, then die.”</a:t>
            </a:r>
            <a:endParaRPr lang="en-US" sz="1200" dirty="0"/>
          </a:p>
        </p:txBody>
      </p:sp>
      <p:sp>
        <p:nvSpPr>
          <p:cNvPr id="14" name="Text 12"/>
          <p:cNvSpPr/>
          <p:nvPr/>
        </p:nvSpPr>
        <p:spPr>
          <a:xfrm>
            <a:off x="4434840" y="2194560"/>
            <a:ext cx="1234440" cy="685800"/>
          </a:xfrm>
          <a:prstGeom prst="rect">
            <a:avLst/>
          </a:prstGeom>
          <a:noFill/>
          <a:ln/>
        </p:spPr>
        <p:txBody>
          <a:bodyPr wrap="square" lIns="0" tIns="0" rIns="0" bIns="0" rtlCol="0" anchor="ctr"/>
          <a:lstStyle/>
          <a:p>
            <a:pPr indent="0" marL="0">
              <a:buNone/>
            </a:pPr>
            <a:r>
              <a:rPr lang="en-US" sz="3400" b="1" dirty="0">
                <a:solidFill>
                  <a:srgbClr val="0C62FB"/>
                </a:solidFill>
                <a:latin typeface="Arial" pitchFamily="34" charset="0"/>
                <a:ea typeface="Arial" pitchFamily="34" charset="-122"/>
                <a:cs typeface="Arial" pitchFamily="34" charset="-120"/>
              </a:rPr>
              <a:t>~25%</a:t>
            </a:r>
            <a:endParaRPr lang="en-US" sz="3400" dirty="0"/>
          </a:p>
        </p:txBody>
      </p:sp>
      <p:sp>
        <p:nvSpPr>
          <p:cNvPr id="15" name="Text 13"/>
          <p:cNvSpPr/>
          <p:nvPr/>
        </p:nvSpPr>
        <p:spPr>
          <a:xfrm>
            <a:off x="5705856" y="2212848"/>
            <a:ext cx="2029968" cy="1005840"/>
          </a:xfrm>
          <a:prstGeom prst="rect">
            <a:avLst/>
          </a:prstGeom>
          <a:noFill/>
          <a:ln/>
        </p:spPr>
        <p:txBody>
          <a:bodyPr wrap="square" lIns="0" tIns="0" rIns="0" bIns="0" rtlCol="0" anchor="ctr"/>
          <a:lstStyle/>
          <a:p>
            <a:pPr indent="0" marL="0">
              <a:lnSpc>
                <a:spcPct val="110000"/>
              </a:lnSpc>
              <a:buNone/>
            </a:pPr>
            <a:r>
              <a:rPr lang="en-US" sz="950" dirty="0">
                <a:solidFill>
                  <a:srgbClr val="14171F"/>
                </a:solidFill>
                <a:latin typeface="Arial" pitchFamily="34" charset="0"/>
                <a:ea typeface="Arial" pitchFamily="34" charset="-122"/>
                <a:cs typeface="Arial" pitchFamily="34" charset="-120"/>
              </a:rPr>
              <a:t>of transformation value is lost at the business-case stage — before delivery even starts.</a:t>
            </a:r>
            <a:endParaRPr lang="en-US" sz="950" dirty="0"/>
          </a:p>
        </p:txBody>
      </p:sp>
      <p:sp>
        <p:nvSpPr>
          <p:cNvPr id="16" name="Text 14"/>
          <p:cNvSpPr/>
          <p:nvPr/>
        </p:nvSpPr>
        <p:spPr>
          <a:xfrm>
            <a:off x="4434840" y="3273552"/>
            <a:ext cx="3319272"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McKinsey</a:t>
            </a:r>
            <a:endParaRPr lang="en-US" sz="800" dirty="0"/>
          </a:p>
        </p:txBody>
      </p:sp>
      <p:sp>
        <p:nvSpPr>
          <p:cNvPr id="17" name="Shape 15"/>
          <p:cNvSpPr/>
          <p:nvPr/>
        </p:nvSpPr>
        <p:spPr>
          <a:xfrm>
            <a:off x="8074152" y="1481328"/>
            <a:ext cx="3611880" cy="2084832"/>
          </a:xfrm>
          <a:prstGeom prst="rect">
            <a:avLst/>
          </a:prstGeom>
          <a:solidFill>
            <a:srgbClr val="F5F8FE"/>
          </a:solidFill>
          <a:ln/>
        </p:spPr>
      </p:sp>
      <p:sp>
        <p:nvSpPr>
          <p:cNvPr id="18" name="Text 16"/>
          <p:cNvSpPr/>
          <p:nvPr/>
        </p:nvSpPr>
        <p:spPr>
          <a:xfrm>
            <a:off x="8220456" y="1591056"/>
            <a:ext cx="3319272" cy="566928"/>
          </a:xfrm>
          <a:prstGeom prst="rect">
            <a:avLst/>
          </a:prstGeom>
          <a:noFill/>
          <a:ln/>
        </p:spPr>
        <p:txBody>
          <a:bodyPr wrap="square" lIns="0" tIns="0" rIns="0" bIns="0" rtlCol="0" anchor="ctr"/>
          <a:lstStyle/>
          <a:p>
            <a:pPr indent="0" marL="0">
              <a:lnSpc>
                <a:spcPct val="102000"/>
              </a:lnSpc>
              <a:buNone/>
            </a:pPr>
            <a:r>
              <a:rPr lang="en-US" sz="1200" b="1" i="1" dirty="0">
                <a:solidFill>
                  <a:srgbClr val="14171F"/>
                </a:solidFill>
                <a:latin typeface="Arial" pitchFamily="34" charset="0"/>
                <a:ea typeface="Arial" pitchFamily="34" charset="-122"/>
                <a:cs typeface="Arial" pitchFamily="34" charset="-120"/>
              </a:rPr>
              <a:t>“On time, on budget — and still no benefits.”</a:t>
            </a:r>
            <a:endParaRPr lang="en-US" sz="1200" dirty="0"/>
          </a:p>
        </p:txBody>
      </p:sp>
      <p:sp>
        <p:nvSpPr>
          <p:cNvPr id="19" name="Text 17"/>
          <p:cNvSpPr/>
          <p:nvPr/>
        </p:nvSpPr>
        <p:spPr>
          <a:xfrm>
            <a:off x="8220456" y="2194560"/>
            <a:ext cx="1234440" cy="685800"/>
          </a:xfrm>
          <a:prstGeom prst="rect">
            <a:avLst/>
          </a:prstGeom>
          <a:noFill/>
          <a:ln/>
        </p:spPr>
        <p:txBody>
          <a:bodyPr wrap="square" lIns="0" tIns="0" rIns="0" bIns="0" rtlCol="0" anchor="ctr"/>
          <a:lstStyle/>
          <a:p>
            <a:pPr indent="0" marL="0">
              <a:buNone/>
            </a:pPr>
            <a:r>
              <a:rPr lang="en-US" sz="3400" b="1" dirty="0">
                <a:solidFill>
                  <a:srgbClr val="0C62FB"/>
                </a:solidFill>
                <a:latin typeface="Arial" pitchFamily="34" charset="0"/>
                <a:ea typeface="Arial" pitchFamily="34" charset="-122"/>
                <a:cs typeface="Arial" pitchFamily="34" charset="-120"/>
              </a:rPr>
              <a:t>0.5%</a:t>
            </a:r>
            <a:endParaRPr lang="en-US" sz="3400" dirty="0"/>
          </a:p>
        </p:txBody>
      </p:sp>
      <p:sp>
        <p:nvSpPr>
          <p:cNvPr id="20" name="Text 18"/>
          <p:cNvSpPr/>
          <p:nvPr/>
        </p:nvSpPr>
        <p:spPr>
          <a:xfrm>
            <a:off x="9491472" y="2212848"/>
            <a:ext cx="2029968" cy="1005840"/>
          </a:xfrm>
          <a:prstGeom prst="rect">
            <a:avLst/>
          </a:prstGeom>
          <a:noFill/>
          <a:ln/>
        </p:spPr>
        <p:txBody>
          <a:bodyPr wrap="square" lIns="0" tIns="0" rIns="0" bIns="0" rtlCol="0" anchor="ctr"/>
          <a:lstStyle/>
          <a:p>
            <a:pPr indent="0" marL="0">
              <a:lnSpc>
                <a:spcPct val="110000"/>
              </a:lnSpc>
              <a:buNone/>
            </a:pPr>
            <a:r>
              <a:rPr lang="en-US" sz="950" dirty="0">
                <a:solidFill>
                  <a:srgbClr val="14171F"/>
                </a:solidFill>
                <a:latin typeface="Arial" pitchFamily="34" charset="0"/>
                <a:ea typeface="Arial" pitchFamily="34" charset="-122"/>
                <a:cs typeface="Arial" pitchFamily="34" charset="-120"/>
              </a:rPr>
              <a:t>of 16,000 studied projects hit cost, time and benefits. Delivery success is not value success.</a:t>
            </a:r>
            <a:endParaRPr lang="en-US" sz="950" dirty="0"/>
          </a:p>
        </p:txBody>
      </p:sp>
      <p:sp>
        <p:nvSpPr>
          <p:cNvPr id="21" name="Text 19"/>
          <p:cNvSpPr/>
          <p:nvPr/>
        </p:nvSpPr>
        <p:spPr>
          <a:xfrm>
            <a:off x="8220456" y="3273552"/>
            <a:ext cx="3319272"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Flyvbjerg, 2023</a:t>
            </a:r>
            <a:endParaRPr lang="en-US" sz="800" dirty="0"/>
          </a:p>
        </p:txBody>
      </p:sp>
      <p:sp>
        <p:nvSpPr>
          <p:cNvPr id="22" name="Shape 20"/>
          <p:cNvSpPr/>
          <p:nvPr/>
        </p:nvSpPr>
        <p:spPr>
          <a:xfrm>
            <a:off x="502920" y="3712464"/>
            <a:ext cx="3611880" cy="2084832"/>
          </a:xfrm>
          <a:prstGeom prst="rect">
            <a:avLst/>
          </a:prstGeom>
          <a:solidFill>
            <a:srgbClr val="F5F8FE"/>
          </a:solidFill>
          <a:ln/>
        </p:spPr>
      </p:sp>
      <p:sp>
        <p:nvSpPr>
          <p:cNvPr id="23" name="Text 21"/>
          <p:cNvSpPr/>
          <p:nvPr/>
        </p:nvSpPr>
        <p:spPr>
          <a:xfrm>
            <a:off x="649224" y="3822192"/>
            <a:ext cx="3319272" cy="566928"/>
          </a:xfrm>
          <a:prstGeom prst="rect">
            <a:avLst/>
          </a:prstGeom>
          <a:noFill/>
          <a:ln/>
        </p:spPr>
        <p:txBody>
          <a:bodyPr wrap="square" lIns="0" tIns="0" rIns="0" bIns="0" rtlCol="0" anchor="ctr"/>
          <a:lstStyle/>
          <a:p>
            <a:pPr indent="0" marL="0">
              <a:lnSpc>
                <a:spcPct val="102000"/>
              </a:lnSpc>
              <a:buNone/>
            </a:pPr>
            <a:r>
              <a:rPr lang="en-US" sz="1200" b="1" i="1" dirty="0">
                <a:solidFill>
                  <a:srgbClr val="14171F"/>
                </a:solidFill>
                <a:latin typeface="Arial" pitchFamily="34" charset="0"/>
                <a:ea typeface="Arial" pitchFamily="34" charset="-122"/>
                <a:cs typeface="Arial" pitchFamily="34" charset="-120"/>
              </a:rPr>
              <a:t>“We pay for platforms we barely use.”</a:t>
            </a:r>
            <a:endParaRPr lang="en-US" sz="1200" dirty="0"/>
          </a:p>
        </p:txBody>
      </p:sp>
      <p:sp>
        <p:nvSpPr>
          <p:cNvPr id="24" name="Text 22"/>
          <p:cNvSpPr/>
          <p:nvPr/>
        </p:nvSpPr>
        <p:spPr>
          <a:xfrm>
            <a:off x="649224" y="4425696"/>
            <a:ext cx="1234440" cy="685800"/>
          </a:xfrm>
          <a:prstGeom prst="rect">
            <a:avLst/>
          </a:prstGeom>
          <a:noFill/>
          <a:ln/>
        </p:spPr>
        <p:txBody>
          <a:bodyPr wrap="square" lIns="0" tIns="0" rIns="0" bIns="0" rtlCol="0" anchor="ctr"/>
          <a:lstStyle/>
          <a:p>
            <a:pPr indent="0" marL="0">
              <a:buNone/>
            </a:pPr>
            <a:r>
              <a:rPr lang="en-US" sz="3400" b="1" dirty="0">
                <a:solidFill>
                  <a:srgbClr val="0C62FB"/>
                </a:solidFill>
                <a:latin typeface="Arial" pitchFamily="34" charset="0"/>
                <a:ea typeface="Arial" pitchFamily="34" charset="-122"/>
                <a:cs typeface="Arial" pitchFamily="34" charset="-120"/>
              </a:rPr>
              <a:t>46%</a:t>
            </a:r>
            <a:endParaRPr lang="en-US" sz="3400" dirty="0"/>
          </a:p>
        </p:txBody>
      </p:sp>
      <p:sp>
        <p:nvSpPr>
          <p:cNvPr id="25" name="Text 23"/>
          <p:cNvSpPr/>
          <p:nvPr/>
        </p:nvSpPr>
        <p:spPr>
          <a:xfrm>
            <a:off x="1920240" y="4443984"/>
            <a:ext cx="2029968" cy="1005840"/>
          </a:xfrm>
          <a:prstGeom prst="rect">
            <a:avLst/>
          </a:prstGeom>
          <a:noFill/>
          <a:ln/>
        </p:spPr>
        <p:txBody>
          <a:bodyPr wrap="square" lIns="0" tIns="0" rIns="0" bIns="0" rtlCol="0" anchor="ctr"/>
          <a:lstStyle/>
          <a:p>
            <a:pPr indent="0" marL="0">
              <a:lnSpc>
                <a:spcPct val="110000"/>
              </a:lnSpc>
              <a:buNone/>
            </a:pPr>
            <a:r>
              <a:rPr lang="en-US" sz="950" dirty="0">
                <a:solidFill>
                  <a:srgbClr val="14171F"/>
                </a:solidFill>
                <a:latin typeface="Arial" pitchFamily="34" charset="0"/>
                <a:ea typeface="Arial" pitchFamily="34" charset="-122"/>
                <a:cs typeface="Arial" pitchFamily="34" charset="-120"/>
              </a:rPr>
              <a:t>of software licences sit unused — roughly $20m a year of waste in the average enterprise.</a:t>
            </a:r>
            <a:endParaRPr lang="en-US" sz="950" dirty="0"/>
          </a:p>
        </p:txBody>
      </p:sp>
      <p:sp>
        <p:nvSpPr>
          <p:cNvPr id="26" name="Text 24"/>
          <p:cNvSpPr/>
          <p:nvPr/>
        </p:nvSpPr>
        <p:spPr>
          <a:xfrm>
            <a:off x="649224" y="5504688"/>
            <a:ext cx="3319272"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Zylo, 2025</a:t>
            </a:r>
            <a:endParaRPr lang="en-US" sz="800" dirty="0"/>
          </a:p>
        </p:txBody>
      </p:sp>
      <p:sp>
        <p:nvSpPr>
          <p:cNvPr id="27" name="Shape 25"/>
          <p:cNvSpPr/>
          <p:nvPr/>
        </p:nvSpPr>
        <p:spPr>
          <a:xfrm>
            <a:off x="4288536" y="3712464"/>
            <a:ext cx="3611880" cy="2084832"/>
          </a:xfrm>
          <a:prstGeom prst="rect">
            <a:avLst/>
          </a:prstGeom>
          <a:solidFill>
            <a:srgbClr val="F5F8FE"/>
          </a:solidFill>
          <a:ln/>
        </p:spPr>
      </p:sp>
      <p:sp>
        <p:nvSpPr>
          <p:cNvPr id="28" name="Text 26"/>
          <p:cNvSpPr/>
          <p:nvPr/>
        </p:nvSpPr>
        <p:spPr>
          <a:xfrm>
            <a:off x="4434840" y="3822192"/>
            <a:ext cx="3319272" cy="566928"/>
          </a:xfrm>
          <a:prstGeom prst="rect">
            <a:avLst/>
          </a:prstGeom>
          <a:noFill/>
          <a:ln/>
        </p:spPr>
        <p:txBody>
          <a:bodyPr wrap="square" lIns="0" tIns="0" rIns="0" bIns="0" rtlCol="0" anchor="ctr"/>
          <a:lstStyle/>
          <a:p>
            <a:pPr indent="0" marL="0">
              <a:lnSpc>
                <a:spcPct val="102000"/>
              </a:lnSpc>
              <a:buNone/>
            </a:pPr>
            <a:r>
              <a:rPr lang="en-US" sz="1200" b="1" i="1" dirty="0">
                <a:solidFill>
                  <a:srgbClr val="14171F"/>
                </a:solidFill>
                <a:latin typeface="Arial" pitchFamily="34" charset="0"/>
                <a:ea typeface="Arial" pitchFamily="34" charset="-122"/>
                <a:cs typeface="Arial" pitchFamily="34" charset="-120"/>
              </a:rPr>
              <a:t>“The board wants an AI number we don't have.”</a:t>
            </a:r>
            <a:endParaRPr lang="en-US" sz="1200" dirty="0"/>
          </a:p>
        </p:txBody>
      </p:sp>
      <p:sp>
        <p:nvSpPr>
          <p:cNvPr id="29" name="Text 27"/>
          <p:cNvSpPr/>
          <p:nvPr/>
        </p:nvSpPr>
        <p:spPr>
          <a:xfrm>
            <a:off x="4434840" y="4425696"/>
            <a:ext cx="1234440" cy="685800"/>
          </a:xfrm>
          <a:prstGeom prst="rect">
            <a:avLst/>
          </a:prstGeom>
          <a:noFill/>
          <a:ln/>
        </p:spPr>
        <p:txBody>
          <a:bodyPr wrap="square" lIns="0" tIns="0" rIns="0" bIns="0" rtlCol="0" anchor="ctr"/>
          <a:lstStyle/>
          <a:p>
            <a:pPr indent="0" marL="0">
              <a:buNone/>
            </a:pPr>
            <a:r>
              <a:rPr lang="en-US" sz="3400" b="1" dirty="0">
                <a:solidFill>
                  <a:srgbClr val="0C62FB"/>
                </a:solidFill>
                <a:latin typeface="Arial" pitchFamily="34" charset="0"/>
                <a:ea typeface="Arial" pitchFamily="34" charset="-122"/>
                <a:cs typeface="Arial" pitchFamily="34" charset="-120"/>
              </a:rPr>
              <a:t>7%</a:t>
            </a:r>
            <a:endParaRPr lang="en-US" sz="3400" dirty="0"/>
          </a:p>
        </p:txBody>
      </p:sp>
      <p:sp>
        <p:nvSpPr>
          <p:cNvPr id="30" name="Text 28"/>
          <p:cNvSpPr/>
          <p:nvPr/>
        </p:nvSpPr>
        <p:spPr>
          <a:xfrm>
            <a:off x="5705856" y="4443984"/>
            <a:ext cx="2029968" cy="1005840"/>
          </a:xfrm>
          <a:prstGeom prst="rect">
            <a:avLst/>
          </a:prstGeom>
          <a:noFill/>
          <a:ln/>
        </p:spPr>
        <p:txBody>
          <a:bodyPr wrap="square" lIns="0" tIns="0" rIns="0" bIns="0" rtlCol="0" anchor="ctr"/>
          <a:lstStyle/>
          <a:p>
            <a:pPr indent="0" marL="0">
              <a:lnSpc>
                <a:spcPct val="110000"/>
              </a:lnSpc>
              <a:buNone/>
            </a:pPr>
            <a:r>
              <a:rPr lang="en-US" sz="950" dirty="0">
                <a:solidFill>
                  <a:srgbClr val="14171F"/>
                </a:solidFill>
                <a:latin typeface="Arial" pitchFamily="34" charset="0"/>
                <a:ea typeface="Arial" pitchFamily="34" charset="-122"/>
                <a:cs typeface="Arial" pitchFamily="34" charset="-120"/>
              </a:rPr>
              <a:t>of leaders can show established returns on AI spend, while a quarter face direct investor pressure to prove it.</a:t>
            </a:r>
            <a:endParaRPr lang="en-US" sz="950" dirty="0"/>
          </a:p>
        </p:txBody>
      </p:sp>
      <p:sp>
        <p:nvSpPr>
          <p:cNvPr id="31" name="Text 29"/>
          <p:cNvSpPr/>
          <p:nvPr/>
        </p:nvSpPr>
        <p:spPr>
          <a:xfrm>
            <a:off x="4434840" y="5504688"/>
            <a:ext cx="3319272"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KPMG, Q2 2026</a:t>
            </a:r>
            <a:endParaRPr lang="en-US" sz="800" dirty="0"/>
          </a:p>
        </p:txBody>
      </p:sp>
      <p:sp>
        <p:nvSpPr>
          <p:cNvPr id="32" name="Shape 30"/>
          <p:cNvSpPr/>
          <p:nvPr/>
        </p:nvSpPr>
        <p:spPr>
          <a:xfrm>
            <a:off x="8074152" y="3712464"/>
            <a:ext cx="3611880" cy="2084832"/>
          </a:xfrm>
          <a:prstGeom prst="rect">
            <a:avLst/>
          </a:prstGeom>
          <a:solidFill>
            <a:srgbClr val="14171F"/>
          </a:solidFill>
          <a:ln/>
        </p:spPr>
      </p:sp>
      <p:sp>
        <p:nvSpPr>
          <p:cNvPr id="33" name="Text 31"/>
          <p:cNvSpPr/>
          <p:nvPr/>
        </p:nvSpPr>
        <p:spPr>
          <a:xfrm>
            <a:off x="8238744" y="3877056"/>
            <a:ext cx="3282696" cy="914400"/>
          </a:xfrm>
          <a:prstGeom prst="rect">
            <a:avLst/>
          </a:prstGeom>
          <a:noFill/>
          <a:ln/>
        </p:spPr>
        <p:txBody>
          <a:bodyPr wrap="square" lIns="0" tIns="0" rIns="0" bIns="0" rtlCol="0" anchor="ctr"/>
          <a:lstStyle/>
          <a:p>
            <a:pPr indent="0" marL="0">
              <a:lnSpc>
                <a:spcPct val="108000"/>
              </a:lnSpc>
              <a:buNone/>
            </a:pPr>
            <a:r>
              <a:rPr lang="en-US" sz="1350" b="1" dirty="0">
                <a:solidFill>
                  <a:srgbClr val="FFFFFF"/>
                </a:solidFill>
                <a:latin typeface="Arial" pitchFamily="34" charset="0"/>
                <a:ea typeface="Arial" pitchFamily="34" charset="-122"/>
                <a:cs typeface="Arial" pitchFamily="34" charset="-120"/>
              </a:rPr>
              <a:t>The conversation starts from a problem the client already owns.</a:t>
            </a:r>
            <a:endParaRPr lang="en-US" sz="1350" dirty="0"/>
          </a:p>
        </p:txBody>
      </p:sp>
      <p:sp>
        <p:nvSpPr>
          <p:cNvPr id="34" name="Text 32"/>
          <p:cNvSpPr/>
          <p:nvPr/>
        </p:nvSpPr>
        <p:spPr>
          <a:xfrm>
            <a:off x="8238744" y="4809744"/>
            <a:ext cx="3282696" cy="868680"/>
          </a:xfrm>
          <a:prstGeom prst="rect">
            <a:avLst/>
          </a:prstGeom>
          <a:noFill/>
          <a:ln/>
        </p:spPr>
        <p:txBody>
          <a:bodyPr wrap="square" lIns="0" tIns="0" rIns="0" bIns="0" rtlCol="0" anchor="ctr"/>
          <a:lstStyle/>
          <a:p>
            <a:pPr indent="0" marL="0">
              <a:lnSpc>
                <a:spcPct val="112000"/>
              </a:lnSpc>
              <a:buNone/>
            </a:pPr>
            <a:r>
              <a:rPr lang="en-US" sz="1000" dirty="0">
                <a:solidFill>
                  <a:srgbClr val="E8F0FE"/>
                </a:solidFill>
                <a:latin typeface="Arial" pitchFamily="34" charset="0"/>
                <a:ea typeface="Arial" pitchFamily="34" charset="-122"/>
                <a:cs typeface="Arial" pitchFamily="34" charset="-120"/>
              </a:rPr>
              <a:t>None of these need convincing. Our job is to raise it first, with a number attached, and a small first step ready.</a:t>
            </a:r>
            <a:endParaRPr lang="en-US" sz="1000" dirty="0"/>
          </a:p>
        </p:txBody>
      </p:sp>
      <p:sp>
        <p:nvSpPr>
          <p:cNvPr id="35" name="Text 33"/>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We are not inventing a problem to sell a solution. Every offering in this deck answers one of these five sentences.</a:t>
            </a:r>
            <a:endParaRPr lang="en-US" sz="900" dirty="0"/>
          </a:p>
        </p:txBody>
      </p:sp>
      <p:sp>
        <p:nvSpPr>
          <p:cNvPr id="36" name="Text 34"/>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PwC Digital Trends in Operations Survey 2026 (n=767); McKinsey, Losing from Day One; Flyvbjerg &amp; Gardner, How Big Things Get Done, 2023; Zylo SaaS Management Index 2025/26; KPMG Global AI Pulse Survey Q2 2026 (n=2,000+).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WHY NOW  |  2026</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4</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2026 is the year boards started asking for the number — most clients can't produce one</a:t>
            </a:r>
            <a:endParaRPr lang="en-US" sz="2200" dirty="0"/>
          </a:p>
        </p:txBody>
      </p:sp>
      <p:sp>
        <p:nvSpPr>
          <p:cNvPr id="7" name="Shape 5"/>
          <p:cNvSpPr/>
          <p:nvPr/>
        </p:nvSpPr>
        <p:spPr>
          <a:xfrm>
            <a:off x="502920" y="1481328"/>
            <a:ext cx="5486400" cy="2084832"/>
          </a:xfrm>
          <a:prstGeom prst="rect">
            <a:avLst/>
          </a:prstGeom>
          <a:solidFill>
            <a:srgbClr val="F5F8FE"/>
          </a:solidFill>
          <a:ln/>
        </p:spPr>
      </p:sp>
      <p:sp>
        <p:nvSpPr>
          <p:cNvPr id="8" name="Text 6"/>
          <p:cNvSpPr/>
          <p:nvPr/>
        </p:nvSpPr>
        <p:spPr>
          <a:xfrm>
            <a:off x="667512" y="1609344"/>
            <a:ext cx="5157216" cy="310896"/>
          </a:xfrm>
          <a:prstGeom prst="rect">
            <a:avLst/>
          </a:prstGeom>
          <a:noFill/>
          <a:ln/>
        </p:spPr>
        <p:txBody>
          <a:bodyPr wrap="square" lIns="0" tIns="0" rIns="0" bIns="0" rtlCol="0" anchor="ctr"/>
          <a:lstStyle/>
          <a:p>
            <a:pPr indent="0" marL="0">
              <a:buNone/>
            </a:pPr>
            <a:r>
              <a:rPr lang="en-US" sz="1250" b="1" dirty="0">
                <a:solidFill>
                  <a:srgbClr val="14171F"/>
                </a:solidFill>
                <a:latin typeface="Arial" pitchFamily="34" charset="0"/>
                <a:ea typeface="Arial" pitchFamily="34" charset="-122"/>
                <a:cs typeface="Arial" pitchFamily="34" charset="-120"/>
              </a:rPr>
              <a:t>Boards now gate funding on proof</a:t>
            </a:r>
            <a:endParaRPr lang="en-US" sz="1250" dirty="0"/>
          </a:p>
        </p:txBody>
      </p:sp>
      <p:sp>
        <p:nvSpPr>
          <p:cNvPr id="9" name="Text 7"/>
          <p:cNvSpPr/>
          <p:nvPr/>
        </p:nvSpPr>
        <p:spPr>
          <a:xfrm>
            <a:off x="667512" y="1956816"/>
            <a:ext cx="5157216" cy="566928"/>
          </a:xfrm>
          <a:prstGeom prst="rect">
            <a:avLst/>
          </a:prstGeom>
          <a:noFill/>
          <a:ln/>
        </p:spPr>
        <p:txBody>
          <a:bodyPr wrap="square" lIns="0" tIns="0" rIns="0" bIns="0" rtlCol="0" anchor="ctr"/>
          <a:lstStyle/>
          <a:p>
            <a:pPr indent="0" marL="0">
              <a:buNone/>
            </a:pPr>
            <a:r>
              <a:rPr lang="en-US" sz="3000" b="1" dirty="0">
                <a:solidFill>
                  <a:srgbClr val="0C62FB"/>
                </a:solidFill>
                <a:latin typeface="Arial" pitchFamily="34" charset="0"/>
                <a:ea typeface="Arial" pitchFamily="34" charset="-122"/>
                <a:cs typeface="Arial" pitchFamily="34" charset="-120"/>
              </a:rPr>
              <a:t>66%</a:t>
            </a:r>
            <a:endParaRPr lang="en-US" sz="3000" dirty="0"/>
          </a:p>
        </p:txBody>
      </p:sp>
      <p:sp>
        <p:nvSpPr>
          <p:cNvPr id="10" name="Text 8"/>
          <p:cNvSpPr/>
          <p:nvPr/>
        </p:nvSpPr>
        <p:spPr>
          <a:xfrm>
            <a:off x="667512" y="2596896"/>
            <a:ext cx="5157216" cy="658368"/>
          </a:xfrm>
          <a:prstGeom prst="rect">
            <a:avLst/>
          </a:prstGeom>
          <a:noFill/>
          <a:ln/>
        </p:spPr>
        <p:txBody>
          <a:bodyPr wrap="square" lIns="0" tIns="0" rIns="0" bIns="0" rtlCol="0" anchor="ctr"/>
          <a:lstStyle/>
          <a:p>
            <a:pPr indent="0" marL="0">
              <a:lnSpc>
                <a:spcPct val="112000"/>
              </a:lnSpc>
              <a:buNone/>
            </a:pPr>
            <a:r>
              <a:rPr lang="en-US" sz="1050" dirty="0">
                <a:solidFill>
                  <a:srgbClr val="14171F"/>
                </a:solidFill>
                <a:latin typeface="Arial" pitchFamily="34" charset="0"/>
                <a:ea typeface="Arial" pitchFamily="34" charset="-122"/>
                <a:cs typeface="Arial" pitchFamily="34" charset="-120"/>
              </a:rPr>
              <a:t>of boards condition further AI funding on proof of return; 43% of finance leaders are being asked for a number they can't produce.</a:t>
            </a:r>
            <a:endParaRPr lang="en-US" sz="1050" dirty="0"/>
          </a:p>
        </p:txBody>
      </p:sp>
      <p:sp>
        <p:nvSpPr>
          <p:cNvPr id="11" name="Text 9"/>
          <p:cNvSpPr/>
          <p:nvPr/>
        </p:nvSpPr>
        <p:spPr>
          <a:xfrm>
            <a:off x="667512" y="3291840"/>
            <a:ext cx="5157216"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RGP / CFO.com, 2026</a:t>
            </a:r>
            <a:endParaRPr lang="en-US" sz="800" dirty="0"/>
          </a:p>
        </p:txBody>
      </p:sp>
      <p:sp>
        <p:nvSpPr>
          <p:cNvPr id="12" name="Shape 10"/>
          <p:cNvSpPr/>
          <p:nvPr/>
        </p:nvSpPr>
        <p:spPr>
          <a:xfrm>
            <a:off x="6199632" y="1481328"/>
            <a:ext cx="5486400" cy="2084832"/>
          </a:xfrm>
          <a:prstGeom prst="rect">
            <a:avLst/>
          </a:prstGeom>
          <a:solidFill>
            <a:srgbClr val="F5F8FE"/>
          </a:solidFill>
          <a:ln/>
        </p:spPr>
      </p:sp>
      <p:sp>
        <p:nvSpPr>
          <p:cNvPr id="13" name="Text 11"/>
          <p:cNvSpPr/>
          <p:nvPr/>
        </p:nvSpPr>
        <p:spPr>
          <a:xfrm>
            <a:off x="6364224" y="1609344"/>
            <a:ext cx="5157216" cy="310896"/>
          </a:xfrm>
          <a:prstGeom prst="rect">
            <a:avLst/>
          </a:prstGeom>
          <a:noFill/>
          <a:ln/>
        </p:spPr>
        <p:txBody>
          <a:bodyPr wrap="square" lIns="0" tIns="0" rIns="0" bIns="0" rtlCol="0" anchor="ctr"/>
          <a:lstStyle/>
          <a:p>
            <a:pPr indent="0" marL="0">
              <a:buNone/>
            </a:pPr>
            <a:r>
              <a:rPr lang="en-US" sz="1250" b="1" dirty="0">
                <a:solidFill>
                  <a:srgbClr val="14171F"/>
                </a:solidFill>
                <a:latin typeface="Arial" pitchFamily="34" charset="0"/>
                <a:ea typeface="Arial" pitchFamily="34" charset="-122"/>
                <a:cs typeface="Arial" pitchFamily="34" charset="-120"/>
              </a:rPr>
              <a:t>Value reporting becomes the norm</a:t>
            </a:r>
            <a:endParaRPr lang="en-US" sz="1250" dirty="0"/>
          </a:p>
        </p:txBody>
      </p:sp>
      <p:sp>
        <p:nvSpPr>
          <p:cNvPr id="14" name="Text 12"/>
          <p:cNvSpPr/>
          <p:nvPr/>
        </p:nvSpPr>
        <p:spPr>
          <a:xfrm>
            <a:off x="6364224" y="1956816"/>
            <a:ext cx="5157216" cy="566928"/>
          </a:xfrm>
          <a:prstGeom prst="rect">
            <a:avLst/>
          </a:prstGeom>
          <a:noFill/>
          <a:ln/>
        </p:spPr>
        <p:txBody>
          <a:bodyPr wrap="square" lIns="0" tIns="0" rIns="0" bIns="0" rtlCol="0" anchor="ctr"/>
          <a:lstStyle/>
          <a:p>
            <a:pPr indent="0" marL="0">
              <a:buNone/>
            </a:pPr>
            <a:r>
              <a:rPr lang="en-US" sz="3000" b="1" dirty="0">
                <a:solidFill>
                  <a:srgbClr val="0C62FB"/>
                </a:solidFill>
                <a:latin typeface="Arial" pitchFamily="34" charset="0"/>
                <a:ea typeface="Arial" pitchFamily="34" charset="-122"/>
                <a:cs typeface="Arial" pitchFamily="34" charset="-120"/>
              </a:rPr>
              <a:t>4% → standard</a:t>
            </a:r>
            <a:endParaRPr lang="en-US" sz="3000" dirty="0"/>
          </a:p>
        </p:txBody>
      </p:sp>
      <p:sp>
        <p:nvSpPr>
          <p:cNvPr id="15" name="Text 13"/>
          <p:cNvSpPr/>
          <p:nvPr/>
        </p:nvSpPr>
        <p:spPr>
          <a:xfrm>
            <a:off x="6364224" y="2596896"/>
            <a:ext cx="5157216" cy="658368"/>
          </a:xfrm>
          <a:prstGeom prst="rect">
            <a:avLst/>
          </a:prstGeom>
          <a:noFill/>
          <a:ln/>
        </p:spPr>
        <p:txBody>
          <a:bodyPr wrap="square" lIns="0" tIns="0" rIns="0" bIns="0" rtlCol="0" anchor="ctr"/>
          <a:lstStyle/>
          <a:p>
            <a:pPr indent="0" marL="0">
              <a:lnSpc>
                <a:spcPct val="112000"/>
              </a:lnSpc>
              <a:buNone/>
            </a:pPr>
            <a:r>
              <a:rPr lang="en-US" sz="1050" dirty="0">
                <a:solidFill>
                  <a:srgbClr val="14171F"/>
                </a:solidFill>
                <a:latin typeface="Arial" pitchFamily="34" charset="0"/>
                <a:ea typeface="Arial" pitchFamily="34" charset="-122"/>
                <a:cs typeface="Arial" pitchFamily="34" charset="-120"/>
              </a:rPr>
              <a:t>of organisations report value to the board today — and it's expected to be standard practice for large enterprises by the end of 2026.</a:t>
            </a:r>
            <a:endParaRPr lang="en-US" sz="1050" dirty="0"/>
          </a:p>
        </p:txBody>
      </p:sp>
      <p:sp>
        <p:nvSpPr>
          <p:cNvPr id="16" name="Text 14"/>
          <p:cNvSpPr/>
          <p:nvPr/>
        </p:nvSpPr>
        <p:spPr>
          <a:xfrm>
            <a:off x="6364224" y="3291840"/>
            <a:ext cx="5157216"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Deloitte, 2025/26</a:t>
            </a:r>
            <a:endParaRPr lang="en-US" sz="800" dirty="0"/>
          </a:p>
        </p:txBody>
      </p:sp>
      <p:sp>
        <p:nvSpPr>
          <p:cNvPr id="17" name="Shape 15"/>
          <p:cNvSpPr/>
          <p:nvPr/>
        </p:nvSpPr>
        <p:spPr>
          <a:xfrm>
            <a:off x="502920" y="3785616"/>
            <a:ext cx="5486400" cy="2084832"/>
          </a:xfrm>
          <a:prstGeom prst="rect">
            <a:avLst/>
          </a:prstGeom>
          <a:solidFill>
            <a:srgbClr val="F5F8FE"/>
          </a:solidFill>
          <a:ln/>
        </p:spPr>
      </p:sp>
      <p:sp>
        <p:nvSpPr>
          <p:cNvPr id="18" name="Text 16"/>
          <p:cNvSpPr/>
          <p:nvPr/>
        </p:nvSpPr>
        <p:spPr>
          <a:xfrm>
            <a:off x="667512" y="3913632"/>
            <a:ext cx="5157216" cy="310896"/>
          </a:xfrm>
          <a:prstGeom prst="rect">
            <a:avLst/>
          </a:prstGeom>
          <a:noFill/>
          <a:ln/>
        </p:spPr>
        <p:txBody>
          <a:bodyPr wrap="square" lIns="0" tIns="0" rIns="0" bIns="0" rtlCol="0" anchor="ctr"/>
          <a:lstStyle/>
          <a:p>
            <a:pPr indent="0" marL="0">
              <a:buNone/>
            </a:pPr>
            <a:r>
              <a:rPr lang="en-US" sz="1250" b="1" dirty="0">
                <a:solidFill>
                  <a:srgbClr val="14171F"/>
                </a:solidFill>
                <a:latin typeface="Arial" pitchFamily="34" charset="0"/>
                <a:ea typeface="Arial" pitchFamily="34" charset="-122"/>
                <a:cs typeface="Arial" pitchFamily="34" charset="-120"/>
              </a:rPr>
              <a:t>Waste is rising, not falling</a:t>
            </a:r>
            <a:endParaRPr lang="en-US" sz="1250" dirty="0"/>
          </a:p>
        </p:txBody>
      </p:sp>
      <p:sp>
        <p:nvSpPr>
          <p:cNvPr id="19" name="Text 17"/>
          <p:cNvSpPr/>
          <p:nvPr/>
        </p:nvSpPr>
        <p:spPr>
          <a:xfrm>
            <a:off x="667512" y="4261104"/>
            <a:ext cx="5157216" cy="566928"/>
          </a:xfrm>
          <a:prstGeom prst="rect">
            <a:avLst/>
          </a:prstGeom>
          <a:noFill/>
          <a:ln/>
        </p:spPr>
        <p:txBody>
          <a:bodyPr wrap="square" lIns="0" tIns="0" rIns="0" bIns="0" rtlCol="0" anchor="ctr"/>
          <a:lstStyle/>
          <a:p>
            <a:pPr indent="0" marL="0">
              <a:buNone/>
            </a:pPr>
            <a:r>
              <a:rPr lang="en-US" sz="3000" b="1" dirty="0">
                <a:solidFill>
                  <a:srgbClr val="0C62FB"/>
                </a:solidFill>
                <a:latin typeface="Arial" pitchFamily="34" charset="0"/>
                <a:ea typeface="Arial" pitchFamily="34" charset="-122"/>
                <a:cs typeface="Arial" pitchFamily="34" charset="-120"/>
              </a:rPr>
              <a:t>29%</a:t>
            </a:r>
            <a:endParaRPr lang="en-US" sz="3000" dirty="0"/>
          </a:p>
        </p:txBody>
      </p:sp>
      <p:sp>
        <p:nvSpPr>
          <p:cNvPr id="20" name="Text 18"/>
          <p:cNvSpPr/>
          <p:nvPr/>
        </p:nvSpPr>
        <p:spPr>
          <a:xfrm>
            <a:off x="667512" y="4901184"/>
            <a:ext cx="5157216" cy="658368"/>
          </a:xfrm>
          <a:prstGeom prst="rect">
            <a:avLst/>
          </a:prstGeom>
          <a:noFill/>
          <a:ln/>
        </p:spPr>
        <p:txBody>
          <a:bodyPr wrap="square" lIns="0" tIns="0" rIns="0" bIns="0" rtlCol="0" anchor="ctr"/>
          <a:lstStyle/>
          <a:p>
            <a:pPr indent="0" marL="0">
              <a:lnSpc>
                <a:spcPct val="112000"/>
              </a:lnSpc>
              <a:buNone/>
            </a:pPr>
            <a:r>
              <a:rPr lang="en-US" sz="1050" dirty="0">
                <a:solidFill>
                  <a:srgbClr val="14171F"/>
                </a:solidFill>
                <a:latin typeface="Arial" pitchFamily="34" charset="0"/>
                <a:ea typeface="Arial" pitchFamily="34" charset="-122"/>
                <a:cs typeface="Arial" pitchFamily="34" charset="-120"/>
              </a:rPr>
              <a:t>of cloud spend is now wasted — the first increase in five years, driven by AI workloads. Licence waste sits near 50%.</a:t>
            </a:r>
            <a:endParaRPr lang="en-US" sz="1050" dirty="0"/>
          </a:p>
        </p:txBody>
      </p:sp>
      <p:sp>
        <p:nvSpPr>
          <p:cNvPr id="21" name="Text 19"/>
          <p:cNvSpPr/>
          <p:nvPr/>
        </p:nvSpPr>
        <p:spPr>
          <a:xfrm>
            <a:off x="667512" y="5596128"/>
            <a:ext cx="5157216"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Flexera State of the Cloud 2026</a:t>
            </a:r>
            <a:endParaRPr lang="en-US" sz="800" dirty="0"/>
          </a:p>
        </p:txBody>
      </p:sp>
      <p:sp>
        <p:nvSpPr>
          <p:cNvPr id="22" name="Shape 20"/>
          <p:cNvSpPr/>
          <p:nvPr/>
        </p:nvSpPr>
        <p:spPr>
          <a:xfrm>
            <a:off x="6199632" y="3785616"/>
            <a:ext cx="5486400" cy="2084832"/>
          </a:xfrm>
          <a:prstGeom prst="rect">
            <a:avLst/>
          </a:prstGeom>
          <a:solidFill>
            <a:srgbClr val="F5F8FE"/>
          </a:solidFill>
          <a:ln/>
        </p:spPr>
      </p:sp>
      <p:sp>
        <p:nvSpPr>
          <p:cNvPr id="23" name="Text 21"/>
          <p:cNvSpPr/>
          <p:nvPr/>
        </p:nvSpPr>
        <p:spPr>
          <a:xfrm>
            <a:off x="6364224" y="3913632"/>
            <a:ext cx="5157216" cy="310896"/>
          </a:xfrm>
          <a:prstGeom prst="rect">
            <a:avLst/>
          </a:prstGeom>
          <a:noFill/>
          <a:ln/>
        </p:spPr>
        <p:txBody>
          <a:bodyPr wrap="square" lIns="0" tIns="0" rIns="0" bIns="0" rtlCol="0" anchor="ctr"/>
          <a:lstStyle/>
          <a:p>
            <a:pPr indent="0" marL="0">
              <a:buNone/>
            </a:pPr>
            <a:r>
              <a:rPr lang="en-US" sz="1250" b="1" dirty="0">
                <a:solidFill>
                  <a:srgbClr val="14171F"/>
                </a:solidFill>
                <a:latin typeface="Arial" pitchFamily="34" charset="0"/>
                <a:ea typeface="Arial" pitchFamily="34" charset="-122"/>
                <a:cs typeface="Arial" pitchFamily="34" charset="-120"/>
              </a:rPr>
              <a:t>Deal maths just got harder</a:t>
            </a:r>
            <a:endParaRPr lang="en-US" sz="1250" dirty="0"/>
          </a:p>
        </p:txBody>
      </p:sp>
      <p:sp>
        <p:nvSpPr>
          <p:cNvPr id="24" name="Text 22"/>
          <p:cNvSpPr/>
          <p:nvPr/>
        </p:nvSpPr>
        <p:spPr>
          <a:xfrm>
            <a:off x="6364224" y="4261104"/>
            <a:ext cx="5157216" cy="566928"/>
          </a:xfrm>
          <a:prstGeom prst="rect">
            <a:avLst/>
          </a:prstGeom>
          <a:noFill/>
          <a:ln/>
        </p:spPr>
        <p:txBody>
          <a:bodyPr wrap="square" lIns="0" tIns="0" rIns="0" bIns="0" rtlCol="0" anchor="ctr"/>
          <a:lstStyle/>
          <a:p>
            <a:pPr indent="0" marL="0">
              <a:buNone/>
            </a:pPr>
            <a:r>
              <a:rPr lang="en-US" sz="3000" b="1" dirty="0">
                <a:solidFill>
                  <a:srgbClr val="0C62FB"/>
                </a:solidFill>
                <a:latin typeface="Arial" pitchFamily="34" charset="0"/>
                <a:ea typeface="Arial" pitchFamily="34" charset="-122"/>
                <a:cs typeface="Arial" pitchFamily="34" charset="-120"/>
              </a:rPr>
              <a:t>“12 is the new 5”</a:t>
            </a:r>
            <a:endParaRPr lang="en-US" sz="3000" dirty="0"/>
          </a:p>
        </p:txBody>
      </p:sp>
      <p:sp>
        <p:nvSpPr>
          <p:cNvPr id="25" name="Text 23"/>
          <p:cNvSpPr/>
          <p:nvPr/>
        </p:nvSpPr>
        <p:spPr>
          <a:xfrm>
            <a:off x="6364224" y="4901184"/>
            <a:ext cx="5157216" cy="658368"/>
          </a:xfrm>
          <a:prstGeom prst="rect">
            <a:avLst/>
          </a:prstGeom>
          <a:noFill/>
          <a:ln/>
        </p:spPr>
        <p:txBody>
          <a:bodyPr wrap="square" lIns="0" tIns="0" rIns="0" bIns="0" rtlCol="0" anchor="ctr"/>
          <a:lstStyle/>
          <a:p>
            <a:pPr indent="0" marL="0">
              <a:lnSpc>
                <a:spcPct val="112000"/>
              </a:lnSpc>
              <a:buNone/>
            </a:pPr>
            <a:r>
              <a:rPr lang="en-US" sz="1050" dirty="0">
                <a:solidFill>
                  <a:srgbClr val="14171F"/>
                </a:solidFill>
                <a:latin typeface="Arial" pitchFamily="34" charset="0"/>
                <a:ea typeface="Arial" pitchFamily="34" charset="-122"/>
                <a:cs typeface="Arial" pitchFamily="34" charset="-120"/>
              </a:rPr>
              <a:t>private equity now needs ~12% annual EBITDA growth where 5% used to do. Operational value is the only lever left.</a:t>
            </a:r>
            <a:endParaRPr lang="en-US" sz="1050" dirty="0"/>
          </a:p>
        </p:txBody>
      </p:sp>
      <p:sp>
        <p:nvSpPr>
          <p:cNvPr id="26" name="Text 24"/>
          <p:cNvSpPr/>
          <p:nvPr/>
        </p:nvSpPr>
        <p:spPr>
          <a:xfrm>
            <a:off x="6364224" y="5596128"/>
            <a:ext cx="5157216" cy="219456"/>
          </a:xfrm>
          <a:prstGeom prst="rect">
            <a:avLst/>
          </a:prstGeom>
          <a:noFill/>
          <a:ln/>
        </p:spPr>
        <p:txBody>
          <a:bodyPr wrap="square" lIns="0" tIns="0" rIns="0" bIns="0" rtlCol="0" anchor="ctr"/>
          <a:lstStyle/>
          <a:p>
            <a:pPr indent="0" marL="0">
              <a:buNone/>
            </a:pPr>
            <a:r>
              <a:rPr lang="en-US" sz="800" dirty="0">
                <a:solidFill>
                  <a:srgbClr val="5C6470"/>
                </a:solidFill>
                <a:latin typeface="Arial" pitchFamily="34" charset="0"/>
                <a:ea typeface="Arial" pitchFamily="34" charset="-122"/>
                <a:cs typeface="Arial" pitchFamily="34" charset="-120"/>
              </a:rPr>
              <a:t>Bain Global PE Report 2026</a:t>
            </a:r>
            <a:endParaRPr lang="en-US" sz="800" dirty="0"/>
          </a:p>
        </p:txBody>
      </p:sp>
      <p:sp>
        <p:nvSpPr>
          <p:cNvPr id="27" name="Text 25"/>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The client's board is doing our selling for us. Whoever installs the value discipline now owns that conversation for the next five years.</a:t>
            </a:r>
            <a:endParaRPr lang="en-US" sz="900" dirty="0"/>
          </a:p>
        </p:txBody>
      </p:sp>
      <p:sp>
        <p:nvSpPr>
          <p:cNvPr id="28" name="Text 26"/>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RGP survey of 200 US CFOs via CFO.com, 2026; Deloitte, AI ROI: the paradox of rising investment and elusive returns, 2025/26; Flexera State of the Cloud Report 2026 (n=753); Bain &amp; Company Global Private Equity Report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THE CAPABILITY  |  DEFINITION</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5</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Value architecture is one question asked early — then the working parts that make the answer true</a:t>
            </a:r>
            <a:endParaRPr lang="en-US" sz="2200" dirty="0"/>
          </a:p>
        </p:txBody>
      </p:sp>
      <p:sp>
        <p:nvSpPr>
          <p:cNvPr id="7" name="Shape 5"/>
          <p:cNvSpPr/>
          <p:nvPr/>
        </p:nvSpPr>
        <p:spPr>
          <a:xfrm>
            <a:off x="502920" y="1444752"/>
            <a:ext cx="6400800" cy="1371600"/>
          </a:xfrm>
          <a:prstGeom prst="rect">
            <a:avLst/>
          </a:prstGeom>
          <a:solidFill>
            <a:srgbClr val="14171F"/>
          </a:solidFill>
          <a:ln/>
        </p:spPr>
      </p:sp>
      <p:sp>
        <p:nvSpPr>
          <p:cNvPr id="8" name="Text 6"/>
          <p:cNvSpPr/>
          <p:nvPr/>
        </p:nvSpPr>
        <p:spPr>
          <a:xfrm>
            <a:off x="685800" y="1572768"/>
            <a:ext cx="3657600" cy="237744"/>
          </a:xfrm>
          <a:prstGeom prst="rect">
            <a:avLst/>
          </a:prstGeom>
          <a:noFill/>
          <a:ln/>
        </p:spPr>
        <p:txBody>
          <a:bodyPr wrap="square" lIns="0" tIns="0" rIns="0" bIns="0" rtlCol="0" anchor="ctr"/>
          <a:lstStyle/>
          <a:p>
            <a:pPr indent="0" marL="0">
              <a:buNone/>
            </a:pPr>
            <a:r>
              <a:rPr lang="en-US" sz="850" b="1" spc="200" kern="0" dirty="0">
                <a:solidFill>
                  <a:srgbClr val="8FB4FD"/>
                </a:solidFill>
                <a:latin typeface="Arial" pitchFamily="34" charset="0"/>
                <a:ea typeface="Arial" pitchFamily="34" charset="-122"/>
                <a:cs typeface="Arial" pitchFamily="34" charset="-120"/>
              </a:rPr>
              <a:t>THE OPENING QUESTION</a:t>
            </a:r>
            <a:endParaRPr lang="en-US" sz="850" dirty="0"/>
          </a:p>
        </p:txBody>
      </p:sp>
      <p:sp>
        <p:nvSpPr>
          <p:cNvPr id="9" name="Text 7"/>
          <p:cNvSpPr/>
          <p:nvPr/>
        </p:nvSpPr>
        <p:spPr>
          <a:xfrm>
            <a:off x="685800" y="1828800"/>
            <a:ext cx="6035040" cy="914400"/>
          </a:xfrm>
          <a:prstGeom prst="rect">
            <a:avLst/>
          </a:prstGeom>
          <a:noFill/>
          <a:ln/>
        </p:spPr>
        <p:txBody>
          <a:bodyPr wrap="square" lIns="0" tIns="0" rIns="0" bIns="0" rtlCol="0" anchor="ctr"/>
          <a:lstStyle/>
          <a:p>
            <a:pPr indent="0" marL="0">
              <a:lnSpc>
                <a:spcPct val="110000"/>
              </a:lnSpc>
              <a:buNone/>
            </a:pPr>
            <a:r>
              <a:rPr lang="en-US" sz="1550" b="1" i="1" dirty="0">
                <a:solidFill>
                  <a:srgbClr val="FFFFFF"/>
                </a:solidFill>
                <a:latin typeface="Arial" pitchFamily="34" charset="0"/>
                <a:ea typeface="Arial" pitchFamily="34" charset="-122"/>
                <a:cs typeface="Arial" pitchFamily="34" charset="-120"/>
              </a:rPr>
              <a:t>“What value does this investment drive for our business as a whole — and how do we set ourselves up to realise it?”</a:t>
            </a:r>
            <a:endParaRPr lang="en-US" sz="1550" dirty="0"/>
          </a:p>
        </p:txBody>
      </p:sp>
      <p:sp>
        <p:nvSpPr>
          <p:cNvPr id="10" name="Text 8"/>
          <p:cNvSpPr/>
          <p:nvPr/>
        </p:nvSpPr>
        <p:spPr>
          <a:xfrm>
            <a:off x="502920" y="2999232"/>
            <a:ext cx="6400800" cy="274320"/>
          </a:xfrm>
          <a:prstGeom prst="rect">
            <a:avLst/>
          </a:prstGeom>
          <a:noFill/>
          <a:ln/>
        </p:spPr>
        <p:txBody>
          <a:bodyPr wrap="square" lIns="0" tIns="0" rIns="0" bIns="0" rtlCol="0" anchor="ctr"/>
          <a:lstStyle/>
          <a:p>
            <a:pPr indent="0" marL="0">
              <a:buNone/>
            </a:pPr>
            <a:r>
              <a:rPr lang="en-US" sz="1050" b="1" dirty="0">
                <a:solidFill>
                  <a:srgbClr val="14171F"/>
                </a:solidFill>
                <a:latin typeface="Arial" pitchFamily="34" charset="0"/>
                <a:ea typeface="Arial" pitchFamily="34" charset="-122"/>
                <a:cs typeface="Arial" pitchFamily="34" charset="-120"/>
              </a:rPr>
              <a:t>Asked at the start, the answer changes what gets built:</a:t>
            </a:r>
            <a:endParaRPr lang="en-US" sz="1050" dirty="0"/>
          </a:p>
        </p:txBody>
      </p:sp>
      <p:sp>
        <p:nvSpPr>
          <p:cNvPr id="11" name="Text 9"/>
          <p:cNvSpPr/>
          <p:nvPr/>
        </p:nvSpPr>
        <p:spPr>
          <a:xfrm>
            <a:off x="548640" y="3310128"/>
            <a:ext cx="6309360" cy="2377440"/>
          </a:xfrm>
          <a:prstGeom prst="rect">
            <a:avLst/>
          </a:prstGeom>
          <a:noFill/>
          <a:ln/>
        </p:spPr>
        <p:txBody>
          <a:bodyPr wrap="square" lIns="0" tIns="0" rIns="0" bIns="0" rtlCol="0" anchor="ctr"/>
          <a:lstStyle/>
          <a:p>
            <a:pPr marL="127000" indent="-127000">
              <a:lnSpc>
                <a:spcPct val="110000"/>
              </a:lnSpc>
              <a:spcAft>
                <a:spcPts val="700"/>
              </a:spcAft>
              <a:buSzPct val="100000"/>
              <a:buChar char="–"/>
            </a:pPr>
            <a:r>
              <a:rPr lang="en-US" sz="1050" dirty="0">
                <a:solidFill>
                  <a:srgbClr val="14171F"/>
                </a:solidFill>
                <a:latin typeface="Arial" pitchFamily="34" charset="0"/>
                <a:ea typeface="Arial" pitchFamily="34" charset="-122"/>
                <a:cs typeface="Arial" pitchFamily="34" charset="-120"/>
              </a:rPr>
              <a:t>Value is named as business KPIs — revenue, margin, cycle time, retention — not technology milestones.</a:t>
            </a:r>
            <a:endParaRPr lang="en-US" sz="1050" dirty="0"/>
          </a:p>
          <a:p>
            <a:pPr marL="127000" indent="-127000">
              <a:lnSpc>
                <a:spcPct val="110000"/>
              </a:lnSpc>
              <a:spcAft>
                <a:spcPts val="700"/>
              </a:spcAft>
              <a:buSzPct val="100000"/>
              <a:buChar char="–"/>
            </a:pPr>
            <a:r>
              <a:rPr lang="en-US" sz="1050" dirty="0">
                <a:solidFill>
                  <a:srgbClr val="14171F"/>
                </a:solidFill>
                <a:latin typeface="Arial" pitchFamily="34" charset="0"/>
                <a:ea typeface="Arial" pitchFamily="34" charset="-122"/>
                <a:cs typeface="Arial" pitchFamily="34" charset="-120"/>
              </a:rPr>
              <a:t>A baseline is taken before the work starts, so movement can be proven, not argued.</a:t>
            </a:r>
            <a:endParaRPr lang="en-US" sz="1050" dirty="0"/>
          </a:p>
          <a:p>
            <a:pPr marL="127000" indent="-127000">
              <a:lnSpc>
                <a:spcPct val="110000"/>
              </a:lnSpc>
              <a:spcAft>
                <a:spcPts val="700"/>
              </a:spcAft>
              <a:buSzPct val="100000"/>
              <a:buChar char="–"/>
            </a:pPr>
            <a:r>
              <a:rPr lang="en-US" sz="1050" dirty="0">
                <a:solidFill>
                  <a:srgbClr val="14171F"/>
                </a:solidFill>
                <a:latin typeface="Arial" pitchFamily="34" charset="0"/>
                <a:ea typeface="Arial" pitchFamily="34" charset="-122"/>
                <a:cs typeface="Arial" pitchFamily="34" charset="-120"/>
              </a:rPr>
              <a:t>Every benefit has a named owner in the business, because the delivery team goes home and the owner can't.</a:t>
            </a:r>
            <a:endParaRPr lang="en-US" sz="1050" dirty="0"/>
          </a:p>
          <a:p>
            <a:pPr marL="127000" indent="-127000">
              <a:lnSpc>
                <a:spcPct val="110000"/>
              </a:lnSpc>
              <a:spcAft>
                <a:spcPts val="700"/>
              </a:spcAft>
              <a:buSzPct val="100000"/>
              <a:buChar char="–"/>
            </a:pPr>
            <a:r>
              <a:rPr lang="en-US" sz="1050" dirty="0">
                <a:solidFill>
                  <a:srgbClr val="14171F"/>
                </a:solidFill>
                <a:latin typeface="Arial" pitchFamily="34" charset="0"/>
                <a:ea typeface="Arial" pitchFamily="34" charset="-122"/>
                <a:cs typeface="Arial" pitchFamily="34" charset="-120"/>
              </a:rPr>
              <a:t>Tracking lives in the numbers leaders already read — often on the platforms we build — not a separate spreadsheet.</a:t>
            </a:r>
            <a:endParaRPr lang="en-US" sz="1050" dirty="0"/>
          </a:p>
          <a:p>
            <a:pPr marL="127000" indent="-127000">
              <a:lnSpc>
                <a:spcPct val="110000"/>
              </a:lnSpc>
              <a:spcAft>
                <a:spcPts val="700"/>
              </a:spcAft>
              <a:buSzPct val="100000"/>
              <a:buChar char="–"/>
            </a:pPr>
            <a:r>
              <a:rPr lang="en-US" sz="1050" dirty="0">
                <a:solidFill>
                  <a:srgbClr val="14171F"/>
                </a:solidFill>
                <a:latin typeface="Arial" pitchFamily="34" charset="0"/>
                <a:ea typeface="Arial" pitchFamily="34" charset="-122"/>
                <a:cs typeface="Arial" pitchFamily="34" charset="-120"/>
              </a:rPr>
              <a:t>Governance can stop, redirect or double down: a monthly go / hold / kill / accelerate call, not a status report.</a:t>
            </a:r>
            <a:endParaRPr lang="en-US" sz="1050" dirty="0"/>
          </a:p>
        </p:txBody>
      </p:sp>
      <p:sp>
        <p:nvSpPr>
          <p:cNvPr id="12" name="Text 10"/>
          <p:cNvSpPr/>
          <p:nvPr/>
        </p:nvSpPr>
        <p:spPr>
          <a:xfrm>
            <a:off x="7159752" y="1444752"/>
            <a:ext cx="4526280" cy="256032"/>
          </a:xfrm>
          <a:prstGeom prst="rect">
            <a:avLst/>
          </a:prstGeom>
          <a:noFill/>
          <a:ln/>
        </p:spPr>
        <p:txBody>
          <a:bodyPr wrap="square" lIns="0" tIns="0" rIns="0" bIns="0" rtlCol="0" anchor="ctr"/>
          <a:lstStyle/>
          <a:p>
            <a:pPr indent="0" marL="0">
              <a:buNone/>
            </a:pPr>
            <a:r>
              <a:rPr lang="en-US" sz="900" b="1" spc="200" kern="0" dirty="0">
                <a:solidFill>
                  <a:srgbClr val="C62828"/>
                </a:solidFill>
                <a:latin typeface="Arial" pitchFamily="34" charset="0"/>
                <a:ea typeface="Arial" pitchFamily="34" charset="-122"/>
                <a:cs typeface="Arial" pitchFamily="34" charset="-120"/>
              </a:rPr>
              <a:t>WHAT IT IS NOT</a:t>
            </a:r>
            <a:endParaRPr lang="en-US" sz="900" dirty="0"/>
          </a:p>
        </p:txBody>
      </p:sp>
      <p:sp>
        <p:nvSpPr>
          <p:cNvPr id="13" name="Shape 11"/>
          <p:cNvSpPr/>
          <p:nvPr/>
        </p:nvSpPr>
        <p:spPr>
          <a:xfrm>
            <a:off x="7159752" y="1755648"/>
            <a:ext cx="4526280" cy="786384"/>
          </a:xfrm>
          <a:prstGeom prst="rect">
            <a:avLst/>
          </a:prstGeom>
          <a:solidFill>
            <a:srgbClr val="F5F8FE"/>
          </a:solidFill>
          <a:ln/>
        </p:spPr>
      </p:sp>
      <p:sp>
        <p:nvSpPr>
          <p:cNvPr id="14" name="Text 12"/>
          <p:cNvSpPr/>
          <p:nvPr/>
        </p:nvSpPr>
        <p:spPr>
          <a:xfrm>
            <a:off x="7287768" y="1828800"/>
            <a:ext cx="4270248" cy="640080"/>
          </a:xfrm>
          <a:prstGeom prst="rect">
            <a:avLst/>
          </a:prstGeom>
          <a:noFill/>
          <a:ln/>
        </p:spPr>
        <p:txBody>
          <a:bodyPr wrap="square" lIns="0" tIns="0" rIns="0" bIns="0" rtlCol="0" anchor="ctr"/>
          <a:lstStyle/>
          <a:p>
            <a:pPr indent="0" marL="0">
              <a:lnSpc>
                <a:spcPct val="110000"/>
              </a:lnSpc>
              <a:buNone/>
            </a:pPr>
            <a:r>
              <a:rPr lang="en-US" sz="1000" b="1" dirty="0">
                <a:solidFill>
                  <a:srgbClr val="14171F"/>
                </a:solidFill>
                <a:latin typeface="Arial" pitchFamily="34" charset="0"/>
                <a:ea typeface="Arial" pitchFamily="34" charset="-122"/>
                <a:cs typeface="Arial" pitchFamily="34" charset="-120"/>
              </a:rPr>
              <a:t>Not a strategy paper.  </a:t>
            </a:r>
            <a:pPr indent="0" marL="0">
              <a:lnSpc>
                <a:spcPct val="110000"/>
              </a:lnSpc>
              <a:buNone/>
            </a:pPr>
            <a:r>
              <a:rPr lang="en-US" sz="1000" dirty="0">
                <a:solidFill>
                  <a:srgbClr val="14171F"/>
                </a:solidFill>
                <a:latin typeface="Arial" pitchFamily="34" charset="0"/>
                <a:ea typeface="Arial" pitchFamily="34" charset="-122"/>
                <a:cs typeface="Arial" pitchFamily="34" charset="-120"/>
              </a:rPr>
              <a:t>It runs inside delivery, not beside it. The output is working mechanisms, not recommendations.</a:t>
            </a:r>
            <a:endParaRPr lang="en-US" sz="1000" dirty="0"/>
          </a:p>
        </p:txBody>
      </p:sp>
      <p:sp>
        <p:nvSpPr>
          <p:cNvPr id="15" name="Shape 13"/>
          <p:cNvSpPr/>
          <p:nvPr/>
        </p:nvSpPr>
        <p:spPr>
          <a:xfrm>
            <a:off x="7159752" y="2670048"/>
            <a:ext cx="4526280" cy="786384"/>
          </a:xfrm>
          <a:prstGeom prst="rect">
            <a:avLst/>
          </a:prstGeom>
          <a:solidFill>
            <a:srgbClr val="F5F8FE"/>
          </a:solidFill>
          <a:ln/>
        </p:spPr>
      </p:sp>
      <p:sp>
        <p:nvSpPr>
          <p:cNvPr id="16" name="Text 14"/>
          <p:cNvSpPr/>
          <p:nvPr/>
        </p:nvSpPr>
        <p:spPr>
          <a:xfrm>
            <a:off x="7287768" y="2743200"/>
            <a:ext cx="4270248" cy="640080"/>
          </a:xfrm>
          <a:prstGeom prst="rect">
            <a:avLst/>
          </a:prstGeom>
          <a:noFill/>
          <a:ln/>
        </p:spPr>
        <p:txBody>
          <a:bodyPr wrap="square" lIns="0" tIns="0" rIns="0" bIns="0" rtlCol="0" anchor="ctr"/>
          <a:lstStyle/>
          <a:p>
            <a:pPr indent="0" marL="0">
              <a:lnSpc>
                <a:spcPct val="110000"/>
              </a:lnSpc>
              <a:buNone/>
            </a:pPr>
            <a:r>
              <a:rPr lang="en-US" sz="1000" b="1" dirty="0">
                <a:solidFill>
                  <a:srgbClr val="14171F"/>
                </a:solidFill>
                <a:latin typeface="Arial" pitchFamily="34" charset="0"/>
                <a:ea typeface="Arial" pitchFamily="34" charset="-122"/>
                <a:cs typeface="Arial" pitchFamily="34" charset="-120"/>
              </a:rPr>
              <a:t>Not a benefits spreadsheet.  </a:t>
            </a:r>
            <a:pPr indent="0" marL="0">
              <a:lnSpc>
                <a:spcPct val="110000"/>
              </a:lnSpc>
              <a:buNone/>
            </a:pPr>
            <a:r>
              <a:rPr lang="en-US" sz="1000" dirty="0">
                <a:solidFill>
                  <a:srgbClr val="14171F"/>
                </a:solidFill>
                <a:latin typeface="Arial" pitchFamily="34" charset="0"/>
                <a:ea typeface="Arial" pitchFamily="34" charset="-122"/>
                <a:cs typeface="Arial" pitchFamily="34" charset="-120"/>
              </a:rPr>
              <a:t>Metrics that need their own reporting effort decay. They sit in existing dashboards or they die.</a:t>
            </a:r>
            <a:endParaRPr lang="en-US" sz="1000" dirty="0"/>
          </a:p>
        </p:txBody>
      </p:sp>
      <p:sp>
        <p:nvSpPr>
          <p:cNvPr id="17" name="Shape 15"/>
          <p:cNvSpPr/>
          <p:nvPr/>
        </p:nvSpPr>
        <p:spPr>
          <a:xfrm>
            <a:off x="7159752" y="3584448"/>
            <a:ext cx="4526280" cy="786384"/>
          </a:xfrm>
          <a:prstGeom prst="rect">
            <a:avLst/>
          </a:prstGeom>
          <a:solidFill>
            <a:srgbClr val="F5F8FE"/>
          </a:solidFill>
          <a:ln/>
        </p:spPr>
      </p:sp>
      <p:sp>
        <p:nvSpPr>
          <p:cNvPr id="18" name="Text 16"/>
          <p:cNvSpPr/>
          <p:nvPr/>
        </p:nvSpPr>
        <p:spPr>
          <a:xfrm>
            <a:off x="7287768" y="3657600"/>
            <a:ext cx="4270248" cy="640080"/>
          </a:xfrm>
          <a:prstGeom prst="rect">
            <a:avLst/>
          </a:prstGeom>
          <a:noFill/>
          <a:ln/>
        </p:spPr>
        <p:txBody>
          <a:bodyPr wrap="square" lIns="0" tIns="0" rIns="0" bIns="0" rtlCol="0" anchor="ctr"/>
          <a:lstStyle/>
          <a:p>
            <a:pPr indent="0" marL="0">
              <a:lnSpc>
                <a:spcPct val="110000"/>
              </a:lnSpc>
              <a:buNone/>
            </a:pPr>
            <a:r>
              <a:rPr lang="en-US" sz="1000" b="1" dirty="0">
                <a:solidFill>
                  <a:srgbClr val="14171F"/>
                </a:solidFill>
                <a:latin typeface="Arial" pitchFamily="34" charset="0"/>
                <a:ea typeface="Arial" pitchFamily="34" charset="-122"/>
                <a:cs typeface="Arial" pitchFamily="34" charset="-120"/>
              </a:rPr>
              <a:t>Not a policing function.  </a:t>
            </a:r>
            <a:pPr indent="0" marL="0">
              <a:lnSpc>
                <a:spcPct val="110000"/>
              </a:lnSpc>
              <a:buNone/>
            </a:pPr>
            <a:r>
              <a:rPr lang="en-US" sz="1000" dirty="0">
                <a:solidFill>
                  <a:srgbClr val="14171F"/>
                </a:solidFill>
                <a:latin typeface="Arial" pitchFamily="34" charset="0"/>
                <a:ea typeface="Arial" pitchFamily="34" charset="-122"/>
                <a:cs typeface="Arial" pitchFamily="34" charset="-120"/>
              </a:rPr>
              <a:t>The job is helping owners hit the number — not catching them missing it.</a:t>
            </a:r>
            <a:endParaRPr lang="en-US" sz="1000" dirty="0"/>
          </a:p>
        </p:txBody>
      </p:sp>
      <p:sp>
        <p:nvSpPr>
          <p:cNvPr id="19" name="Shape 17"/>
          <p:cNvSpPr/>
          <p:nvPr/>
        </p:nvSpPr>
        <p:spPr>
          <a:xfrm>
            <a:off x="7159752" y="4553712"/>
            <a:ext cx="4526280" cy="1170432"/>
          </a:xfrm>
          <a:prstGeom prst="rect">
            <a:avLst/>
          </a:prstGeom>
          <a:solidFill>
            <a:srgbClr val="0C62FB"/>
          </a:solidFill>
          <a:ln/>
        </p:spPr>
      </p:sp>
      <p:sp>
        <p:nvSpPr>
          <p:cNvPr id="20" name="Text 18"/>
          <p:cNvSpPr/>
          <p:nvPr/>
        </p:nvSpPr>
        <p:spPr>
          <a:xfrm>
            <a:off x="7287768" y="4663440"/>
            <a:ext cx="4270248" cy="219456"/>
          </a:xfrm>
          <a:prstGeom prst="rect">
            <a:avLst/>
          </a:prstGeom>
          <a:noFill/>
          <a:ln/>
        </p:spPr>
        <p:txBody>
          <a:bodyPr wrap="square" lIns="0" tIns="0" rIns="0" bIns="0" rtlCol="0" anchor="ctr"/>
          <a:lstStyle/>
          <a:p>
            <a:pPr indent="0" marL="0">
              <a:buNone/>
            </a:pPr>
            <a:r>
              <a:rPr lang="en-US" sz="850" b="1" spc="200" kern="0" dirty="0">
                <a:solidFill>
                  <a:srgbClr val="CFE0FE"/>
                </a:solidFill>
                <a:latin typeface="Arial" pitchFamily="34" charset="0"/>
                <a:ea typeface="Arial" pitchFamily="34" charset="-122"/>
                <a:cs typeface="Arial" pitchFamily="34" charset="-120"/>
              </a:rPr>
              <a:t>VALUE, DEFINED</a:t>
            </a:r>
            <a:endParaRPr lang="en-US" sz="850" dirty="0"/>
          </a:p>
        </p:txBody>
      </p:sp>
      <p:sp>
        <p:nvSpPr>
          <p:cNvPr id="21" name="Text 19"/>
          <p:cNvSpPr/>
          <p:nvPr/>
        </p:nvSpPr>
        <p:spPr>
          <a:xfrm>
            <a:off x="7287768" y="4901184"/>
            <a:ext cx="4270248" cy="768096"/>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Arial" pitchFamily="34" charset="0"/>
                <a:ea typeface="Arial" pitchFamily="34" charset="-122"/>
                <a:cs typeface="Arial" pitchFamily="34" charset="-120"/>
              </a:rPr>
              <a:t>A business KPI with a baseline, a target, a date and a named owner. Everything else is intention.</a:t>
            </a:r>
            <a:endParaRPr lang="en-US" sz="1150" dirty="0"/>
          </a:p>
        </p:txBody>
      </p:sp>
      <p:sp>
        <p:nvSpPr>
          <p:cNvPr id="22" name="Text 20"/>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Deliberately light on framework. The capability is a question, five working mechanisms and the discipline to keep them alive — that's what clients can actually buy.</a:t>
            </a:r>
            <a:endParaRPr lang="en-US" sz="900" dirty="0"/>
          </a:p>
        </p:txBody>
      </p:sp>
      <p:sp>
        <p:nvSpPr>
          <p:cNvPr id="23" name="Text 21"/>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The mechanisms draw on established practice — PMI benefits realisation, the UK Green Book, Cranfield's benefits dependency work — applied inside delivery rather than sold as method.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THE CAPABILITY  |  IN PRACTICE</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6</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The shift: from business cases that win funding to value cases that run the investment</a:t>
            </a:r>
            <a:endParaRPr lang="en-US" sz="2200" dirty="0"/>
          </a:p>
        </p:txBody>
      </p:sp>
      <p:sp>
        <p:nvSpPr>
          <p:cNvPr id="7" name="Text 5"/>
          <p:cNvSpPr/>
          <p:nvPr/>
        </p:nvSpPr>
        <p:spPr>
          <a:xfrm>
            <a:off x="502920" y="1481328"/>
            <a:ext cx="5120640" cy="274320"/>
          </a:xfrm>
          <a:prstGeom prst="rect">
            <a:avLst/>
          </a:prstGeom>
          <a:noFill/>
          <a:ln/>
        </p:spPr>
        <p:txBody>
          <a:bodyPr wrap="square" lIns="0" tIns="0" rIns="0" bIns="0" rtlCol="0" anchor="ctr"/>
          <a:lstStyle/>
          <a:p>
            <a:pPr indent="0" marL="0">
              <a:buNone/>
            </a:pPr>
            <a:r>
              <a:rPr lang="en-US" sz="950" b="1" spc="200" kern="0" dirty="0">
                <a:solidFill>
                  <a:srgbClr val="5C6470"/>
                </a:solidFill>
                <a:latin typeface="Arial" pitchFamily="34" charset="0"/>
                <a:ea typeface="Arial" pitchFamily="34" charset="-122"/>
                <a:cs typeface="Arial" pitchFamily="34" charset="-120"/>
              </a:rPr>
              <a:t>HOW IT WORKS TODAY</a:t>
            </a:r>
            <a:endParaRPr lang="en-US" sz="950" dirty="0"/>
          </a:p>
        </p:txBody>
      </p:sp>
      <p:sp>
        <p:nvSpPr>
          <p:cNvPr id="8" name="Text 6"/>
          <p:cNvSpPr/>
          <p:nvPr/>
        </p:nvSpPr>
        <p:spPr>
          <a:xfrm>
            <a:off x="6446520" y="1481328"/>
            <a:ext cx="5120640" cy="274320"/>
          </a:xfrm>
          <a:prstGeom prst="rect">
            <a:avLst/>
          </a:prstGeom>
          <a:noFill/>
          <a:ln/>
        </p:spPr>
        <p:txBody>
          <a:bodyPr wrap="square" lIns="0" tIns="0" rIns="0" bIns="0" rtlCol="0" anchor="ctr"/>
          <a:lstStyle/>
          <a:p>
            <a:pPr indent="0" marL="0">
              <a:buNone/>
            </a:pPr>
            <a:r>
              <a:rPr lang="en-US" sz="950" b="1" spc="200" kern="0" dirty="0">
                <a:solidFill>
                  <a:srgbClr val="0C62FB"/>
                </a:solidFill>
                <a:latin typeface="Arial" pitchFamily="34" charset="0"/>
                <a:ea typeface="Arial" pitchFamily="34" charset="-122"/>
                <a:cs typeface="Arial" pitchFamily="34" charset="-120"/>
              </a:rPr>
              <a:t>HOW WE SET IT UP</a:t>
            </a:r>
            <a:endParaRPr lang="en-US" sz="950" dirty="0"/>
          </a:p>
        </p:txBody>
      </p:sp>
      <p:sp>
        <p:nvSpPr>
          <p:cNvPr id="9" name="Shape 7"/>
          <p:cNvSpPr/>
          <p:nvPr/>
        </p:nvSpPr>
        <p:spPr>
          <a:xfrm>
            <a:off x="502920" y="1828800"/>
            <a:ext cx="5120640" cy="603504"/>
          </a:xfrm>
          <a:prstGeom prst="rect">
            <a:avLst/>
          </a:prstGeom>
          <a:solidFill>
            <a:srgbClr val="EFF1F4"/>
          </a:solidFill>
          <a:ln/>
        </p:spPr>
      </p:sp>
      <p:sp>
        <p:nvSpPr>
          <p:cNvPr id="10" name="Text 8"/>
          <p:cNvSpPr/>
          <p:nvPr/>
        </p:nvSpPr>
        <p:spPr>
          <a:xfrm>
            <a:off x="630936" y="1828800"/>
            <a:ext cx="4864608" cy="603504"/>
          </a:xfrm>
          <a:prstGeom prst="rect">
            <a:avLst/>
          </a:prstGeom>
          <a:noFill/>
          <a:ln/>
        </p:spPr>
        <p:txBody>
          <a:bodyPr wrap="square" lIns="0" tIns="0" rIns="0" bIns="0" rtlCol="0" anchor="ctr"/>
          <a:lstStyle/>
          <a:p>
            <a:pPr indent="0" marL="0">
              <a:lnSpc>
                <a:spcPct val="105000"/>
              </a:lnSpc>
              <a:buNone/>
            </a:pPr>
            <a:r>
              <a:rPr lang="en-US" sz="1000" dirty="0">
                <a:solidFill>
                  <a:srgbClr val="5C6470"/>
                </a:solidFill>
                <a:latin typeface="Arial" pitchFamily="34" charset="0"/>
                <a:ea typeface="Arial" pitchFamily="34" charset="-122"/>
                <a:cs typeface="Arial" pitchFamily="34" charset="-120"/>
              </a:rPr>
              <a:t>Business case written to win approval, filed after sign-off</a:t>
            </a:r>
            <a:endParaRPr lang="en-US" sz="1000" dirty="0"/>
          </a:p>
        </p:txBody>
      </p:sp>
      <p:sp>
        <p:nvSpPr>
          <p:cNvPr id="11" name="Text 9"/>
          <p:cNvSpPr/>
          <p:nvPr/>
        </p:nvSpPr>
        <p:spPr>
          <a:xfrm>
            <a:off x="5961888" y="1828800"/>
            <a:ext cx="457200" cy="603504"/>
          </a:xfrm>
          <a:prstGeom prst="rect">
            <a:avLst/>
          </a:prstGeom>
          <a:noFill/>
          <a:ln/>
        </p:spPr>
        <p:txBody>
          <a:bodyPr wrap="square" lIns="0" tIns="0" rIns="0" bIns="0" rtlCol="0" anchor="ctr"/>
          <a:lstStyle/>
          <a:p>
            <a:pPr algn="ctr" indent="0" marL="0">
              <a:buNone/>
            </a:pPr>
            <a:r>
              <a:rPr lang="en-US" sz="1600" b="1" dirty="0">
                <a:solidFill>
                  <a:srgbClr val="0C62FB"/>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6446520" y="1828800"/>
            <a:ext cx="5696712" cy="603504"/>
          </a:xfrm>
          <a:prstGeom prst="rect">
            <a:avLst/>
          </a:prstGeom>
          <a:solidFill>
            <a:srgbClr val="E8F0FE"/>
          </a:solidFill>
          <a:ln/>
        </p:spPr>
      </p:sp>
      <p:sp>
        <p:nvSpPr>
          <p:cNvPr id="13" name="Text 11"/>
          <p:cNvSpPr/>
          <p:nvPr/>
        </p:nvSpPr>
        <p:spPr>
          <a:xfrm>
            <a:off x="6574536" y="1828800"/>
            <a:ext cx="5440680" cy="603504"/>
          </a:xfrm>
          <a:prstGeom prst="rect">
            <a:avLst/>
          </a:prstGeom>
          <a:noFill/>
          <a:ln/>
        </p:spPr>
        <p:txBody>
          <a:bodyPr wrap="square" lIns="0" tIns="0" rIns="0" bIns="0" rtlCol="0" anchor="ctr"/>
          <a:lstStyle/>
          <a:p>
            <a:pPr indent="0" marL="0">
              <a:lnSpc>
                <a:spcPct val="105000"/>
              </a:lnSpc>
              <a:buNone/>
            </a:pPr>
            <a:r>
              <a:rPr lang="en-US" sz="1000" b="1" dirty="0">
                <a:solidFill>
                  <a:srgbClr val="14171F"/>
                </a:solidFill>
                <a:latin typeface="Arial" pitchFamily="34" charset="0"/>
                <a:ea typeface="Arial" pitchFamily="34" charset="-122"/>
                <a:cs typeface="Arial" pitchFamily="34" charset="-120"/>
              </a:rPr>
              <a:t>Value case re-baselined at every gate — still the working reference at month 18</a:t>
            </a:r>
            <a:endParaRPr lang="en-US" sz="1000" dirty="0"/>
          </a:p>
        </p:txBody>
      </p:sp>
      <p:sp>
        <p:nvSpPr>
          <p:cNvPr id="14" name="Shape 12"/>
          <p:cNvSpPr/>
          <p:nvPr/>
        </p:nvSpPr>
        <p:spPr>
          <a:xfrm>
            <a:off x="502920" y="2505456"/>
            <a:ext cx="5120640" cy="603504"/>
          </a:xfrm>
          <a:prstGeom prst="rect">
            <a:avLst/>
          </a:prstGeom>
          <a:solidFill>
            <a:srgbClr val="EFF1F4"/>
          </a:solidFill>
          <a:ln/>
        </p:spPr>
      </p:sp>
      <p:sp>
        <p:nvSpPr>
          <p:cNvPr id="15" name="Text 13"/>
          <p:cNvSpPr/>
          <p:nvPr/>
        </p:nvSpPr>
        <p:spPr>
          <a:xfrm>
            <a:off x="630936" y="2505456"/>
            <a:ext cx="4864608" cy="603504"/>
          </a:xfrm>
          <a:prstGeom prst="rect">
            <a:avLst/>
          </a:prstGeom>
          <a:noFill/>
          <a:ln/>
        </p:spPr>
        <p:txBody>
          <a:bodyPr wrap="square" lIns="0" tIns="0" rIns="0" bIns="0" rtlCol="0" anchor="ctr"/>
          <a:lstStyle/>
          <a:p>
            <a:pPr indent="0" marL="0">
              <a:lnSpc>
                <a:spcPct val="105000"/>
              </a:lnSpc>
              <a:buNone/>
            </a:pPr>
            <a:r>
              <a:rPr lang="en-US" sz="1000" dirty="0">
                <a:solidFill>
                  <a:srgbClr val="5C6470"/>
                </a:solidFill>
                <a:latin typeface="Arial" pitchFamily="34" charset="0"/>
                <a:ea typeface="Arial" pitchFamily="34" charset="-122"/>
                <a:cs typeface="Arial" pitchFamily="34" charset="-120"/>
              </a:rPr>
              <a:t>Benefits listed on a slide, owned by nobody</a:t>
            </a:r>
            <a:endParaRPr lang="en-US" sz="1000" dirty="0"/>
          </a:p>
        </p:txBody>
      </p:sp>
      <p:sp>
        <p:nvSpPr>
          <p:cNvPr id="16" name="Text 14"/>
          <p:cNvSpPr/>
          <p:nvPr/>
        </p:nvSpPr>
        <p:spPr>
          <a:xfrm>
            <a:off x="5961888" y="2505456"/>
            <a:ext cx="457200" cy="603504"/>
          </a:xfrm>
          <a:prstGeom prst="rect">
            <a:avLst/>
          </a:prstGeom>
          <a:noFill/>
          <a:ln/>
        </p:spPr>
        <p:txBody>
          <a:bodyPr wrap="square" lIns="0" tIns="0" rIns="0" bIns="0" rtlCol="0" anchor="ctr"/>
          <a:lstStyle/>
          <a:p>
            <a:pPr algn="ctr" indent="0" marL="0">
              <a:buNone/>
            </a:pPr>
            <a:r>
              <a:rPr lang="en-US" sz="1600" b="1" dirty="0">
                <a:solidFill>
                  <a:srgbClr val="0C62FB"/>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6446520" y="2505456"/>
            <a:ext cx="5696712" cy="603504"/>
          </a:xfrm>
          <a:prstGeom prst="rect">
            <a:avLst/>
          </a:prstGeom>
          <a:solidFill>
            <a:srgbClr val="E8F0FE"/>
          </a:solidFill>
          <a:ln/>
        </p:spPr>
      </p:sp>
      <p:sp>
        <p:nvSpPr>
          <p:cNvPr id="18" name="Text 16"/>
          <p:cNvSpPr/>
          <p:nvPr/>
        </p:nvSpPr>
        <p:spPr>
          <a:xfrm>
            <a:off x="6574536" y="2505456"/>
            <a:ext cx="5440680" cy="603504"/>
          </a:xfrm>
          <a:prstGeom prst="rect">
            <a:avLst/>
          </a:prstGeom>
          <a:noFill/>
          <a:ln/>
        </p:spPr>
        <p:txBody>
          <a:bodyPr wrap="square" lIns="0" tIns="0" rIns="0" bIns="0" rtlCol="0" anchor="ctr"/>
          <a:lstStyle/>
          <a:p>
            <a:pPr indent="0" marL="0">
              <a:lnSpc>
                <a:spcPct val="105000"/>
              </a:lnSpc>
              <a:buNone/>
            </a:pPr>
            <a:r>
              <a:rPr lang="en-US" sz="1000" b="1" dirty="0">
                <a:solidFill>
                  <a:srgbClr val="14171F"/>
                </a:solidFill>
                <a:latin typeface="Arial" pitchFamily="34" charset="0"/>
                <a:ea typeface="Arial" pitchFamily="34" charset="-122"/>
                <a:cs typeface="Arial" pitchFamily="34" charset="-120"/>
              </a:rPr>
              <a:t>Every benefit carries a named owner in the business, a baseline and a date</a:t>
            </a:r>
            <a:endParaRPr lang="en-US" sz="1000" dirty="0"/>
          </a:p>
        </p:txBody>
      </p:sp>
      <p:sp>
        <p:nvSpPr>
          <p:cNvPr id="19" name="Shape 17"/>
          <p:cNvSpPr/>
          <p:nvPr/>
        </p:nvSpPr>
        <p:spPr>
          <a:xfrm>
            <a:off x="502920" y="3182112"/>
            <a:ext cx="5120640" cy="603504"/>
          </a:xfrm>
          <a:prstGeom prst="rect">
            <a:avLst/>
          </a:prstGeom>
          <a:solidFill>
            <a:srgbClr val="EFF1F4"/>
          </a:solidFill>
          <a:ln/>
        </p:spPr>
      </p:sp>
      <p:sp>
        <p:nvSpPr>
          <p:cNvPr id="20" name="Text 18"/>
          <p:cNvSpPr/>
          <p:nvPr/>
        </p:nvSpPr>
        <p:spPr>
          <a:xfrm>
            <a:off x="630936" y="3182112"/>
            <a:ext cx="4864608" cy="603504"/>
          </a:xfrm>
          <a:prstGeom prst="rect">
            <a:avLst/>
          </a:prstGeom>
          <a:noFill/>
          <a:ln/>
        </p:spPr>
        <p:txBody>
          <a:bodyPr wrap="square" lIns="0" tIns="0" rIns="0" bIns="0" rtlCol="0" anchor="ctr"/>
          <a:lstStyle/>
          <a:p>
            <a:pPr indent="0" marL="0">
              <a:lnSpc>
                <a:spcPct val="105000"/>
              </a:lnSpc>
              <a:buNone/>
            </a:pPr>
            <a:r>
              <a:rPr lang="en-US" sz="1000" dirty="0">
                <a:solidFill>
                  <a:srgbClr val="5C6470"/>
                </a:solidFill>
                <a:latin typeface="Arial" pitchFamily="34" charset="0"/>
                <a:ea typeface="Arial" pitchFamily="34" charset="-122"/>
                <a:cs typeface="Arial" pitchFamily="34" charset="-120"/>
              </a:rPr>
              <a:t>Governance reports spend and milestones</a:t>
            </a:r>
            <a:endParaRPr lang="en-US" sz="1000" dirty="0"/>
          </a:p>
        </p:txBody>
      </p:sp>
      <p:sp>
        <p:nvSpPr>
          <p:cNvPr id="21" name="Text 19"/>
          <p:cNvSpPr/>
          <p:nvPr/>
        </p:nvSpPr>
        <p:spPr>
          <a:xfrm>
            <a:off x="5961888" y="3182112"/>
            <a:ext cx="457200" cy="603504"/>
          </a:xfrm>
          <a:prstGeom prst="rect">
            <a:avLst/>
          </a:prstGeom>
          <a:noFill/>
          <a:ln/>
        </p:spPr>
        <p:txBody>
          <a:bodyPr wrap="square" lIns="0" tIns="0" rIns="0" bIns="0" rtlCol="0" anchor="ctr"/>
          <a:lstStyle/>
          <a:p>
            <a:pPr algn="ctr" indent="0" marL="0">
              <a:buNone/>
            </a:pPr>
            <a:r>
              <a:rPr lang="en-US" sz="1600" b="1" dirty="0">
                <a:solidFill>
                  <a:srgbClr val="0C62FB"/>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6446520" y="3182112"/>
            <a:ext cx="5696712" cy="603504"/>
          </a:xfrm>
          <a:prstGeom prst="rect">
            <a:avLst/>
          </a:prstGeom>
          <a:solidFill>
            <a:srgbClr val="E8F0FE"/>
          </a:solidFill>
          <a:ln/>
        </p:spPr>
      </p:sp>
      <p:sp>
        <p:nvSpPr>
          <p:cNvPr id="23" name="Text 21"/>
          <p:cNvSpPr/>
          <p:nvPr/>
        </p:nvSpPr>
        <p:spPr>
          <a:xfrm>
            <a:off x="6574536" y="3182112"/>
            <a:ext cx="5440680" cy="603504"/>
          </a:xfrm>
          <a:prstGeom prst="rect">
            <a:avLst/>
          </a:prstGeom>
          <a:noFill/>
          <a:ln/>
        </p:spPr>
        <p:txBody>
          <a:bodyPr wrap="square" lIns="0" tIns="0" rIns="0" bIns="0" rtlCol="0" anchor="ctr"/>
          <a:lstStyle/>
          <a:p>
            <a:pPr indent="0" marL="0">
              <a:lnSpc>
                <a:spcPct val="105000"/>
              </a:lnSpc>
              <a:buNone/>
            </a:pPr>
            <a:r>
              <a:rPr lang="en-US" sz="1000" b="1" dirty="0">
                <a:solidFill>
                  <a:srgbClr val="14171F"/>
                </a:solidFill>
                <a:latin typeface="Arial" pitchFamily="34" charset="0"/>
                <a:ea typeface="Arial" pitchFamily="34" charset="-122"/>
                <a:cs typeface="Arial" pitchFamily="34" charset="-120"/>
              </a:rPr>
              <a:t>A monthly value review makes a go / hold / kill / accelerate call</a:t>
            </a:r>
            <a:endParaRPr lang="en-US" sz="1000" dirty="0"/>
          </a:p>
        </p:txBody>
      </p:sp>
      <p:sp>
        <p:nvSpPr>
          <p:cNvPr id="24" name="Shape 22"/>
          <p:cNvSpPr/>
          <p:nvPr/>
        </p:nvSpPr>
        <p:spPr>
          <a:xfrm>
            <a:off x="502920" y="3858768"/>
            <a:ext cx="5120640" cy="603504"/>
          </a:xfrm>
          <a:prstGeom prst="rect">
            <a:avLst/>
          </a:prstGeom>
          <a:solidFill>
            <a:srgbClr val="EFF1F4"/>
          </a:solidFill>
          <a:ln/>
        </p:spPr>
      </p:sp>
      <p:sp>
        <p:nvSpPr>
          <p:cNvPr id="25" name="Text 23"/>
          <p:cNvSpPr/>
          <p:nvPr/>
        </p:nvSpPr>
        <p:spPr>
          <a:xfrm>
            <a:off x="630936" y="3858768"/>
            <a:ext cx="4864608" cy="603504"/>
          </a:xfrm>
          <a:prstGeom prst="rect">
            <a:avLst/>
          </a:prstGeom>
          <a:noFill/>
          <a:ln/>
        </p:spPr>
        <p:txBody>
          <a:bodyPr wrap="square" lIns="0" tIns="0" rIns="0" bIns="0" rtlCol="0" anchor="ctr"/>
          <a:lstStyle/>
          <a:p>
            <a:pPr indent="0" marL="0">
              <a:lnSpc>
                <a:spcPct val="105000"/>
              </a:lnSpc>
              <a:buNone/>
            </a:pPr>
            <a:r>
              <a:rPr lang="en-US" sz="1000" dirty="0">
                <a:solidFill>
                  <a:srgbClr val="5C6470"/>
                </a:solidFill>
                <a:latin typeface="Arial" pitchFamily="34" charset="0"/>
                <a:ea typeface="Arial" pitchFamily="34" charset="-122"/>
                <a:cs typeface="Arial" pitchFamily="34" charset="-120"/>
              </a:rPr>
              <a:t>Tracking in a spreadsheet nobody opens twice</a:t>
            </a:r>
            <a:endParaRPr lang="en-US" sz="1000" dirty="0"/>
          </a:p>
        </p:txBody>
      </p:sp>
      <p:sp>
        <p:nvSpPr>
          <p:cNvPr id="26" name="Text 24"/>
          <p:cNvSpPr/>
          <p:nvPr/>
        </p:nvSpPr>
        <p:spPr>
          <a:xfrm>
            <a:off x="5961888" y="3858768"/>
            <a:ext cx="457200" cy="603504"/>
          </a:xfrm>
          <a:prstGeom prst="rect">
            <a:avLst/>
          </a:prstGeom>
          <a:noFill/>
          <a:ln/>
        </p:spPr>
        <p:txBody>
          <a:bodyPr wrap="square" lIns="0" tIns="0" rIns="0" bIns="0" rtlCol="0" anchor="ctr"/>
          <a:lstStyle/>
          <a:p>
            <a:pPr algn="ctr" indent="0" marL="0">
              <a:buNone/>
            </a:pPr>
            <a:r>
              <a:rPr lang="en-US" sz="1600" b="1" dirty="0">
                <a:solidFill>
                  <a:srgbClr val="0C62FB"/>
                </a:solidFill>
                <a:latin typeface="Arial" pitchFamily="34" charset="0"/>
                <a:ea typeface="Arial" pitchFamily="34" charset="-122"/>
                <a:cs typeface="Arial" pitchFamily="34" charset="-120"/>
              </a:rPr>
              <a:t>→</a:t>
            </a:r>
            <a:endParaRPr lang="en-US" sz="1600" dirty="0"/>
          </a:p>
        </p:txBody>
      </p:sp>
      <p:sp>
        <p:nvSpPr>
          <p:cNvPr id="27" name="Shape 25"/>
          <p:cNvSpPr/>
          <p:nvPr/>
        </p:nvSpPr>
        <p:spPr>
          <a:xfrm>
            <a:off x="6446520" y="3858768"/>
            <a:ext cx="5696712" cy="603504"/>
          </a:xfrm>
          <a:prstGeom prst="rect">
            <a:avLst/>
          </a:prstGeom>
          <a:solidFill>
            <a:srgbClr val="E8F0FE"/>
          </a:solidFill>
          <a:ln/>
        </p:spPr>
      </p:sp>
      <p:sp>
        <p:nvSpPr>
          <p:cNvPr id="28" name="Text 26"/>
          <p:cNvSpPr/>
          <p:nvPr/>
        </p:nvSpPr>
        <p:spPr>
          <a:xfrm>
            <a:off x="6574536" y="3858768"/>
            <a:ext cx="5440680" cy="603504"/>
          </a:xfrm>
          <a:prstGeom prst="rect">
            <a:avLst/>
          </a:prstGeom>
          <a:noFill/>
          <a:ln/>
        </p:spPr>
        <p:txBody>
          <a:bodyPr wrap="square" lIns="0" tIns="0" rIns="0" bIns="0" rtlCol="0" anchor="ctr"/>
          <a:lstStyle/>
          <a:p>
            <a:pPr indent="0" marL="0">
              <a:lnSpc>
                <a:spcPct val="105000"/>
              </a:lnSpc>
              <a:buNone/>
            </a:pPr>
            <a:r>
              <a:rPr lang="en-US" sz="1000" b="1" dirty="0">
                <a:solidFill>
                  <a:srgbClr val="14171F"/>
                </a:solidFill>
                <a:latin typeface="Arial" pitchFamily="34" charset="0"/>
                <a:ea typeface="Arial" pitchFamily="34" charset="-122"/>
                <a:cs typeface="Arial" pitchFamily="34" charset="-120"/>
              </a:rPr>
              <a:t>Value metrics live in dashboards leaders already read — wired to platform data where we build</a:t>
            </a:r>
            <a:endParaRPr lang="en-US" sz="1000" dirty="0"/>
          </a:p>
        </p:txBody>
      </p:sp>
      <p:sp>
        <p:nvSpPr>
          <p:cNvPr id="29" name="Shape 27"/>
          <p:cNvSpPr/>
          <p:nvPr/>
        </p:nvSpPr>
        <p:spPr>
          <a:xfrm>
            <a:off x="502920" y="4535424"/>
            <a:ext cx="5120640" cy="603504"/>
          </a:xfrm>
          <a:prstGeom prst="rect">
            <a:avLst/>
          </a:prstGeom>
          <a:solidFill>
            <a:srgbClr val="EFF1F4"/>
          </a:solidFill>
          <a:ln/>
        </p:spPr>
      </p:sp>
      <p:sp>
        <p:nvSpPr>
          <p:cNvPr id="30" name="Text 28"/>
          <p:cNvSpPr/>
          <p:nvPr/>
        </p:nvSpPr>
        <p:spPr>
          <a:xfrm>
            <a:off x="630936" y="4535424"/>
            <a:ext cx="4864608" cy="603504"/>
          </a:xfrm>
          <a:prstGeom prst="rect">
            <a:avLst/>
          </a:prstGeom>
          <a:noFill/>
          <a:ln/>
        </p:spPr>
        <p:txBody>
          <a:bodyPr wrap="square" lIns="0" tIns="0" rIns="0" bIns="0" rtlCol="0" anchor="ctr"/>
          <a:lstStyle/>
          <a:p>
            <a:pPr indent="0" marL="0">
              <a:lnSpc>
                <a:spcPct val="105000"/>
              </a:lnSpc>
              <a:buNone/>
            </a:pPr>
            <a:r>
              <a:rPr lang="en-US" sz="1000" dirty="0">
                <a:solidFill>
                  <a:srgbClr val="5C6470"/>
                </a:solidFill>
                <a:latin typeface="Arial" pitchFamily="34" charset="0"/>
                <a:ea typeface="Arial" pitchFamily="34" charset="-122"/>
                <a:cs typeface="Arial" pitchFamily="34" charset="-120"/>
              </a:rPr>
              <a:t>Project team disbands at go-live; benefits are orphaned</a:t>
            </a:r>
            <a:endParaRPr lang="en-US" sz="1000" dirty="0"/>
          </a:p>
        </p:txBody>
      </p:sp>
      <p:sp>
        <p:nvSpPr>
          <p:cNvPr id="31" name="Text 29"/>
          <p:cNvSpPr/>
          <p:nvPr/>
        </p:nvSpPr>
        <p:spPr>
          <a:xfrm>
            <a:off x="5961888" y="4535424"/>
            <a:ext cx="457200" cy="603504"/>
          </a:xfrm>
          <a:prstGeom prst="rect">
            <a:avLst/>
          </a:prstGeom>
          <a:noFill/>
          <a:ln/>
        </p:spPr>
        <p:txBody>
          <a:bodyPr wrap="square" lIns="0" tIns="0" rIns="0" bIns="0" rtlCol="0" anchor="ctr"/>
          <a:lstStyle/>
          <a:p>
            <a:pPr algn="ctr" indent="0" marL="0">
              <a:buNone/>
            </a:pPr>
            <a:r>
              <a:rPr lang="en-US" sz="1600" b="1" dirty="0">
                <a:solidFill>
                  <a:srgbClr val="0C62FB"/>
                </a:solidFill>
                <a:latin typeface="Arial" pitchFamily="34" charset="0"/>
                <a:ea typeface="Arial" pitchFamily="34" charset="-122"/>
                <a:cs typeface="Arial" pitchFamily="34" charset="-120"/>
              </a:rPr>
              <a:t>→</a:t>
            </a:r>
            <a:endParaRPr lang="en-US" sz="1600" dirty="0"/>
          </a:p>
        </p:txBody>
      </p:sp>
      <p:sp>
        <p:nvSpPr>
          <p:cNvPr id="32" name="Shape 30"/>
          <p:cNvSpPr/>
          <p:nvPr/>
        </p:nvSpPr>
        <p:spPr>
          <a:xfrm>
            <a:off x="6446520" y="4535424"/>
            <a:ext cx="5696712" cy="603504"/>
          </a:xfrm>
          <a:prstGeom prst="rect">
            <a:avLst/>
          </a:prstGeom>
          <a:solidFill>
            <a:srgbClr val="E8F0FE"/>
          </a:solidFill>
          <a:ln/>
        </p:spPr>
      </p:sp>
      <p:sp>
        <p:nvSpPr>
          <p:cNvPr id="33" name="Text 31"/>
          <p:cNvSpPr/>
          <p:nvPr/>
        </p:nvSpPr>
        <p:spPr>
          <a:xfrm>
            <a:off x="6574536" y="4535424"/>
            <a:ext cx="5440680" cy="603504"/>
          </a:xfrm>
          <a:prstGeom prst="rect">
            <a:avLst/>
          </a:prstGeom>
          <a:noFill/>
          <a:ln/>
        </p:spPr>
        <p:txBody>
          <a:bodyPr wrap="square" lIns="0" tIns="0" rIns="0" bIns="0" rtlCol="0" anchor="ctr"/>
          <a:lstStyle/>
          <a:p>
            <a:pPr indent="0" marL="0">
              <a:lnSpc>
                <a:spcPct val="105000"/>
              </a:lnSpc>
              <a:buNone/>
            </a:pPr>
            <a:r>
              <a:rPr lang="en-US" sz="1000" b="1" dirty="0">
                <a:solidFill>
                  <a:srgbClr val="14171F"/>
                </a:solidFill>
                <a:latin typeface="Arial" pitchFamily="34" charset="0"/>
                <a:ea typeface="Arial" pitchFamily="34" charset="-122"/>
                <a:cs typeface="Arial" pitchFamily="34" charset="-120"/>
              </a:rPr>
              <a:t>The value owner and the cadence continue after the team leaves</a:t>
            </a:r>
            <a:endParaRPr lang="en-US" sz="1000" dirty="0"/>
          </a:p>
        </p:txBody>
      </p:sp>
      <p:sp>
        <p:nvSpPr>
          <p:cNvPr id="34" name="Shape 32"/>
          <p:cNvSpPr/>
          <p:nvPr/>
        </p:nvSpPr>
        <p:spPr>
          <a:xfrm>
            <a:off x="502920" y="5212080"/>
            <a:ext cx="5120640" cy="603504"/>
          </a:xfrm>
          <a:prstGeom prst="rect">
            <a:avLst/>
          </a:prstGeom>
          <a:solidFill>
            <a:srgbClr val="EFF1F4"/>
          </a:solidFill>
          <a:ln/>
        </p:spPr>
      </p:sp>
      <p:sp>
        <p:nvSpPr>
          <p:cNvPr id="35" name="Text 33"/>
          <p:cNvSpPr/>
          <p:nvPr/>
        </p:nvSpPr>
        <p:spPr>
          <a:xfrm>
            <a:off x="630936" y="5212080"/>
            <a:ext cx="4864608" cy="603504"/>
          </a:xfrm>
          <a:prstGeom prst="rect">
            <a:avLst/>
          </a:prstGeom>
          <a:noFill/>
          <a:ln/>
        </p:spPr>
        <p:txBody>
          <a:bodyPr wrap="square" lIns="0" tIns="0" rIns="0" bIns="0" rtlCol="0" anchor="ctr"/>
          <a:lstStyle/>
          <a:p>
            <a:pPr indent="0" marL="0">
              <a:lnSpc>
                <a:spcPct val="105000"/>
              </a:lnSpc>
              <a:buNone/>
            </a:pPr>
            <a:r>
              <a:rPr lang="en-US" sz="1000" dirty="0">
                <a:solidFill>
                  <a:srgbClr val="5C6470"/>
                </a:solidFill>
                <a:latin typeface="Arial" pitchFamily="34" charset="0"/>
                <a:ea typeface="Arial" pitchFamily="34" charset="-122"/>
                <a:cs typeface="Arial" pitchFamily="34" charset="-120"/>
              </a:rPr>
              <a:t>Success means on time and on budget</a:t>
            </a:r>
            <a:endParaRPr lang="en-US" sz="1000" dirty="0"/>
          </a:p>
        </p:txBody>
      </p:sp>
      <p:sp>
        <p:nvSpPr>
          <p:cNvPr id="36" name="Text 34"/>
          <p:cNvSpPr/>
          <p:nvPr/>
        </p:nvSpPr>
        <p:spPr>
          <a:xfrm>
            <a:off x="5961888" y="5212080"/>
            <a:ext cx="457200" cy="603504"/>
          </a:xfrm>
          <a:prstGeom prst="rect">
            <a:avLst/>
          </a:prstGeom>
          <a:noFill/>
          <a:ln/>
        </p:spPr>
        <p:txBody>
          <a:bodyPr wrap="square" lIns="0" tIns="0" rIns="0" bIns="0" rtlCol="0" anchor="ctr"/>
          <a:lstStyle/>
          <a:p>
            <a:pPr algn="ctr" indent="0" marL="0">
              <a:buNone/>
            </a:pPr>
            <a:r>
              <a:rPr lang="en-US" sz="1600" b="1" dirty="0">
                <a:solidFill>
                  <a:srgbClr val="0C62FB"/>
                </a:solidFill>
                <a:latin typeface="Arial" pitchFamily="34" charset="0"/>
                <a:ea typeface="Arial" pitchFamily="34" charset="-122"/>
                <a:cs typeface="Arial" pitchFamily="34" charset="-120"/>
              </a:rPr>
              <a:t>→</a:t>
            </a:r>
            <a:endParaRPr lang="en-US" sz="1600" dirty="0"/>
          </a:p>
        </p:txBody>
      </p:sp>
      <p:sp>
        <p:nvSpPr>
          <p:cNvPr id="37" name="Shape 35"/>
          <p:cNvSpPr/>
          <p:nvPr/>
        </p:nvSpPr>
        <p:spPr>
          <a:xfrm>
            <a:off x="6446520" y="5212080"/>
            <a:ext cx="5696712" cy="603504"/>
          </a:xfrm>
          <a:prstGeom prst="rect">
            <a:avLst/>
          </a:prstGeom>
          <a:solidFill>
            <a:srgbClr val="E8F0FE"/>
          </a:solidFill>
          <a:ln/>
        </p:spPr>
      </p:sp>
      <p:sp>
        <p:nvSpPr>
          <p:cNvPr id="38" name="Text 36"/>
          <p:cNvSpPr/>
          <p:nvPr/>
        </p:nvSpPr>
        <p:spPr>
          <a:xfrm>
            <a:off x="6574536" y="5212080"/>
            <a:ext cx="5440680" cy="603504"/>
          </a:xfrm>
          <a:prstGeom prst="rect">
            <a:avLst/>
          </a:prstGeom>
          <a:noFill/>
          <a:ln/>
        </p:spPr>
        <p:txBody>
          <a:bodyPr wrap="square" lIns="0" tIns="0" rIns="0" bIns="0" rtlCol="0" anchor="ctr"/>
          <a:lstStyle/>
          <a:p>
            <a:pPr indent="0" marL="0">
              <a:lnSpc>
                <a:spcPct val="105000"/>
              </a:lnSpc>
              <a:buNone/>
            </a:pPr>
            <a:r>
              <a:rPr lang="en-US" sz="1000" b="1" dirty="0">
                <a:solidFill>
                  <a:srgbClr val="14171F"/>
                </a:solidFill>
                <a:latin typeface="Arial" pitchFamily="34" charset="0"/>
                <a:ea typeface="Arial" pitchFamily="34" charset="-122"/>
                <a:cs typeface="Arial" pitchFamily="34" charset="-120"/>
              </a:rPr>
              <a:t>Success means the business KPI moved — and finance agrees it moved</a:t>
            </a:r>
            <a:endParaRPr lang="en-US" sz="1000" dirty="0"/>
          </a:p>
        </p:txBody>
      </p:sp>
      <p:sp>
        <p:nvSpPr>
          <p:cNvPr id="39" name="Text 37"/>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Every right-hand row is a working mechanism we install and hand over — not advice we leave behind.</a:t>
            </a:r>
            <a:endParaRPr lang="en-US" sz="900" dirty="0"/>
          </a:p>
        </p:txBody>
      </p:sp>
      <p:sp>
        <p:nvSpPr>
          <p:cNvPr id="40" name="Text 38"/>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The right-hand column is the scope of a value realisation set-up engagement; each row maps to a concrete artefact: value case, benefit register with owners, value review cadence, live dashboards, handover plan, finance sign-off.</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THE EVIDENCE  |  HOW OFTEN VALUE ACTUALLY LANDS</a:t>
            </a:r>
            <a:endParaRPr lang="en-US" sz="900" dirty="0"/>
          </a:p>
        </p:txBody>
      </p:sp>
      <p:sp>
        <p:nvSpPr>
          <p:cNvPr id="3" name="Text 1"/>
          <p:cNvSpPr/>
          <p:nvPr/>
        </p:nvSpPr>
        <p:spPr>
          <a:xfrm>
            <a:off x="8412480" y="182880"/>
            <a:ext cx="2103120" cy="27432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 of organisations</a:t>
            </a:r>
            <a:endParaRPr lang="en-US" sz="900" dirty="0"/>
          </a:p>
        </p:txBody>
      </p:sp>
      <p:sp>
        <p:nvSpPr>
          <p:cNvPr id="4" name="Text 2"/>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5" name="Text 3"/>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7" name="Text 5"/>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Across every kind of investment, the organisations that get the value are a minority</a:t>
            </a:r>
            <a:endParaRPr lang="en-US" sz="2200" dirty="0"/>
          </a:p>
        </p:txBody>
      </p:sp>
      <p:graphicFrame>
        <p:nvGraphicFramePr>
          <p:cNvPr id="8" name="Chart 0" descr=""/>
          <p:cNvGraphicFramePr/>
          <p:nvPr/>
        </p:nvGraphicFramePr>
        <p:xfrm>
          <a:off x="502920" y="141732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8412480" y="1463040"/>
            <a:ext cx="3273552"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WHY THE GAP EXISTS</a:t>
            </a:r>
            <a:endParaRPr lang="en-US" sz="900" dirty="0"/>
          </a:p>
        </p:txBody>
      </p:sp>
      <p:sp>
        <p:nvSpPr>
          <p:cNvPr id="10" name="Shape 7"/>
          <p:cNvSpPr/>
          <p:nvPr/>
        </p:nvSpPr>
        <p:spPr>
          <a:xfrm>
            <a:off x="8412480" y="1792224"/>
            <a:ext cx="3273552" cy="914400"/>
          </a:xfrm>
          <a:prstGeom prst="rect">
            <a:avLst/>
          </a:prstGeom>
          <a:solidFill>
            <a:srgbClr val="F5F8FE"/>
          </a:solidFill>
          <a:ln/>
        </p:spPr>
      </p:sp>
      <p:sp>
        <p:nvSpPr>
          <p:cNvPr id="11" name="Text 8"/>
          <p:cNvSpPr/>
          <p:nvPr/>
        </p:nvSpPr>
        <p:spPr>
          <a:xfrm>
            <a:off x="8540496" y="1865376"/>
            <a:ext cx="3017520" cy="786384"/>
          </a:xfrm>
          <a:prstGeom prst="rect">
            <a:avLst/>
          </a:prstGeom>
          <a:noFill/>
          <a:ln/>
        </p:spPr>
        <p:txBody>
          <a:bodyPr wrap="square" lIns="0" tIns="0" rIns="0" bIns="0" rtlCol="0" anchor="ctr"/>
          <a:lstStyle/>
          <a:p>
            <a:pPr indent="0" marL="0">
              <a:lnSpc>
                <a:spcPct val="108000"/>
              </a:lnSpc>
              <a:buNone/>
            </a:pPr>
            <a:r>
              <a:rPr lang="en-US" sz="1050" b="1" dirty="0">
                <a:solidFill>
                  <a:srgbClr val="14171F"/>
                </a:solidFill>
                <a:latin typeface="Arial" pitchFamily="34" charset="0"/>
                <a:ea typeface="Arial" pitchFamily="34" charset="-122"/>
                <a:cs typeface="Arial" pitchFamily="34" charset="-120"/>
              </a:rPr>
              <a:t>No baseline
</a:t>
            </a:r>
            <a:pPr indent="0" marL="0">
              <a:lnSpc>
                <a:spcPct val="108000"/>
              </a:lnSpc>
              <a:buNone/>
            </a:pPr>
            <a:r>
              <a:rPr lang="en-US" sz="950" dirty="0">
                <a:solidFill>
                  <a:srgbClr val="14171F"/>
                </a:solidFill>
                <a:latin typeface="Arial" pitchFamily="34" charset="0"/>
                <a:ea typeface="Arial" pitchFamily="34" charset="-122"/>
                <a:cs typeface="Arial" pitchFamily="34" charset="-120"/>
              </a:rPr>
              <a:t>Nobody measured the starting point, so nobody can prove the movement.</a:t>
            </a:r>
            <a:endParaRPr lang="en-US" sz="1050" dirty="0"/>
          </a:p>
        </p:txBody>
      </p:sp>
      <p:sp>
        <p:nvSpPr>
          <p:cNvPr id="12" name="Shape 9"/>
          <p:cNvSpPr/>
          <p:nvPr/>
        </p:nvSpPr>
        <p:spPr>
          <a:xfrm>
            <a:off x="8412480" y="2816352"/>
            <a:ext cx="3273552" cy="914400"/>
          </a:xfrm>
          <a:prstGeom prst="rect">
            <a:avLst/>
          </a:prstGeom>
          <a:solidFill>
            <a:srgbClr val="F5F8FE"/>
          </a:solidFill>
          <a:ln/>
        </p:spPr>
      </p:sp>
      <p:sp>
        <p:nvSpPr>
          <p:cNvPr id="13" name="Text 10"/>
          <p:cNvSpPr/>
          <p:nvPr/>
        </p:nvSpPr>
        <p:spPr>
          <a:xfrm>
            <a:off x="8540496" y="2889504"/>
            <a:ext cx="3017520" cy="786384"/>
          </a:xfrm>
          <a:prstGeom prst="rect">
            <a:avLst/>
          </a:prstGeom>
          <a:noFill/>
          <a:ln/>
        </p:spPr>
        <p:txBody>
          <a:bodyPr wrap="square" lIns="0" tIns="0" rIns="0" bIns="0" rtlCol="0" anchor="ctr"/>
          <a:lstStyle/>
          <a:p>
            <a:pPr indent="0" marL="0">
              <a:lnSpc>
                <a:spcPct val="108000"/>
              </a:lnSpc>
              <a:buNone/>
            </a:pPr>
            <a:r>
              <a:rPr lang="en-US" sz="1050" b="1" dirty="0">
                <a:solidFill>
                  <a:srgbClr val="14171F"/>
                </a:solidFill>
                <a:latin typeface="Arial" pitchFamily="34" charset="0"/>
                <a:ea typeface="Arial" pitchFamily="34" charset="-122"/>
                <a:cs typeface="Arial" pitchFamily="34" charset="-120"/>
              </a:rPr>
              <a:t>No named owner
</a:t>
            </a:r>
            <a:pPr indent="0" marL="0">
              <a:lnSpc>
                <a:spcPct val="108000"/>
              </a:lnSpc>
              <a:buNone/>
            </a:pPr>
            <a:r>
              <a:rPr lang="en-US" sz="950" dirty="0">
                <a:solidFill>
                  <a:srgbClr val="14171F"/>
                </a:solidFill>
                <a:latin typeface="Arial" pitchFamily="34" charset="0"/>
                <a:ea typeface="Arial" pitchFamily="34" charset="-122"/>
                <a:cs typeface="Arial" pitchFamily="34" charset="-120"/>
              </a:rPr>
              <a:t>Benefits belong to a slide, not a person. Ownership dissolves at go-live.</a:t>
            </a:r>
            <a:endParaRPr lang="en-US" sz="1050" dirty="0"/>
          </a:p>
        </p:txBody>
      </p:sp>
      <p:sp>
        <p:nvSpPr>
          <p:cNvPr id="14" name="Shape 11"/>
          <p:cNvSpPr/>
          <p:nvPr/>
        </p:nvSpPr>
        <p:spPr>
          <a:xfrm>
            <a:off x="8412480" y="3840480"/>
            <a:ext cx="3273552" cy="914400"/>
          </a:xfrm>
          <a:prstGeom prst="rect">
            <a:avLst/>
          </a:prstGeom>
          <a:solidFill>
            <a:srgbClr val="F5F8FE"/>
          </a:solidFill>
          <a:ln/>
        </p:spPr>
      </p:sp>
      <p:sp>
        <p:nvSpPr>
          <p:cNvPr id="15" name="Text 12"/>
          <p:cNvSpPr/>
          <p:nvPr/>
        </p:nvSpPr>
        <p:spPr>
          <a:xfrm>
            <a:off x="8540496" y="3913632"/>
            <a:ext cx="3017520" cy="786384"/>
          </a:xfrm>
          <a:prstGeom prst="rect">
            <a:avLst/>
          </a:prstGeom>
          <a:noFill/>
          <a:ln/>
        </p:spPr>
        <p:txBody>
          <a:bodyPr wrap="square" lIns="0" tIns="0" rIns="0" bIns="0" rtlCol="0" anchor="ctr"/>
          <a:lstStyle/>
          <a:p>
            <a:pPr indent="0" marL="0">
              <a:lnSpc>
                <a:spcPct val="108000"/>
              </a:lnSpc>
              <a:buNone/>
            </a:pPr>
            <a:r>
              <a:rPr lang="en-US" sz="1050" b="1" dirty="0">
                <a:solidFill>
                  <a:srgbClr val="14171F"/>
                </a:solidFill>
                <a:latin typeface="Arial" pitchFamily="34" charset="0"/>
                <a:ea typeface="Arial" pitchFamily="34" charset="-122"/>
                <a:cs typeface="Arial" pitchFamily="34" charset="-120"/>
              </a:rPr>
              <a:t>Incentives end at go-live
</a:t>
            </a:r>
            <a:pPr indent="0" marL="0">
              <a:lnSpc>
                <a:spcPct val="108000"/>
              </a:lnSpc>
              <a:buNone/>
            </a:pPr>
            <a:r>
              <a:rPr lang="en-US" sz="950" dirty="0">
                <a:solidFill>
                  <a:srgbClr val="14171F"/>
                </a:solidFill>
                <a:latin typeface="Arial" pitchFamily="34" charset="0"/>
                <a:ea typeface="Arial" pitchFamily="34" charset="-122"/>
                <a:cs typeface="Arial" pitchFamily="34" charset="-120"/>
              </a:rPr>
              <a:t>Teams are rewarded for delivery, then disbanded before benefits arrive.</a:t>
            </a:r>
            <a:endParaRPr lang="en-US" sz="1050" dirty="0"/>
          </a:p>
        </p:txBody>
      </p:sp>
      <p:sp>
        <p:nvSpPr>
          <p:cNvPr id="16" name="Shape 13"/>
          <p:cNvSpPr/>
          <p:nvPr/>
        </p:nvSpPr>
        <p:spPr>
          <a:xfrm>
            <a:off x="8412480" y="4864608"/>
            <a:ext cx="3273552" cy="914400"/>
          </a:xfrm>
          <a:prstGeom prst="rect">
            <a:avLst/>
          </a:prstGeom>
          <a:solidFill>
            <a:srgbClr val="F5F8FE"/>
          </a:solidFill>
          <a:ln/>
        </p:spPr>
      </p:sp>
      <p:sp>
        <p:nvSpPr>
          <p:cNvPr id="17" name="Text 14"/>
          <p:cNvSpPr/>
          <p:nvPr/>
        </p:nvSpPr>
        <p:spPr>
          <a:xfrm>
            <a:off x="8540496" y="4937760"/>
            <a:ext cx="3017520" cy="786384"/>
          </a:xfrm>
          <a:prstGeom prst="rect">
            <a:avLst/>
          </a:prstGeom>
          <a:noFill/>
          <a:ln/>
        </p:spPr>
        <p:txBody>
          <a:bodyPr wrap="square" lIns="0" tIns="0" rIns="0" bIns="0" rtlCol="0" anchor="ctr"/>
          <a:lstStyle/>
          <a:p>
            <a:pPr indent="0" marL="0">
              <a:lnSpc>
                <a:spcPct val="108000"/>
              </a:lnSpc>
              <a:buNone/>
            </a:pPr>
            <a:r>
              <a:rPr lang="en-US" sz="1050" b="1" dirty="0">
                <a:solidFill>
                  <a:srgbClr val="14171F"/>
                </a:solidFill>
                <a:latin typeface="Arial" pitchFamily="34" charset="0"/>
                <a:ea typeface="Arial" pitchFamily="34" charset="-122"/>
                <a:cs typeface="Arial" pitchFamily="34" charset="-120"/>
              </a:rPr>
              <a:t>Governance tracks spend
</a:t>
            </a:r>
            <a:pPr indent="0" marL="0">
              <a:lnSpc>
                <a:spcPct val="108000"/>
              </a:lnSpc>
              <a:buNone/>
            </a:pPr>
            <a:r>
              <a:rPr lang="en-US" sz="950" dirty="0">
                <a:solidFill>
                  <a:srgbClr val="14171F"/>
                </a:solidFill>
                <a:latin typeface="Arial" pitchFamily="34" charset="0"/>
                <a:ea typeface="Arial" pitchFamily="34" charset="-122"/>
                <a:cs typeface="Arial" pitchFamily="34" charset="-120"/>
              </a:rPr>
              <a:t>Steering committees see budget and milestones, not business KPIs.</a:t>
            </a:r>
            <a:endParaRPr lang="en-US" sz="1050" dirty="0"/>
          </a:p>
        </p:txBody>
      </p:sp>
      <p:sp>
        <p:nvSpPr>
          <p:cNvPr id="18" name="Text 15"/>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The gap is not the technology. It is the absence of anyone set up to realise the value — which is precisely the job we're proposing to do.</a:t>
            </a:r>
            <a:endParaRPr lang="en-US" sz="900" dirty="0"/>
          </a:p>
        </p:txBody>
      </p:sp>
      <p:sp>
        <p:nvSpPr>
          <p:cNvPr id="19" name="Text 16"/>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McKinsey State of AI, Nov 2025 (n=1,993); Bain &amp; Company transformation database, 2024; Bain synergy analysis (31,000 companies); IBM Institute for Business Value, State of Salesforce 2025/26 (n=1,222); Wellingtone State of Project Management 2025/26; Accenture Cloud Outcomes research, Jan 2025.</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OFFERINGS  |  OVERVIEW</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8</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Four doors into one capability — every door opens with a small, fixed piece of work</a:t>
            </a:r>
            <a:endParaRPr lang="en-US" sz="2200" dirty="0"/>
          </a:p>
        </p:txBody>
      </p:sp>
      <p:sp>
        <p:nvSpPr>
          <p:cNvPr id="7" name="Shape 5"/>
          <p:cNvSpPr/>
          <p:nvPr/>
        </p:nvSpPr>
        <p:spPr>
          <a:xfrm>
            <a:off x="2377440" y="1426464"/>
            <a:ext cx="2002536" cy="365760"/>
          </a:xfrm>
          <a:prstGeom prst="rect">
            <a:avLst/>
          </a:prstGeom>
          <a:solidFill>
            <a:srgbClr val="0C62FB"/>
          </a:solidFill>
          <a:ln/>
        </p:spPr>
      </p:sp>
      <p:sp>
        <p:nvSpPr>
          <p:cNvPr id="8" name="Text 6"/>
          <p:cNvSpPr/>
          <p:nvPr/>
        </p:nvSpPr>
        <p:spPr>
          <a:xfrm>
            <a:off x="2450592" y="1426464"/>
            <a:ext cx="1892808" cy="36576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1  Value cases &amp; value office</a:t>
            </a:r>
            <a:endParaRPr lang="en-US" sz="950" dirty="0"/>
          </a:p>
        </p:txBody>
      </p:sp>
      <p:sp>
        <p:nvSpPr>
          <p:cNvPr id="9" name="Shape 7"/>
          <p:cNvSpPr/>
          <p:nvPr/>
        </p:nvSpPr>
        <p:spPr>
          <a:xfrm>
            <a:off x="4617720" y="1426464"/>
            <a:ext cx="2002536" cy="365760"/>
          </a:xfrm>
          <a:prstGeom prst="rect">
            <a:avLst/>
          </a:prstGeom>
          <a:solidFill>
            <a:srgbClr val="0C62FB"/>
          </a:solidFill>
          <a:ln/>
        </p:spPr>
      </p:sp>
      <p:sp>
        <p:nvSpPr>
          <p:cNvPr id="10" name="Text 8"/>
          <p:cNvSpPr/>
          <p:nvPr/>
        </p:nvSpPr>
        <p:spPr>
          <a:xfrm>
            <a:off x="4690872" y="1426464"/>
            <a:ext cx="1892808" cy="36576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2  AI value</a:t>
            </a:r>
            <a:endParaRPr lang="en-US" sz="950" dirty="0"/>
          </a:p>
        </p:txBody>
      </p:sp>
      <p:sp>
        <p:nvSpPr>
          <p:cNvPr id="11" name="Shape 9"/>
          <p:cNvSpPr/>
          <p:nvPr/>
        </p:nvSpPr>
        <p:spPr>
          <a:xfrm>
            <a:off x="6858000" y="1426464"/>
            <a:ext cx="2002536" cy="365760"/>
          </a:xfrm>
          <a:prstGeom prst="rect">
            <a:avLst/>
          </a:prstGeom>
          <a:solidFill>
            <a:srgbClr val="0C62FB"/>
          </a:solidFill>
          <a:ln/>
        </p:spPr>
      </p:sp>
      <p:sp>
        <p:nvSpPr>
          <p:cNvPr id="12" name="Text 10"/>
          <p:cNvSpPr/>
          <p:nvPr/>
        </p:nvSpPr>
        <p:spPr>
          <a:xfrm>
            <a:off x="6931152" y="1426464"/>
            <a:ext cx="1892808" cy="36576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3  Platform value</a:t>
            </a:r>
            <a:endParaRPr lang="en-US" sz="950" dirty="0"/>
          </a:p>
        </p:txBody>
      </p:sp>
      <p:sp>
        <p:nvSpPr>
          <p:cNvPr id="13" name="Shape 11"/>
          <p:cNvSpPr/>
          <p:nvPr/>
        </p:nvSpPr>
        <p:spPr>
          <a:xfrm>
            <a:off x="9098280" y="1426464"/>
            <a:ext cx="2478024" cy="365760"/>
          </a:xfrm>
          <a:prstGeom prst="rect">
            <a:avLst/>
          </a:prstGeom>
          <a:solidFill>
            <a:srgbClr val="0C62FB"/>
          </a:solidFill>
          <a:ln/>
        </p:spPr>
      </p:sp>
      <p:sp>
        <p:nvSpPr>
          <p:cNvPr id="14" name="Text 12"/>
          <p:cNvSpPr/>
          <p:nvPr/>
        </p:nvSpPr>
        <p:spPr>
          <a:xfrm>
            <a:off x="9171432" y="1426464"/>
            <a:ext cx="2368296" cy="365760"/>
          </a:xfrm>
          <a:prstGeom prst="rect">
            <a:avLst/>
          </a:prstGeom>
          <a:noFill/>
          <a:ln/>
        </p:spPr>
        <p:txBody>
          <a:bodyPr wrap="square" lIns="0" tIns="0" rIns="0" bIns="0" rtlCol="0" anchor="ctr"/>
          <a:lstStyle/>
          <a:p>
            <a:pPr indent="0" marL="0">
              <a:buNone/>
            </a:pPr>
            <a:r>
              <a:rPr lang="en-US" sz="950" b="1" dirty="0">
                <a:solidFill>
                  <a:srgbClr val="FFFFFF"/>
                </a:solidFill>
                <a:latin typeface="Arial" pitchFamily="34" charset="0"/>
                <a:ea typeface="Arial" pitchFamily="34" charset="-122"/>
                <a:cs typeface="Arial" pitchFamily="34" charset="-120"/>
              </a:rPr>
              <a:t>4  Deal value</a:t>
            </a:r>
            <a:endParaRPr lang="en-US" sz="950" dirty="0"/>
          </a:p>
        </p:txBody>
      </p:sp>
      <p:sp>
        <p:nvSpPr>
          <p:cNvPr id="15" name="Text 13"/>
          <p:cNvSpPr/>
          <p:nvPr/>
        </p:nvSpPr>
        <p:spPr>
          <a:xfrm>
            <a:off x="502920" y="1847088"/>
            <a:ext cx="1783080" cy="1005840"/>
          </a:xfrm>
          <a:prstGeom prst="rect">
            <a:avLst/>
          </a:prstGeom>
          <a:noFill/>
          <a:ln/>
        </p:spPr>
        <p:txBody>
          <a:bodyPr wrap="square" lIns="0" tIns="0" rIns="0" bIns="0" rtlCol="0" anchor="t"/>
          <a:lstStyle/>
          <a:p>
            <a:pPr indent="0" marL="0">
              <a:buNone/>
            </a:pPr>
            <a:r>
              <a:rPr lang="en-US" sz="850" b="1" spc="100" kern="0" dirty="0">
                <a:solidFill>
                  <a:srgbClr val="5C6470"/>
                </a:solidFill>
                <a:latin typeface="Arial" pitchFamily="34" charset="0"/>
                <a:ea typeface="Arial" pitchFamily="34" charset="-122"/>
                <a:cs typeface="Arial" pitchFamily="34" charset="-120"/>
              </a:rPr>
              <a:t>THE CLIENT MOMENT</a:t>
            </a:r>
            <a:endParaRPr lang="en-US" sz="850" dirty="0"/>
          </a:p>
        </p:txBody>
      </p:sp>
      <p:sp>
        <p:nvSpPr>
          <p:cNvPr id="16" name="Shape 14"/>
          <p:cNvSpPr/>
          <p:nvPr/>
        </p:nvSpPr>
        <p:spPr>
          <a:xfrm>
            <a:off x="2377440" y="1847088"/>
            <a:ext cx="2002536" cy="1005840"/>
          </a:xfrm>
          <a:prstGeom prst="rect">
            <a:avLst/>
          </a:prstGeom>
          <a:solidFill>
            <a:srgbClr val="F5F8FE"/>
          </a:solidFill>
          <a:ln/>
        </p:spPr>
      </p:sp>
      <p:sp>
        <p:nvSpPr>
          <p:cNvPr id="17" name="Text 15"/>
          <p:cNvSpPr/>
          <p:nvPr/>
        </p:nvSpPr>
        <p:spPr>
          <a:xfrm>
            <a:off x="2450592" y="1920240"/>
            <a:ext cx="1874520" cy="877824"/>
          </a:xfrm>
          <a:prstGeom prst="rect">
            <a:avLst/>
          </a:prstGeom>
          <a:noFill/>
          <a:ln/>
        </p:spPr>
        <p:txBody>
          <a:bodyPr wrap="square" lIns="0" tIns="0" rIns="0" bIns="0" rtlCol="0" anchor="t"/>
          <a:lstStyle/>
          <a:p>
            <a:pPr indent="0" marL="0">
              <a:lnSpc>
                <a:spcPct val="106000"/>
              </a:lnSpc>
              <a:buNone/>
            </a:pPr>
            <a:r>
              <a:rPr lang="en-US" sz="860" i="1" dirty="0">
                <a:solidFill>
                  <a:srgbClr val="14171F"/>
                </a:solidFill>
                <a:latin typeface="Arial" pitchFamily="34" charset="0"/>
                <a:ea typeface="Arial" pitchFamily="34" charset="-122"/>
                <a:cs typeface="Arial" pitchFamily="34" charset="-120"/>
              </a:rPr>
              <a:t>“We need this funded — and this time it has to deliver.”</a:t>
            </a:r>
            <a:endParaRPr lang="en-US" sz="860" dirty="0"/>
          </a:p>
        </p:txBody>
      </p:sp>
      <p:sp>
        <p:nvSpPr>
          <p:cNvPr id="18" name="Shape 16"/>
          <p:cNvSpPr/>
          <p:nvPr/>
        </p:nvSpPr>
        <p:spPr>
          <a:xfrm>
            <a:off x="4617720" y="1847088"/>
            <a:ext cx="2002536" cy="1005840"/>
          </a:xfrm>
          <a:prstGeom prst="rect">
            <a:avLst/>
          </a:prstGeom>
          <a:solidFill>
            <a:srgbClr val="F5F8FE"/>
          </a:solidFill>
          <a:ln/>
        </p:spPr>
      </p:sp>
      <p:sp>
        <p:nvSpPr>
          <p:cNvPr id="19" name="Text 17"/>
          <p:cNvSpPr/>
          <p:nvPr/>
        </p:nvSpPr>
        <p:spPr>
          <a:xfrm>
            <a:off x="4690872" y="1920240"/>
            <a:ext cx="1874520" cy="877824"/>
          </a:xfrm>
          <a:prstGeom prst="rect">
            <a:avLst/>
          </a:prstGeom>
          <a:noFill/>
          <a:ln/>
        </p:spPr>
        <p:txBody>
          <a:bodyPr wrap="square" lIns="0" tIns="0" rIns="0" bIns="0" rtlCol="0" anchor="t"/>
          <a:lstStyle/>
          <a:p>
            <a:pPr indent="0" marL="0">
              <a:lnSpc>
                <a:spcPct val="106000"/>
              </a:lnSpc>
              <a:buNone/>
            </a:pPr>
            <a:r>
              <a:rPr lang="en-US" sz="860" i="1" dirty="0">
                <a:solidFill>
                  <a:srgbClr val="14171F"/>
                </a:solidFill>
                <a:latin typeface="Arial" pitchFamily="34" charset="0"/>
                <a:ea typeface="Arial" pitchFamily="34" charset="-122"/>
                <a:cs typeface="Arial" pitchFamily="34" charset="-120"/>
              </a:rPr>
              <a:t>“The board wants proof our AI spend is working.”</a:t>
            </a:r>
            <a:endParaRPr lang="en-US" sz="860" dirty="0"/>
          </a:p>
        </p:txBody>
      </p:sp>
      <p:sp>
        <p:nvSpPr>
          <p:cNvPr id="20" name="Shape 18"/>
          <p:cNvSpPr/>
          <p:nvPr/>
        </p:nvSpPr>
        <p:spPr>
          <a:xfrm>
            <a:off x="6858000" y="1847088"/>
            <a:ext cx="2002536" cy="1005840"/>
          </a:xfrm>
          <a:prstGeom prst="rect">
            <a:avLst/>
          </a:prstGeom>
          <a:solidFill>
            <a:srgbClr val="F5F8FE"/>
          </a:solidFill>
          <a:ln/>
        </p:spPr>
      </p:sp>
      <p:sp>
        <p:nvSpPr>
          <p:cNvPr id="21" name="Text 19"/>
          <p:cNvSpPr/>
          <p:nvPr/>
        </p:nvSpPr>
        <p:spPr>
          <a:xfrm>
            <a:off x="6931152" y="1920240"/>
            <a:ext cx="1874520" cy="877824"/>
          </a:xfrm>
          <a:prstGeom prst="rect">
            <a:avLst/>
          </a:prstGeom>
          <a:noFill/>
          <a:ln/>
        </p:spPr>
        <p:txBody>
          <a:bodyPr wrap="square" lIns="0" tIns="0" rIns="0" bIns="0" rtlCol="0" anchor="t"/>
          <a:lstStyle/>
          <a:p>
            <a:pPr indent="0" marL="0">
              <a:lnSpc>
                <a:spcPct val="106000"/>
              </a:lnSpc>
              <a:buNone/>
            </a:pPr>
            <a:r>
              <a:rPr lang="en-US" sz="860" i="1" dirty="0">
                <a:solidFill>
                  <a:srgbClr val="14171F"/>
                </a:solidFill>
                <a:latin typeface="Arial" pitchFamily="34" charset="0"/>
                <a:ea typeface="Arial" pitchFamily="34" charset="-122"/>
                <a:cs typeface="Arial" pitchFamily="34" charset="-120"/>
              </a:rPr>
              <a:t>“We pay millions for platforms we don't fully use.”</a:t>
            </a:r>
            <a:endParaRPr lang="en-US" sz="860" dirty="0"/>
          </a:p>
        </p:txBody>
      </p:sp>
      <p:sp>
        <p:nvSpPr>
          <p:cNvPr id="22" name="Shape 20"/>
          <p:cNvSpPr/>
          <p:nvPr/>
        </p:nvSpPr>
        <p:spPr>
          <a:xfrm>
            <a:off x="9098280" y="1847088"/>
            <a:ext cx="2478024" cy="1005840"/>
          </a:xfrm>
          <a:prstGeom prst="rect">
            <a:avLst/>
          </a:prstGeom>
          <a:solidFill>
            <a:srgbClr val="F5F8FE"/>
          </a:solidFill>
          <a:ln/>
        </p:spPr>
      </p:sp>
      <p:sp>
        <p:nvSpPr>
          <p:cNvPr id="23" name="Text 21"/>
          <p:cNvSpPr/>
          <p:nvPr/>
        </p:nvSpPr>
        <p:spPr>
          <a:xfrm>
            <a:off x="9171432" y="1920240"/>
            <a:ext cx="2350008" cy="877824"/>
          </a:xfrm>
          <a:prstGeom prst="rect">
            <a:avLst/>
          </a:prstGeom>
          <a:noFill/>
          <a:ln/>
        </p:spPr>
        <p:txBody>
          <a:bodyPr wrap="square" lIns="0" tIns="0" rIns="0" bIns="0" rtlCol="0" anchor="t"/>
          <a:lstStyle/>
          <a:p>
            <a:pPr indent="0" marL="0">
              <a:lnSpc>
                <a:spcPct val="106000"/>
              </a:lnSpc>
              <a:buNone/>
            </a:pPr>
            <a:r>
              <a:rPr lang="en-US" sz="860" i="1" dirty="0">
                <a:solidFill>
                  <a:srgbClr val="14171F"/>
                </a:solidFill>
                <a:latin typeface="Arial" pitchFamily="34" charset="0"/>
                <a:ea typeface="Arial" pitchFamily="34" charset="-122"/>
                <a:cs typeface="Arial" pitchFamily="34" charset="-120"/>
              </a:rPr>
              <a:t>“The deal was justified on synergies. Where are they?”</a:t>
            </a:r>
            <a:endParaRPr lang="en-US" sz="860" dirty="0"/>
          </a:p>
        </p:txBody>
      </p:sp>
      <p:sp>
        <p:nvSpPr>
          <p:cNvPr id="24" name="Text 22"/>
          <p:cNvSpPr/>
          <p:nvPr/>
        </p:nvSpPr>
        <p:spPr>
          <a:xfrm>
            <a:off x="502920" y="2926080"/>
            <a:ext cx="1783080" cy="1463040"/>
          </a:xfrm>
          <a:prstGeom prst="rect">
            <a:avLst/>
          </a:prstGeom>
          <a:noFill/>
          <a:ln/>
        </p:spPr>
        <p:txBody>
          <a:bodyPr wrap="square" lIns="0" tIns="0" rIns="0" bIns="0" rtlCol="0" anchor="t"/>
          <a:lstStyle/>
          <a:p>
            <a:pPr indent="0" marL="0">
              <a:buNone/>
            </a:pPr>
            <a:r>
              <a:rPr lang="en-US" sz="850" b="1" spc="100" kern="0" dirty="0">
                <a:solidFill>
                  <a:srgbClr val="5C6470"/>
                </a:solidFill>
                <a:latin typeface="Arial" pitchFamily="34" charset="0"/>
                <a:ea typeface="Arial" pitchFamily="34" charset="-122"/>
                <a:cs typeface="Arial" pitchFamily="34" charset="-120"/>
              </a:rPr>
              <a:t>THE ENTRY ENGAGEMENT</a:t>
            </a:r>
            <a:endParaRPr lang="en-US" sz="850" dirty="0"/>
          </a:p>
        </p:txBody>
      </p:sp>
      <p:sp>
        <p:nvSpPr>
          <p:cNvPr id="25" name="Shape 23"/>
          <p:cNvSpPr/>
          <p:nvPr/>
        </p:nvSpPr>
        <p:spPr>
          <a:xfrm>
            <a:off x="2377440" y="2926080"/>
            <a:ext cx="2002536" cy="1463040"/>
          </a:xfrm>
          <a:prstGeom prst="rect">
            <a:avLst/>
          </a:prstGeom>
          <a:solidFill>
            <a:srgbClr val="FFFFFF"/>
          </a:solidFill>
          <a:ln/>
        </p:spPr>
      </p:sp>
      <p:sp>
        <p:nvSpPr>
          <p:cNvPr id="26" name="Text 24"/>
          <p:cNvSpPr/>
          <p:nvPr/>
        </p:nvSpPr>
        <p:spPr>
          <a:xfrm>
            <a:off x="2450592" y="2999232"/>
            <a:ext cx="1874520" cy="133502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A value case for one flagship investment: driver tree, baseline, owners, tracking design. 3–6 weeks, fixed fee.</a:t>
            </a:r>
            <a:endParaRPr lang="en-US" sz="860" dirty="0"/>
          </a:p>
        </p:txBody>
      </p:sp>
      <p:sp>
        <p:nvSpPr>
          <p:cNvPr id="27" name="Shape 25"/>
          <p:cNvSpPr/>
          <p:nvPr/>
        </p:nvSpPr>
        <p:spPr>
          <a:xfrm>
            <a:off x="4617720" y="2926080"/>
            <a:ext cx="2002536" cy="1463040"/>
          </a:xfrm>
          <a:prstGeom prst="rect">
            <a:avLst/>
          </a:prstGeom>
          <a:solidFill>
            <a:srgbClr val="FFFFFF"/>
          </a:solidFill>
          <a:ln/>
        </p:spPr>
      </p:sp>
      <p:sp>
        <p:nvSpPr>
          <p:cNvPr id="28" name="Text 26"/>
          <p:cNvSpPr/>
          <p:nvPr/>
        </p:nvSpPr>
        <p:spPr>
          <a:xfrm>
            <a:off x="4690872" y="2999232"/>
            <a:ext cx="1874520" cy="133502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An AI value scan: spend and initiatives mapped to business KPIs; a keep / fix / stop view. 2–4 weeks.</a:t>
            </a:r>
            <a:endParaRPr lang="en-US" sz="860" dirty="0"/>
          </a:p>
        </p:txBody>
      </p:sp>
      <p:sp>
        <p:nvSpPr>
          <p:cNvPr id="29" name="Shape 27"/>
          <p:cNvSpPr/>
          <p:nvPr/>
        </p:nvSpPr>
        <p:spPr>
          <a:xfrm>
            <a:off x="6858000" y="2926080"/>
            <a:ext cx="2002536" cy="1463040"/>
          </a:xfrm>
          <a:prstGeom prst="rect">
            <a:avLst/>
          </a:prstGeom>
          <a:solidFill>
            <a:srgbClr val="FFFFFF"/>
          </a:solidFill>
          <a:ln/>
        </p:spPr>
      </p:sp>
      <p:sp>
        <p:nvSpPr>
          <p:cNvPr id="30" name="Text 28"/>
          <p:cNvSpPr/>
          <p:nvPr/>
        </p:nvSpPr>
        <p:spPr>
          <a:xfrm>
            <a:off x="6931152" y="2999232"/>
            <a:ext cx="1874520" cy="133502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A platform value assessment: usage vs entitlement, trapped value in dollars, unlock roadmap. 10–15 days — often partner-funded.</a:t>
            </a:r>
            <a:endParaRPr lang="en-US" sz="860" dirty="0"/>
          </a:p>
        </p:txBody>
      </p:sp>
      <p:sp>
        <p:nvSpPr>
          <p:cNvPr id="31" name="Shape 29"/>
          <p:cNvSpPr/>
          <p:nvPr/>
        </p:nvSpPr>
        <p:spPr>
          <a:xfrm>
            <a:off x="9098280" y="2926080"/>
            <a:ext cx="2478024" cy="1463040"/>
          </a:xfrm>
          <a:prstGeom prst="rect">
            <a:avLst/>
          </a:prstGeom>
          <a:solidFill>
            <a:srgbClr val="FFFFFF"/>
          </a:solidFill>
          <a:ln/>
        </p:spPr>
      </p:sp>
      <p:sp>
        <p:nvSpPr>
          <p:cNvPr id="32" name="Text 30"/>
          <p:cNvSpPr/>
          <p:nvPr/>
        </p:nvSpPr>
        <p:spPr>
          <a:xfrm>
            <a:off x="9171432" y="2999232"/>
            <a:ext cx="2350008" cy="133502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Synergy tracking stood up for a live deal, or a 100-day value plan. 4–6 weeks.</a:t>
            </a:r>
            <a:endParaRPr lang="en-US" sz="860" dirty="0"/>
          </a:p>
        </p:txBody>
      </p:sp>
      <p:sp>
        <p:nvSpPr>
          <p:cNvPr id="33" name="Text 31"/>
          <p:cNvSpPr/>
          <p:nvPr/>
        </p:nvSpPr>
        <p:spPr>
          <a:xfrm>
            <a:off x="502920" y="4462272"/>
            <a:ext cx="1783080" cy="950976"/>
          </a:xfrm>
          <a:prstGeom prst="rect">
            <a:avLst/>
          </a:prstGeom>
          <a:noFill/>
          <a:ln/>
        </p:spPr>
        <p:txBody>
          <a:bodyPr wrap="square" lIns="0" tIns="0" rIns="0" bIns="0" rtlCol="0" anchor="t"/>
          <a:lstStyle/>
          <a:p>
            <a:pPr indent="0" marL="0">
              <a:buNone/>
            </a:pPr>
            <a:r>
              <a:rPr lang="en-US" sz="850" b="1" spc="100" kern="0" dirty="0">
                <a:solidFill>
                  <a:srgbClr val="5C6470"/>
                </a:solidFill>
                <a:latin typeface="Arial" pitchFamily="34" charset="0"/>
                <a:ea typeface="Arial" pitchFamily="34" charset="-122"/>
                <a:cs typeface="Arial" pitchFamily="34" charset="-120"/>
              </a:rPr>
              <a:t>WHAT IT GROWS INTO</a:t>
            </a:r>
            <a:endParaRPr lang="en-US" sz="850" dirty="0"/>
          </a:p>
        </p:txBody>
      </p:sp>
      <p:sp>
        <p:nvSpPr>
          <p:cNvPr id="34" name="Shape 32"/>
          <p:cNvSpPr/>
          <p:nvPr/>
        </p:nvSpPr>
        <p:spPr>
          <a:xfrm>
            <a:off x="2377440" y="4462272"/>
            <a:ext cx="2002536" cy="950976"/>
          </a:xfrm>
          <a:prstGeom prst="rect">
            <a:avLst/>
          </a:prstGeom>
          <a:solidFill>
            <a:srgbClr val="F5F8FE"/>
          </a:solidFill>
          <a:ln/>
        </p:spPr>
      </p:sp>
      <p:sp>
        <p:nvSpPr>
          <p:cNvPr id="35" name="Text 33"/>
          <p:cNvSpPr/>
          <p:nvPr/>
        </p:nvSpPr>
        <p:spPr>
          <a:xfrm>
            <a:off x="2450592" y="4535424"/>
            <a:ext cx="1874520" cy="822960"/>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Value tracking, cadence and governance; a lean value office the client runs (built in 3–6 months, then handed over).</a:t>
            </a:r>
            <a:endParaRPr lang="en-US" sz="860" dirty="0"/>
          </a:p>
        </p:txBody>
      </p:sp>
      <p:sp>
        <p:nvSpPr>
          <p:cNvPr id="36" name="Shape 34"/>
          <p:cNvSpPr/>
          <p:nvPr/>
        </p:nvSpPr>
        <p:spPr>
          <a:xfrm>
            <a:off x="4617720" y="4462272"/>
            <a:ext cx="2002536" cy="950976"/>
          </a:xfrm>
          <a:prstGeom prst="rect">
            <a:avLst/>
          </a:prstGeom>
          <a:solidFill>
            <a:srgbClr val="F5F8FE"/>
          </a:solidFill>
          <a:ln/>
        </p:spPr>
      </p:sp>
      <p:sp>
        <p:nvSpPr>
          <p:cNvPr id="37" name="Text 35"/>
          <p:cNvSpPr/>
          <p:nvPr/>
        </p:nvSpPr>
        <p:spPr>
          <a:xfrm>
            <a:off x="4690872" y="4535424"/>
            <a:ext cx="1874520" cy="822960"/>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The investment gate finance now demands; per-use-case value tracking; workflow redesign where the value actually sits.</a:t>
            </a:r>
            <a:endParaRPr lang="en-US" sz="860" dirty="0"/>
          </a:p>
        </p:txBody>
      </p:sp>
      <p:sp>
        <p:nvSpPr>
          <p:cNvPr id="38" name="Shape 36"/>
          <p:cNvSpPr/>
          <p:nvPr/>
        </p:nvSpPr>
        <p:spPr>
          <a:xfrm>
            <a:off x="6858000" y="4462272"/>
            <a:ext cx="2002536" cy="950976"/>
          </a:xfrm>
          <a:prstGeom prst="rect">
            <a:avLst/>
          </a:prstGeom>
          <a:solidFill>
            <a:srgbClr val="F5F8FE"/>
          </a:solidFill>
          <a:ln/>
        </p:spPr>
      </p:sp>
      <p:sp>
        <p:nvSpPr>
          <p:cNvPr id="39" name="Text 37"/>
          <p:cNvSpPr/>
          <p:nvPr/>
        </p:nvSpPr>
        <p:spPr>
          <a:xfrm>
            <a:off x="6931152" y="4535424"/>
            <a:ext cx="1874520" cy="822960"/>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The unlock roadmap delivered — largely on funding the platforms provide; consumption governance that keeps waste down.</a:t>
            </a:r>
            <a:endParaRPr lang="en-US" sz="860" dirty="0"/>
          </a:p>
        </p:txBody>
      </p:sp>
      <p:sp>
        <p:nvSpPr>
          <p:cNvPr id="40" name="Shape 38"/>
          <p:cNvSpPr/>
          <p:nvPr/>
        </p:nvSpPr>
        <p:spPr>
          <a:xfrm>
            <a:off x="9098280" y="4462272"/>
            <a:ext cx="2478024" cy="950976"/>
          </a:xfrm>
          <a:prstGeom prst="rect">
            <a:avLst/>
          </a:prstGeom>
          <a:solidFill>
            <a:srgbClr val="F5F8FE"/>
          </a:solidFill>
          <a:ln/>
        </p:spPr>
      </p:sp>
      <p:sp>
        <p:nvSpPr>
          <p:cNvPr id="41" name="Text 39"/>
          <p:cNvSpPr/>
          <p:nvPr/>
        </p:nvSpPr>
        <p:spPr>
          <a:xfrm>
            <a:off x="9171432" y="4535424"/>
            <a:ext cx="2350008" cy="822960"/>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Integration delivery instrumented with live synergy tracking; standing value work across a PE portfolio.</a:t>
            </a:r>
            <a:endParaRPr lang="en-US" sz="860" dirty="0"/>
          </a:p>
        </p:txBody>
      </p:sp>
      <p:sp>
        <p:nvSpPr>
          <p:cNvPr id="42" name="Text 40"/>
          <p:cNvSpPr/>
          <p:nvPr/>
        </p:nvSpPr>
        <p:spPr>
          <a:xfrm>
            <a:off x="502920" y="5486400"/>
            <a:ext cx="1783080" cy="457200"/>
          </a:xfrm>
          <a:prstGeom prst="rect">
            <a:avLst/>
          </a:prstGeom>
          <a:noFill/>
          <a:ln/>
        </p:spPr>
        <p:txBody>
          <a:bodyPr wrap="square" lIns="0" tIns="0" rIns="0" bIns="0" rtlCol="0" anchor="t"/>
          <a:lstStyle/>
          <a:p>
            <a:pPr indent="0" marL="0">
              <a:buNone/>
            </a:pPr>
            <a:r>
              <a:rPr lang="en-US" sz="850" b="1" spc="100" kern="0" dirty="0">
                <a:solidFill>
                  <a:srgbClr val="5C6470"/>
                </a:solidFill>
                <a:latin typeface="Arial" pitchFamily="34" charset="0"/>
                <a:ea typeface="Arial" pitchFamily="34" charset="-122"/>
                <a:cs typeface="Arial" pitchFamily="34" charset="-120"/>
              </a:rPr>
              <a:t>WHO BUYS</a:t>
            </a:r>
            <a:endParaRPr lang="en-US" sz="850" dirty="0"/>
          </a:p>
        </p:txBody>
      </p:sp>
      <p:sp>
        <p:nvSpPr>
          <p:cNvPr id="43" name="Shape 41"/>
          <p:cNvSpPr/>
          <p:nvPr/>
        </p:nvSpPr>
        <p:spPr>
          <a:xfrm>
            <a:off x="2377440" y="5486400"/>
            <a:ext cx="2002536" cy="457200"/>
          </a:xfrm>
          <a:prstGeom prst="rect">
            <a:avLst/>
          </a:prstGeom>
          <a:solidFill>
            <a:srgbClr val="FFFFFF"/>
          </a:solidFill>
          <a:ln/>
        </p:spPr>
      </p:sp>
      <p:sp>
        <p:nvSpPr>
          <p:cNvPr id="44" name="Text 42"/>
          <p:cNvSpPr/>
          <p:nvPr/>
        </p:nvSpPr>
        <p:spPr>
          <a:xfrm>
            <a:off x="2450592" y="5559552"/>
            <a:ext cx="1874520" cy="32918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CFO and the investment sponsor</a:t>
            </a:r>
            <a:endParaRPr lang="en-US" sz="860" dirty="0"/>
          </a:p>
        </p:txBody>
      </p:sp>
      <p:sp>
        <p:nvSpPr>
          <p:cNvPr id="45" name="Shape 43"/>
          <p:cNvSpPr/>
          <p:nvPr/>
        </p:nvSpPr>
        <p:spPr>
          <a:xfrm>
            <a:off x="4617720" y="5486400"/>
            <a:ext cx="2002536" cy="457200"/>
          </a:xfrm>
          <a:prstGeom prst="rect">
            <a:avLst/>
          </a:prstGeom>
          <a:solidFill>
            <a:srgbClr val="FFFFFF"/>
          </a:solidFill>
          <a:ln/>
        </p:spPr>
      </p:sp>
      <p:sp>
        <p:nvSpPr>
          <p:cNvPr id="46" name="Text 44"/>
          <p:cNvSpPr/>
          <p:nvPr/>
        </p:nvSpPr>
        <p:spPr>
          <a:xfrm>
            <a:off x="4690872" y="5559552"/>
            <a:ext cx="1874520" cy="32918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CFO, CIO, chief AI officer</a:t>
            </a:r>
            <a:endParaRPr lang="en-US" sz="860" dirty="0"/>
          </a:p>
        </p:txBody>
      </p:sp>
      <p:sp>
        <p:nvSpPr>
          <p:cNvPr id="47" name="Shape 45"/>
          <p:cNvSpPr/>
          <p:nvPr/>
        </p:nvSpPr>
        <p:spPr>
          <a:xfrm>
            <a:off x="6858000" y="5486400"/>
            <a:ext cx="2002536" cy="457200"/>
          </a:xfrm>
          <a:prstGeom prst="rect">
            <a:avLst/>
          </a:prstGeom>
          <a:solidFill>
            <a:srgbClr val="FFFFFF"/>
          </a:solidFill>
          <a:ln/>
        </p:spPr>
      </p:sp>
      <p:sp>
        <p:nvSpPr>
          <p:cNvPr id="48" name="Text 46"/>
          <p:cNvSpPr/>
          <p:nvPr/>
        </p:nvSpPr>
        <p:spPr>
          <a:xfrm>
            <a:off x="6931152" y="5559552"/>
            <a:ext cx="1874520" cy="32918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Platform owner, CIO, CFO</a:t>
            </a:r>
            <a:endParaRPr lang="en-US" sz="860" dirty="0"/>
          </a:p>
        </p:txBody>
      </p:sp>
      <p:sp>
        <p:nvSpPr>
          <p:cNvPr id="49" name="Shape 47"/>
          <p:cNvSpPr/>
          <p:nvPr/>
        </p:nvSpPr>
        <p:spPr>
          <a:xfrm>
            <a:off x="9098280" y="5486400"/>
            <a:ext cx="2478024" cy="457200"/>
          </a:xfrm>
          <a:prstGeom prst="rect">
            <a:avLst/>
          </a:prstGeom>
          <a:solidFill>
            <a:srgbClr val="FFFFFF"/>
          </a:solidFill>
          <a:ln/>
        </p:spPr>
      </p:sp>
      <p:sp>
        <p:nvSpPr>
          <p:cNvPr id="50" name="Text 48"/>
          <p:cNvSpPr/>
          <p:nvPr/>
        </p:nvSpPr>
        <p:spPr>
          <a:xfrm>
            <a:off x="9171432" y="5559552"/>
            <a:ext cx="2350008" cy="329184"/>
          </a:xfrm>
          <a:prstGeom prst="rect">
            <a:avLst/>
          </a:prstGeom>
          <a:noFill/>
          <a:ln/>
        </p:spPr>
        <p:txBody>
          <a:bodyPr wrap="square" lIns="0" tIns="0" rIns="0" bIns="0" rtlCol="0" anchor="t"/>
          <a:lstStyle/>
          <a:p>
            <a:pPr indent="0" marL="0">
              <a:lnSpc>
                <a:spcPct val="106000"/>
              </a:lnSpc>
              <a:buNone/>
            </a:pPr>
            <a:r>
              <a:rPr lang="en-US" sz="860" dirty="0">
                <a:solidFill>
                  <a:srgbClr val="14171F"/>
                </a:solidFill>
                <a:latin typeface="Arial" pitchFamily="34" charset="0"/>
                <a:ea typeface="Arial" pitchFamily="34" charset="-122"/>
                <a:cs typeface="Arial" pitchFamily="34" charset="-120"/>
              </a:rPr>
              <a:t>Corp dev, integration lead, PE operating partner</a:t>
            </a:r>
            <a:endParaRPr lang="en-US" sz="860" dirty="0"/>
          </a:p>
        </p:txBody>
      </p:sp>
      <p:sp>
        <p:nvSpPr>
          <p:cNvPr id="51" name="Text 49"/>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Same spine behind every door: frame the value, fund it right, track it live, govern to realise. Four offerings, one capability, one team.</a:t>
            </a:r>
            <a:endParaRPr lang="en-US" sz="900" dirty="0"/>
          </a:p>
        </p:txBody>
      </p:sp>
      <p:sp>
        <p:nvSpPr>
          <p:cNvPr id="52" name="Text 50"/>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Durations are entry-engagement estimates for scoping conversations, not rate-card commitments. Partner funding availability is deal-specific — see offering 3.</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OFFERINGS  |  1 OF 4 — VALUE CASES &amp; VALUE OFFICE</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9</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Offering 1 — turn one flagship business case into a value case, then build the muscle around it</a:t>
            </a:r>
            <a:endParaRPr lang="en-US" sz="2200" dirty="0"/>
          </a:p>
        </p:txBody>
      </p:sp>
      <p:sp>
        <p:nvSpPr>
          <p:cNvPr id="7" name="Text 5"/>
          <p:cNvSpPr/>
          <p:nvPr/>
        </p:nvSpPr>
        <p:spPr>
          <a:xfrm>
            <a:off x="502920" y="1426464"/>
            <a:ext cx="6949440"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WHAT WE ACTUALLY DO</a:t>
            </a:r>
            <a:endParaRPr lang="en-US" sz="900" dirty="0"/>
          </a:p>
        </p:txBody>
      </p:sp>
      <p:sp>
        <p:nvSpPr>
          <p:cNvPr id="8" name="Shape 6"/>
          <p:cNvSpPr/>
          <p:nvPr/>
        </p:nvSpPr>
        <p:spPr>
          <a:xfrm>
            <a:off x="502920" y="1773936"/>
            <a:ext cx="246888" cy="246888"/>
          </a:xfrm>
          <a:prstGeom prst="ellipse">
            <a:avLst/>
          </a:prstGeom>
          <a:solidFill>
            <a:srgbClr val="0C62FB"/>
          </a:solidFill>
          <a:ln/>
        </p:spPr>
      </p:sp>
      <p:sp>
        <p:nvSpPr>
          <p:cNvPr id="9" name="Text 7"/>
          <p:cNvSpPr/>
          <p:nvPr/>
        </p:nvSpPr>
        <p:spPr>
          <a:xfrm>
            <a:off x="484632" y="1760220"/>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886968" y="1737360"/>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Start with one investment that matters.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Take a flagship business case — live or about to be approved — and rebuild it as a value case: a driver tree from the P&amp;L down to the operational measures the work will actually move.</a:t>
            </a:r>
            <a:endParaRPr lang="en-US" sz="1050" dirty="0"/>
          </a:p>
        </p:txBody>
      </p:sp>
      <p:sp>
        <p:nvSpPr>
          <p:cNvPr id="11" name="Shape 9"/>
          <p:cNvSpPr/>
          <p:nvPr/>
        </p:nvSpPr>
        <p:spPr>
          <a:xfrm>
            <a:off x="502920" y="2798064"/>
            <a:ext cx="246888" cy="246888"/>
          </a:xfrm>
          <a:prstGeom prst="ellipse">
            <a:avLst/>
          </a:prstGeom>
          <a:solidFill>
            <a:srgbClr val="0C62FB"/>
          </a:solidFill>
          <a:ln/>
        </p:spPr>
      </p:sp>
      <p:sp>
        <p:nvSpPr>
          <p:cNvPr id="12" name="Text 10"/>
          <p:cNvSpPr/>
          <p:nvPr/>
        </p:nvSpPr>
        <p:spPr>
          <a:xfrm>
            <a:off x="484632" y="2784348"/>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886968" y="2761488"/>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Baseline and assign before a dollar moves.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Measure the starting point, name an owner in the business for every benefit, and agree with finance how movement will be verified.</a:t>
            </a:r>
            <a:endParaRPr lang="en-US" sz="1050" dirty="0"/>
          </a:p>
        </p:txBody>
      </p:sp>
      <p:sp>
        <p:nvSpPr>
          <p:cNvPr id="14" name="Shape 12"/>
          <p:cNvSpPr/>
          <p:nvPr/>
        </p:nvSpPr>
        <p:spPr>
          <a:xfrm>
            <a:off x="502920" y="3822192"/>
            <a:ext cx="246888" cy="246888"/>
          </a:xfrm>
          <a:prstGeom prst="ellipse">
            <a:avLst/>
          </a:prstGeom>
          <a:solidFill>
            <a:srgbClr val="0C62FB"/>
          </a:solidFill>
          <a:ln/>
        </p:spPr>
      </p:sp>
      <p:sp>
        <p:nvSpPr>
          <p:cNvPr id="15" name="Text 13"/>
          <p:cNvSpPr/>
          <p:nvPr/>
        </p:nvSpPr>
        <p:spPr>
          <a:xfrm>
            <a:off x="484632" y="3808476"/>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886968" y="3785616"/>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Install the rhythm.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A monthly value review that makes go / hold / kill / accelerate calls; re-baselining at every gate; metrics wired into the dashboards leaders already read.</a:t>
            </a:r>
            <a:endParaRPr lang="en-US" sz="1050" dirty="0"/>
          </a:p>
        </p:txBody>
      </p:sp>
      <p:sp>
        <p:nvSpPr>
          <p:cNvPr id="17" name="Shape 15"/>
          <p:cNvSpPr/>
          <p:nvPr/>
        </p:nvSpPr>
        <p:spPr>
          <a:xfrm>
            <a:off x="502920" y="4846320"/>
            <a:ext cx="246888" cy="246888"/>
          </a:xfrm>
          <a:prstGeom prst="ellipse">
            <a:avLst/>
          </a:prstGeom>
          <a:solidFill>
            <a:srgbClr val="0C62FB"/>
          </a:solidFill>
          <a:ln/>
        </p:spPr>
      </p:sp>
      <p:sp>
        <p:nvSpPr>
          <p:cNvPr id="18" name="Text 16"/>
          <p:cNvSpPr/>
          <p:nvPr/>
        </p:nvSpPr>
        <p:spPr>
          <a:xfrm>
            <a:off x="484632" y="4832604"/>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9" name="Text 17"/>
          <p:cNvSpPr/>
          <p:nvPr/>
        </p:nvSpPr>
        <p:spPr>
          <a:xfrm>
            <a:off x="886968" y="4809744"/>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Build the office, then hand it over.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Where the client wants the standing muscle: a lean value office stood up in 3–6 months — built with them, run together, transferred. The exit is the point.</a:t>
            </a:r>
            <a:endParaRPr lang="en-US" sz="1050" dirty="0"/>
          </a:p>
        </p:txBody>
      </p:sp>
      <p:sp>
        <p:nvSpPr>
          <p:cNvPr id="20" name="Text 18"/>
          <p:cNvSpPr/>
          <p:nvPr/>
        </p:nvSpPr>
        <p:spPr>
          <a:xfrm>
            <a:off x="7726680" y="1426464"/>
            <a:ext cx="3959352"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WHY IT WORKS</a:t>
            </a:r>
            <a:endParaRPr lang="en-US" sz="900" dirty="0"/>
          </a:p>
        </p:txBody>
      </p:sp>
      <p:sp>
        <p:nvSpPr>
          <p:cNvPr id="21" name="Shape 19"/>
          <p:cNvSpPr/>
          <p:nvPr/>
        </p:nvSpPr>
        <p:spPr>
          <a:xfrm>
            <a:off x="7726680" y="1737360"/>
            <a:ext cx="3959352" cy="1234440"/>
          </a:xfrm>
          <a:prstGeom prst="rect">
            <a:avLst/>
          </a:prstGeom>
          <a:solidFill>
            <a:srgbClr val="F5F8FE"/>
          </a:solidFill>
          <a:ln/>
        </p:spPr>
      </p:sp>
      <p:sp>
        <p:nvSpPr>
          <p:cNvPr id="22" name="Text 20"/>
          <p:cNvSpPr/>
          <p:nvPr/>
        </p:nvSpPr>
        <p:spPr>
          <a:xfrm>
            <a:off x="7854696" y="1828800"/>
            <a:ext cx="3703320" cy="1078992"/>
          </a:xfrm>
          <a:prstGeom prst="rect">
            <a:avLst/>
          </a:prstGeom>
          <a:noFill/>
          <a:ln/>
        </p:spPr>
        <p:txBody>
          <a:bodyPr wrap="square" lIns="0" tIns="0" rIns="0" bIns="0" rtlCol="0" anchor="t"/>
          <a:lstStyle/>
          <a:p>
            <a:pPr indent="0" marL="0">
              <a:lnSpc>
                <a:spcPct val="108000"/>
              </a:lnSpc>
              <a:buNone/>
            </a:pPr>
            <a:r>
              <a:rPr lang="en-US" sz="2800" b="1" dirty="0">
                <a:solidFill>
                  <a:srgbClr val="0C62FB"/>
                </a:solidFill>
                <a:latin typeface="Arial" pitchFamily="34" charset="0"/>
                <a:ea typeface="Arial" pitchFamily="34" charset="-122"/>
                <a:cs typeface="Arial" pitchFamily="34" charset="-120"/>
              </a:rPr>
              <a:t>+24%</a:t>
            </a:r>
            <a:endParaRPr lang="en-US" sz="2800" dirty="0"/>
          </a:p>
          <a:p>
            <a:pPr indent="0" marL="0">
              <a:lnSpc>
                <a:spcPct val="108000"/>
              </a:lnSpc>
              <a:buNone/>
            </a:pPr>
            <a:r>
              <a:rPr lang="en-US" sz="950" dirty="0">
                <a:solidFill>
                  <a:srgbClr val="14171F"/>
                </a:solidFill>
                <a:latin typeface="Arial" pitchFamily="34" charset="0"/>
                <a:ea typeface="Arial" pitchFamily="34" charset="-122"/>
                <a:cs typeface="Arial" pitchFamily="34" charset="-120"/>
              </a:rPr>
              <a:t>more of planned value is captured when someone is dedicated to owning it — Bain's finding across 24,000 transformations.</a:t>
            </a:r>
            <a:endParaRPr lang="en-US" sz="2800" dirty="0"/>
          </a:p>
        </p:txBody>
      </p:sp>
      <p:sp>
        <p:nvSpPr>
          <p:cNvPr id="23" name="Shape 21"/>
          <p:cNvSpPr/>
          <p:nvPr/>
        </p:nvSpPr>
        <p:spPr>
          <a:xfrm>
            <a:off x="7726680" y="3108960"/>
            <a:ext cx="3959352" cy="1234440"/>
          </a:xfrm>
          <a:prstGeom prst="rect">
            <a:avLst/>
          </a:prstGeom>
          <a:solidFill>
            <a:srgbClr val="F5F8FE"/>
          </a:solidFill>
          <a:ln/>
        </p:spPr>
      </p:sp>
      <p:sp>
        <p:nvSpPr>
          <p:cNvPr id="24" name="Text 22"/>
          <p:cNvSpPr/>
          <p:nvPr/>
        </p:nvSpPr>
        <p:spPr>
          <a:xfrm>
            <a:off x="7854696" y="3200400"/>
            <a:ext cx="3703320" cy="1078992"/>
          </a:xfrm>
          <a:prstGeom prst="rect">
            <a:avLst/>
          </a:prstGeom>
          <a:noFill/>
          <a:ln/>
        </p:spPr>
        <p:txBody>
          <a:bodyPr wrap="square" lIns="0" tIns="0" rIns="0" bIns="0" rtlCol="0" anchor="t"/>
          <a:lstStyle/>
          <a:p>
            <a:pPr indent="0" marL="0">
              <a:lnSpc>
                <a:spcPct val="108000"/>
              </a:lnSpc>
              <a:buNone/>
            </a:pPr>
            <a:r>
              <a:rPr lang="en-US" sz="2800" b="1" dirty="0">
                <a:solidFill>
                  <a:srgbClr val="C62828"/>
                </a:solidFill>
                <a:latin typeface="Arial" pitchFamily="34" charset="0"/>
                <a:ea typeface="Arial" pitchFamily="34" charset="-122"/>
                <a:cs typeface="Arial" pitchFamily="34" charset="-120"/>
              </a:rPr>
              <a:t>~25%</a:t>
            </a:r>
            <a:endParaRPr lang="en-US" sz="2800" dirty="0"/>
          </a:p>
          <a:p>
            <a:pPr indent="0" marL="0">
              <a:lnSpc>
                <a:spcPct val="108000"/>
              </a:lnSpc>
              <a:buNone/>
            </a:pPr>
            <a:r>
              <a:rPr lang="en-US" sz="950" dirty="0">
                <a:solidFill>
                  <a:srgbClr val="14171F"/>
                </a:solidFill>
                <a:latin typeface="Arial" pitchFamily="34" charset="0"/>
                <a:ea typeface="Arial" pitchFamily="34" charset="-122"/>
                <a:cs typeface="Arial" pitchFamily="34" charset="-120"/>
              </a:rPr>
              <a:t>of transformation value is lost at the business-case stage. Fixing the case first is the highest-leverage move available.</a:t>
            </a:r>
            <a:endParaRPr lang="en-US" sz="2800" dirty="0"/>
          </a:p>
        </p:txBody>
      </p:sp>
      <p:sp>
        <p:nvSpPr>
          <p:cNvPr id="25" name="Shape 23"/>
          <p:cNvSpPr/>
          <p:nvPr/>
        </p:nvSpPr>
        <p:spPr>
          <a:xfrm>
            <a:off x="7726680" y="4480560"/>
            <a:ext cx="3959352" cy="1298448"/>
          </a:xfrm>
          <a:prstGeom prst="rect">
            <a:avLst/>
          </a:prstGeom>
          <a:solidFill>
            <a:srgbClr val="14171F"/>
          </a:solidFill>
          <a:ln/>
        </p:spPr>
      </p:sp>
      <p:sp>
        <p:nvSpPr>
          <p:cNvPr id="26" name="Text 24"/>
          <p:cNvSpPr/>
          <p:nvPr/>
        </p:nvSpPr>
        <p:spPr>
          <a:xfrm>
            <a:off x="7854696" y="4590288"/>
            <a:ext cx="3703320" cy="1097280"/>
          </a:xfrm>
          <a:prstGeom prst="rect">
            <a:avLst/>
          </a:prstGeom>
          <a:noFill/>
          <a:ln/>
        </p:spPr>
        <p:txBody>
          <a:bodyPr wrap="square" lIns="0" tIns="0" rIns="0" bIns="0" rtlCol="0" anchor="t"/>
          <a:lstStyle/>
          <a:p>
            <a:pPr indent="0" marL="0">
              <a:lnSpc>
                <a:spcPct val="112000"/>
              </a:lnSpc>
              <a:buNone/>
            </a:pPr>
            <a:r>
              <a:rPr lang="en-US" sz="850" b="1" spc="200" kern="0" dirty="0">
                <a:solidFill>
                  <a:srgbClr val="8FB4FD"/>
                </a:solidFill>
                <a:latin typeface="Arial" pitchFamily="34" charset="0"/>
                <a:ea typeface="Arial" pitchFamily="34" charset="-122"/>
                <a:cs typeface="Arial" pitchFamily="34" charset="-120"/>
              </a:rPr>
              <a:t>WHO BUYS
</a:t>
            </a:r>
            <a:pPr indent="0" marL="0">
              <a:lnSpc>
                <a:spcPct val="112000"/>
              </a:lnSpc>
              <a:buNone/>
            </a:pPr>
            <a:r>
              <a:rPr lang="en-US" sz="950" dirty="0">
                <a:solidFill>
                  <a:srgbClr val="FFFFFF"/>
                </a:solidFill>
                <a:latin typeface="Arial" pitchFamily="34" charset="0"/>
                <a:ea typeface="Arial" pitchFamily="34" charset="-122"/>
                <a:cs typeface="Arial" pitchFamily="34" charset="-120"/>
              </a:rPr>
              <a:t>The CFO and the sponsor. Finance verifies the value or nobody believes it — the strongest models book impact monthly with the CFO's team.</a:t>
            </a:r>
            <a:endParaRPr lang="en-US" sz="850" dirty="0"/>
          </a:p>
        </p:txBody>
      </p:sp>
      <p:sp>
        <p:nvSpPr>
          <p:cNvPr id="27" name="Text 25"/>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The business case is where value dies first. Rebuilding one — visibly, with finance at the table — is the fastest way to prove the whole discipline.</a:t>
            </a:r>
            <a:endParaRPr lang="en-US" sz="900" dirty="0"/>
          </a:p>
        </p:txBody>
      </p:sp>
      <p:sp>
        <p:nvSpPr>
          <p:cNvPr id="28" name="Text 26"/>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Bain &amp; Company transformation research, 2024 (dedicated transformation ownership); McKinsey, Losing from Day One (value loss at target-setting). Build–operate–transfer keeps the client's cost of ownership honest: a value office they can run is a reference; a dependency is a liability.</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OFFERINGS  |  2 OF 4 — AI VALUE</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10</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Offering 2 — give the board an AI number it can trust, and a portfolio that earns it</a:t>
            </a:r>
            <a:endParaRPr lang="en-US" sz="2200" dirty="0"/>
          </a:p>
        </p:txBody>
      </p:sp>
      <p:sp>
        <p:nvSpPr>
          <p:cNvPr id="7" name="Text 5"/>
          <p:cNvSpPr/>
          <p:nvPr/>
        </p:nvSpPr>
        <p:spPr>
          <a:xfrm>
            <a:off x="502920" y="1426464"/>
            <a:ext cx="6949440"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WHAT WE ACTUALLY DO</a:t>
            </a:r>
            <a:endParaRPr lang="en-US" sz="900" dirty="0"/>
          </a:p>
        </p:txBody>
      </p:sp>
      <p:sp>
        <p:nvSpPr>
          <p:cNvPr id="8" name="Shape 6"/>
          <p:cNvSpPr/>
          <p:nvPr/>
        </p:nvSpPr>
        <p:spPr>
          <a:xfrm>
            <a:off x="502920" y="1773936"/>
            <a:ext cx="246888" cy="246888"/>
          </a:xfrm>
          <a:prstGeom prst="ellipse">
            <a:avLst/>
          </a:prstGeom>
          <a:solidFill>
            <a:srgbClr val="0C62FB"/>
          </a:solidFill>
          <a:ln/>
        </p:spPr>
      </p:sp>
      <p:sp>
        <p:nvSpPr>
          <p:cNvPr id="9" name="Text 7"/>
          <p:cNvSpPr/>
          <p:nvPr/>
        </p:nvSpPr>
        <p:spPr>
          <a:xfrm>
            <a:off x="484632" y="1760220"/>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886968" y="1737360"/>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Scan the portfolio.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Inventory AI spend and initiatives — official and unofficial — and map each to a business KPI. Most clients have never seen this on one page. Output: a keep / fix / stop view.</a:t>
            </a:r>
            <a:endParaRPr lang="en-US" sz="1050" dirty="0"/>
          </a:p>
        </p:txBody>
      </p:sp>
      <p:sp>
        <p:nvSpPr>
          <p:cNvPr id="11" name="Shape 9"/>
          <p:cNvSpPr/>
          <p:nvPr/>
        </p:nvSpPr>
        <p:spPr>
          <a:xfrm>
            <a:off x="502920" y="2798064"/>
            <a:ext cx="246888" cy="246888"/>
          </a:xfrm>
          <a:prstGeom prst="ellipse">
            <a:avLst/>
          </a:prstGeom>
          <a:solidFill>
            <a:srgbClr val="0C62FB"/>
          </a:solidFill>
          <a:ln/>
        </p:spPr>
      </p:sp>
      <p:sp>
        <p:nvSpPr>
          <p:cNvPr id="12" name="Text 10"/>
          <p:cNvSpPr/>
          <p:nvPr/>
        </p:nvSpPr>
        <p:spPr>
          <a:xfrm>
            <a:off x="484632" y="2784348"/>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886968" y="2761488"/>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Fix cost visibility first.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Organisations that can see their AI running costs in real time are five times more likely to show established returns. It's the cheapest fix on the list, so it goes first.</a:t>
            </a:r>
            <a:endParaRPr lang="en-US" sz="1050" dirty="0"/>
          </a:p>
        </p:txBody>
      </p:sp>
      <p:sp>
        <p:nvSpPr>
          <p:cNvPr id="14" name="Shape 12"/>
          <p:cNvSpPr/>
          <p:nvPr/>
        </p:nvSpPr>
        <p:spPr>
          <a:xfrm>
            <a:off x="502920" y="3822192"/>
            <a:ext cx="246888" cy="246888"/>
          </a:xfrm>
          <a:prstGeom prst="ellipse">
            <a:avLst/>
          </a:prstGeom>
          <a:solidFill>
            <a:srgbClr val="0C62FB"/>
          </a:solidFill>
          <a:ln/>
        </p:spPr>
      </p:sp>
      <p:sp>
        <p:nvSpPr>
          <p:cNvPr id="15" name="Text 13"/>
          <p:cNvSpPr/>
          <p:nvPr/>
        </p:nvSpPr>
        <p:spPr>
          <a:xfrm>
            <a:off x="484632" y="3808476"/>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886968" y="3785616"/>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Install the investment gate.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Analysts now tell boards to require finance sign-off before material AI investment. We build that gate — value case, baseline and owner required before funding moves.</a:t>
            </a:r>
            <a:endParaRPr lang="en-US" sz="1050" dirty="0"/>
          </a:p>
        </p:txBody>
      </p:sp>
      <p:sp>
        <p:nvSpPr>
          <p:cNvPr id="17" name="Shape 15"/>
          <p:cNvSpPr/>
          <p:nvPr/>
        </p:nvSpPr>
        <p:spPr>
          <a:xfrm>
            <a:off x="502920" y="4846320"/>
            <a:ext cx="246888" cy="246888"/>
          </a:xfrm>
          <a:prstGeom prst="ellipse">
            <a:avLst/>
          </a:prstGeom>
          <a:solidFill>
            <a:srgbClr val="0C62FB"/>
          </a:solidFill>
          <a:ln/>
        </p:spPr>
      </p:sp>
      <p:sp>
        <p:nvSpPr>
          <p:cNvPr id="18" name="Text 16"/>
          <p:cNvSpPr/>
          <p:nvPr/>
        </p:nvSpPr>
        <p:spPr>
          <a:xfrm>
            <a:off x="484632" y="4832604"/>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9" name="Text 17"/>
          <p:cNvSpPr/>
          <p:nvPr/>
        </p:nvSpPr>
        <p:spPr>
          <a:xfrm>
            <a:off x="886968" y="4809744"/>
            <a:ext cx="6565392" cy="932688"/>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Track from day one, redesign the work.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Value tracking starts with the pilot, not after scale-up. And because roughly 70% of AI value comes from changing how the work is done, workflow redesign is in scope — not an afterthought.</a:t>
            </a:r>
            <a:endParaRPr lang="en-US" sz="1050" dirty="0"/>
          </a:p>
        </p:txBody>
      </p:sp>
      <p:sp>
        <p:nvSpPr>
          <p:cNvPr id="20" name="Text 18"/>
          <p:cNvSpPr/>
          <p:nvPr/>
        </p:nvSpPr>
        <p:spPr>
          <a:xfrm>
            <a:off x="7726680" y="1426464"/>
            <a:ext cx="3959352"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THE NUMBERS THAT SELL IT</a:t>
            </a:r>
            <a:endParaRPr lang="en-US" sz="900" dirty="0"/>
          </a:p>
        </p:txBody>
      </p:sp>
      <p:sp>
        <p:nvSpPr>
          <p:cNvPr id="21" name="Shape 19"/>
          <p:cNvSpPr/>
          <p:nvPr/>
        </p:nvSpPr>
        <p:spPr>
          <a:xfrm>
            <a:off x="7726680" y="1737360"/>
            <a:ext cx="3959352" cy="969264"/>
          </a:xfrm>
          <a:prstGeom prst="rect">
            <a:avLst/>
          </a:prstGeom>
          <a:solidFill>
            <a:srgbClr val="F5F8FE"/>
          </a:solidFill>
          <a:ln/>
        </p:spPr>
      </p:sp>
      <p:sp>
        <p:nvSpPr>
          <p:cNvPr id="22" name="Text 20"/>
          <p:cNvSpPr/>
          <p:nvPr/>
        </p:nvSpPr>
        <p:spPr>
          <a:xfrm>
            <a:off x="7854696" y="1801368"/>
            <a:ext cx="3703320" cy="859536"/>
          </a:xfrm>
          <a:prstGeom prst="rect">
            <a:avLst/>
          </a:prstGeom>
          <a:noFill/>
          <a:ln/>
        </p:spPr>
        <p:txBody>
          <a:bodyPr wrap="square" lIns="0" tIns="0" rIns="0" bIns="0" rtlCol="0" anchor="ctr"/>
          <a:lstStyle/>
          <a:p>
            <a:pPr indent="0" marL="0">
              <a:lnSpc>
                <a:spcPct val="108000"/>
              </a:lnSpc>
              <a:buNone/>
            </a:pPr>
            <a:r>
              <a:rPr lang="en-US" sz="1700" b="1" dirty="0">
                <a:solidFill>
                  <a:srgbClr val="0C62FB"/>
                </a:solidFill>
                <a:latin typeface="Arial" pitchFamily="34" charset="0"/>
                <a:ea typeface="Arial" pitchFamily="34" charset="-122"/>
                <a:cs typeface="Arial" pitchFamily="34" charset="-120"/>
              </a:rPr>
              <a:t>75% vs 25%  </a:t>
            </a:r>
            <a:pPr indent="0" marL="0">
              <a:lnSpc>
                <a:spcPct val="108000"/>
              </a:lnSpc>
              <a:buNone/>
            </a:pPr>
            <a:r>
              <a:rPr lang="en-US" sz="950" dirty="0">
                <a:solidFill>
                  <a:srgbClr val="14171F"/>
                </a:solidFill>
                <a:latin typeface="Arial" pitchFamily="34" charset="0"/>
                <a:ea typeface="Arial" pitchFamily="34" charset="-122"/>
                <a:cs typeface="Arial" pitchFamily="34" charset="-120"/>
              </a:rPr>
              <a:t>three quarters of leaders call AI a top-3 priority; only a quarter are seeing significant value.</a:t>
            </a:r>
            <a:pPr indent="0" marL="0">
              <a:lnSpc>
                <a:spcPct val="108000"/>
              </a:lnSpc>
              <a:buNone/>
            </a:pPr>
            <a:r>
              <a:rPr lang="en-US" sz="800" dirty="0">
                <a:solidFill>
                  <a:srgbClr val="5C6470"/>
                </a:solidFill>
                <a:latin typeface="Arial" pitchFamily="34" charset="0"/>
                <a:ea typeface="Arial" pitchFamily="34" charset="-122"/>
                <a:cs typeface="Arial" pitchFamily="34" charset="-120"/>
              </a:rPr>
              <a:t>   BCG, 2025</a:t>
            </a:r>
            <a:endParaRPr lang="en-US" sz="1700" dirty="0"/>
          </a:p>
        </p:txBody>
      </p:sp>
      <p:sp>
        <p:nvSpPr>
          <p:cNvPr id="23" name="Shape 21"/>
          <p:cNvSpPr/>
          <p:nvPr/>
        </p:nvSpPr>
        <p:spPr>
          <a:xfrm>
            <a:off x="7726680" y="2816352"/>
            <a:ext cx="3959352" cy="969264"/>
          </a:xfrm>
          <a:prstGeom prst="rect">
            <a:avLst/>
          </a:prstGeom>
          <a:solidFill>
            <a:srgbClr val="F5F8FE"/>
          </a:solidFill>
          <a:ln/>
        </p:spPr>
      </p:sp>
      <p:sp>
        <p:nvSpPr>
          <p:cNvPr id="24" name="Text 22"/>
          <p:cNvSpPr/>
          <p:nvPr/>
        </p:nvSpPr>
        <p:spPr>
          <a:xfrm>
            <a:off x="7854696" y="2880360"/>
            <a:ext cx="3703320" cy="859536"/>
          </a:xfrm>
          <a:prstGeom prst="rect">
            <a:avLst/>
          </a:prstGeom>
          <a:noFill/>
          <a:ln/>
        </p:spPr>
        <p:txBody>
          <a:bodyPr wrap="square" lIns="0" tIns="0" rIns="0" bIns="0" rtlCol="0" anchor="ctr"/>
          <a:lstStyle/>
          <a:p>
            <a:pPr indent="0" marL="0">
              <a:lnSpc>
                <a:spcPct val="108000"/>
              </a:lnSpc>
              <a:buNone/>
            </a:pPr>
            <a:r>
              <a:rPr lang="en-US" sz="1700" b="1" dirty="0">
                <a:solidFill>
                  <a:srgbClr val="0C62FB"/>
                </a:solidFill>
                <a:latin typeface="Arial" pitchFamily="34" charset="0"/>
                <a:ea typeface="Arial" pitchFamily="34" charset="-122"/>
                <a:cs typeface="Arial" pitchFamily="34" charset="-120"/>
              </a:rPr>
              <a:t>5x  </a:t>
            </a:r>
            <a:pPr indent="0" marL="0">
              <a:lnSpc>
                <a:spcPct val="108000"/>
              </a:lnSpc>
              <a:buNone/>
            </a:pPr>
            <a:r>
              <a:rPr lang="en-US" sz="950" dirty="0">
                <a:solidFill>
                  <a:srgbClr val="14171F"/>
                </a:solidFill>
                <a:latin typeface="Arial" pitchFamily="34" charset="0"/>
                <a:ea typeface="Arial" pitchFamily="34" charset="-122"/>
                <a:cs typeface="Arial" pitchFamily="34" charset="-120"/>
              </a:rPr>
              <a:t>more likely to show established AI returns with full cost visibility — only 26% have it.</a:t>
            </a:r>
            <a:pPr indent="0" marL="0">
              <a:lnSpc>
                <a:spcPct val="108000"/>
              </a:lnSpc>
              <a:buNone/>
            </a:pPr>
            <a:r>
              <a:rPr lang="en-US" sz="800" dirty="0">
                <a:solidFill>
                  <a:srgbClr val="5C6470"/>
                </a:solidFill>
                <a:latin typeface="Arial" pitchFamily="34" charset="0"/>
                <a:ea typeface="Arial" pitchFamily="34" charset="-122"/>
                <a:cs typeface="Arial" pitchFamily="34" charset="-120"/>
              </a:rPr>
              <a:t>   KPMG, Q2 2026</a:t>
            </a:r>
            <a:endParaRPr lang="en-US" sz="1700" dirty="0"/>
          </a:p>
        </p:txBody>
      </p:sp>
      <p:sp>
        <p:nvSpPr>
          <p:cNvPr id="25" name="Shape 23"/>
          <p:cNvSpPr/>
          <p:nvPr/>
        </p:nvSpPr>
        <p:spPr>
          <a:xfrm>
            <a:off x="7726680" y="3895344"/>
            <a:ext cx="3959352" cy="969264"/>
          </a:xfrm>
          <a:prstGeom prst="rect">
            <a:avLst/>
          </a:prstGeom>
          <a:solidFill>
            <a:srgbClr val="F5F8FE"/>
          </a:solidFill>
          <a:ln/>
        </p:spPr>
      </p:sp>
      <p:sp>
        <p:nvSpPr>
          <p:cNvPr id="26" name="Text 24"/>
          <p:cNvSpPr/>
          <p:nvPr/>
        </p:nvSpPr>
        <p:spPr>
          <a:xfrm>
            <a:off x="7854696" y="3959352"/>
            <a:ext cx="3703320" cy="859536"/>
          </a:xfrm>
          <a:prstGeom prst="rect">
            <a:avLst/>
          </a:prstGeom>
          <a:noFill/>
          <a:ln/>
        </p:spPr>
        <p:txBody>
          <a:bodyPr wrap="square" lIns="0" tIns="0" rIns="0" bIns="0" rtlCol="0" anchor="ctr"/>
          <a:lstStyle/>
          <a:p>
            <a:pPr indent="0" marL="0">
              <a:lnSpc>
                <a:spcPct val="108000"/>
              </a:lnSpc>
              <a:buNone/>
            </a:pPr>
            <a:r>
              <a:rPr lang="en-US" sz="1700" b="1" dirty="0">
                <a:solidFill>
                  <a:srgbClr val="0C62FB"/>
                </a:solidFill>
                <a:latin typeface="Arial" pitchFamily="34" charset="0"/>
                <a:ea typeface="Arial" pitchFamily="34" charset="-122"/>
                <a:cs typeface="Arial" pitchFamily="34" charset="-120"/>
              </a:rPr>
              <a:t>&gt;40%  </a:t>
            </a:r>
            <a:pPr indent="0" marL="0">
              <a:lnSpc>
                <a:spcPct val="108000"/>
              </a:lnSpc>
              <a:buNone/>
            </a:pPr>
            <a:r>
              <a:rPr lang="en-US" sz="950" dirty="0">
                <a:solidFill>
                  <a:srgbClr val="14171F"/>
                </a:solidFill>
                <a:latin typeface="Arial" pitchFamily="34" charset="0"/>
                <a:ea typeface="Arial" pitchFamily="34" charset="-122"/>
                <a:cs typeface="Arial" pitchFamily="34" charset="-120"/>
              </a:rPr>
              <a:t>of agentic AI projects are forecast to be cancelled by end-2027 for unclear value.</a:t>
            </a:r>
            <a:pPr indent="0" marL="0">
              <a:lnSpc>
                <a:spcPct val="108000"/>
              </a:lnSpc>
              <a:buNone/>
            </a:pPr>
            <a:r>
              <a:rPr lang="en-US" sz="800" dirty="0">
                <a:solidFill>
                  <a:srgbClr val="5C6470"/>
                </a:solidFill>
                <a:latin typeface="Arial" pitchFamily="34" charset="0"/>
                <a:ea typeface="Arial" pitchFamily="34" charset="-122"/>
                <a:cs typeface="Arial" pitchFamily="34" charset="-120"/>
              </a:rPr>
              <a:t>   Gartner, 2025</a:t>
            </a:r>
            <a:endParaRPr lang="en-US" sz="1700" dirty="0"/>
          </a:p>
        </p:txBody>
      </p:sp>
      <p:sp>
        <p:nvSpPr>
          <p:cNvPr id="27" name="Shape 25"/>
          <p:cNvSpPr/>
          <p:nvPr/>
        </p:nvSpPr>
        <p:spPr>
          <a:xfrm>
            <a:off x="7726680" y="4974336"/>
            <a:ext cx="3959352" cy="804672"/>
          </a:xfrm>
          <a:prstGeom prst="rect">
            <a:avLst/>
          </a:prstGeom>
          <a:solidFill>
            <a:srgbClr val="14171F"/>
          </a:solidFill>
          <a:ln/>
        </p:spPr>
      </p:sp>
      <p:sp>
        <p:nvSpPr>
          <p:cNvPr id="28" name="Text 26"/>
          <p:cNvSpPr/>
          <p:nvPr/>
        </p:nvSpPr>
        <p:spPr>
          <a:xfrm>
            <a:off x="7854696" y="5047488"/>
            <a:ext cx="3703320" cy="676656"/>
          </a:xfrm>
          <a:prstGeom prst="rect">
            <a:avLst/>
          </a:prstGeom>
          <a:noFill/>
          <a:ln/>
        </p:spPr>
        <p:txBody>
          <a:bodyPr wrap="square" lIns="0" tIns="0" rIns="0" bIns="0" rtlCol="0" anchor="ctr"/>
          <a:lstStyle/>
          <a:p>
            <a:pPr indent="0" marL="0">
              <a:lnSpc>
                <a:spcPct val="110000"/>
              </a:lnSpc>
              <a:buNone/>
            </a:pPr>
            <a:r>
              <a:rPr lang="en-US" sz="950" b="1" dirty="0">
                <a:solidFill>
                  <a:srgbClr val="FFFFFF"/>
                </a:solidFill>
                <a:latin typeface="Arial" pitchFamily="34" charset="0"/>
                <a:ea typeface="Arial" pitchFamily="34" charset="-122"/>
                <a:cs typeface="Arial" pitchFamily="34" charset="-120"/>
              </a:rPr>
              <a:t>AI is part of the conversation, not the whole conversation. Same discipline, newest spend — and the spend under the most board pressure.</a:t>
            </a:r>
            <a:endParaRPr lang="en-US" sz="950" dirty="0"/>
          </a:p>
        </p:txBody>
      </p:sp>
      <p:sp>
        <p:nvSpPr>
          <p:cNvPr id="29" name="Text 27"/>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Nobody has made “the AI value office” their own yet — the strategy firms sell frameworks, the vendors sell optimism. The naming is open, and we should take it.</a:t>
            </a:r>
            <a:endParaRPr lang="en-US" sz="900" dirty="0"/>
          </a:p>
        </p:txBody>
      </p:sp>
      <p:sp>
        <p:nvSpPr>
          <p:cNvPr id="30" name="Text 28"/>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BCG, Closing the AI Impact Gap, 2025; KPMG Global AI Pulse Q2 2026; Gartner press release, Jun 2025 (agentic AI forecast); BCG 10-20-70 (70% of AI value from people and process change). We deliberately avoid the widely quoted “95% of AI pilots fail” figure — small sample, unaudited; it invites challenge.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OFFERINGS  |  3 OF 4 — PLATFORM VALUE</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11</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Offering 3 — find the value clients already paid for; partner funding often makes the first step free</a:t>
            </a:r>
            <a:endParaRPr lang="en-US" sz="2200" dirty="0"/>
          </a:p>
        </p:txBody>
      </p:sp>
      <p:sp>
        <p:nvSpPr>
          <p:cNvPr id="7" name="Text 5"/>
          <p:cNvSpPr/>
          <p:nvPr/>
        </p:nvSpPr>
        <p:spPr>
          <a:xfrm>
            <a:off x="502920" y="1426464"/>
            <a:ext cx="5760720" cy="256032"/>
          </a:xfrm>
          <a:prstGeom prst="rect">
            <a:avLst/>
          </a:prstGeom>
          <a:noFill/>
          <a:ln/>
        </p:spPr>
        <p:txBody>
          <a:bodyPr wrap="square" lIns="0" tIns="0" rIns="0" bIns="0" rtlCol="0" anchor="ctr"/>
          <a:lstStyle/>
          <a:p>
            <a:pPr indent="0" marL="0">
              <a:buNone/>
            </a:pPr>
            <a:r>
              <a:rPr lang="en-US" sz="900" b="1" spc="150" kern="0" dirty="0">
                <a:solidFill>
                  <a:srgbClr val="0C62FB"/>
                </a:solidFill>
                <a:latin typeface="Arial" pitchFamily="34" charset="0"/>
                <a:ea typeface="Arial" pitchFamily="34" charset="-122"/>
                <a:cs typeface="Arial" pitchFamily="34" charset="-120"/>
              </a:rPr>
              <a:t>THE ASSESSMENT (10–15 DAYS, FIXED SCOPE)</a:t>
            </a:r>
            <a:endParaRPr lang="en-US" sz="900" dirty="0"/>
          </a:p>
        </p:txBody>
      </p:sp>
      <p:sp>
        <p:nvSpPr>
          <p:cNvPr id="8" name="Text 6"/>
          <p:cNvSpPr/>
          <p:nvPr/>
        </p:nvSpPr>
        <p:spPr>
          <a:xfrm>
            <a:off x="548640" y="1737360"/>
            <a:ext cx="5669280" cy="2103120"/>
          </a:xfrm>
          <a:prstGeom prst="rect">
            <a:avLst/>
          </a:prstGeom>
          <a:noFill/>
          <a:ln/>
        </p:spPr>
        <p:txBody>
          <a:bodyPr wrap="square" lIns="0" tIns="0" rIns="0" bIns="0" rtlCol="0" anchor="t"/>
          <a:lstStyle/>
          <a:p>
            <a:pPr marL="127000" indent="-127000">
              <a:lnSpc>
                <a:spcPct val="110000"/>
              </a:lnSpc>
              <a:spcAft>
                <a:spcPts val="700"/>
              </a:spcAft>
              <a:buSzPct val="100000"/>
              <a:buChar char="–"/>
            </a:pPr>
            <a:r>
              <a:rPr lang="en-US" sz="1000" dirty="0">
                <a:solidFill>
                  <a:srgbClr val="14171F"/>
                </a:solidFill>
                <a:latin typeface="Arial" pitchFamily="34" charset="0"/>
                <a:ea typeface="Arial" pitchFamily="34" charset="-122"/>
                <a:cs typeface="Arial" pitchFamily="34" charset="-120"/>
              </a:rPr>
              <a:t>Modules and capabilities used vs owned — across Salesforce, Snowflake, Databricks and AWS, not one platform at a time.</a:t>
            </a:r>
            <a:endParaRPr lang="en-US" sz="1000" dirty="0"/>
          </a:p>
          <a:p>
            <a:pPr marL="127000" indent="-127000">
              <a:lnSpc>
                <a:spcPct val="110000"/>
              </a:lnSpc>
              <a:spcAft>
                <a:spcPts val="700"/>
              </a:spcAft>
              <a:buSzPct val="100000"/>
              <a:buChar char="–"/>
            </a:pPr>
            <a:r>
              <a:rPr lang="en-US" sz="1000" dirty="0">
                <a:solidFill>
                  <a:srgbClr val="14171F"/>
                </a:solidFill>
                <a:latin typeface="Arial" pitchFamily="34" charset="0"/>
                <a:ea typeface="Arial" pitchFamily="34" charset="-122"/>
                <a:cs typeface="Arial" pitchFamily="34" charset="-120"/>
              </a:rPr>
              <a:t>Consumption efficiency: idle compute alone typically eats 30–40% of Snowflake and Databricks spend.</a:t>
            </a:r>
            <a:endParaRPr lang="en-US" sz="1000" dirty="0"/>
          </a:p>
          <a:p>
            <a:pPr marL="127000" indent="-127000">
              <a:lnSpc>
                <a:spcPct val="110000"/>
              </a:lnSpc>
              <a:spcAft>
                <a:spcPts val="700"/>
              </a:spcAft>
              <a:buSzPct val="100000"/>
              <a:buChar char="–"/>
            </a:pPr>
            <a:r>
              <a:rPr lang="en-US" sz="1000" dirty="0">
                <a:solidFill>
                  <a:srgbClr val="14171F"/>
                </a:solidFill>
                <a:latin typeface="Arial" pitchFamily="34" charset="0"/>
                <a:ea typeface="Arial" pitchFamily="34" charset="-122"/>
                <a:cs typeface="Arial" pitchFamily="34" charset="-120"/>
              </a:rPr>
              <a:t>Adoption: who actually uses what, measured from platform data rather than asked in a survey.</a:t>
            </a:r>
            <a:endParaRPr lang="en-US" sz="1000" dirty="0"/>
          </a:p>
          <a:p>
            <a:pPr marL="127000" indent="-127000">
              <a:lnSpc>
                <a:spcPct val="110000"/>
              </a:lnSpc>
              <a:spcAft>
                <a:spcPts val="700"/>
              </a:spcAft>
              <a:buSzPct val="100000"/>
              <a:buChar char="–"/>
            </a:pPr>
            <a:r>
              <a:rPr lang="en-US" sz="1000" dirty="0">
                <a:solidFill>
                  <a:srgbClr val="14171F"/>
                </a:solidFill>
                <a:latin typeface="Arial" pitchFamily="34" charset="0"/>
                <a:ea typeface="Arial" pitchFamily="34" charset="-122"/>
                <a:cs typeface="Arial" pitchFamily="34" charset="-120"/>
              </a:rPr>
              <a:t>A dollar figure on the trapped value, and a roadmap to unlock it that doesn't start with “buy more”.</a:t>
            </a:r>
            <a:endParaRPr lang="en-US" sz="1000" dirty="0"/>
          </a:p>
        </p:txBody>
      </p:sp>
      <p:sp>
        <p:nvSpPr>
          <p:cNvPr id="9" name="Shape 7"/>
          <p:cNvSpPr/>
          <p:nvPr/>
        </p:nvSpPr>
        <p:spPr>
          <a:xfrm>
            <a:off x="502920" y="3913632"/>
            <a:ext cx="5760720" cy="868680"/>
          </a:xfrm>
          <a:prstGeom prst="rect">
            <a:avLst/>
          </a:prstGeom>
          <a:solidFill>
            <a:srgbClr val="F5F8FE"/>
          </a:solidFill>
          <a:ln/>
        </p:spPr>
      </p:sp>
      <p:sp>
        <p:nvSpPr>
          <p:cNvPr id="10" name="Text 8"/>
          <p:cNvSpPr/>
          <p:nvPr/>
        </p:nvSpPr>
        <p:spPr>
          <a:xfrm>
            <a:off x="630936" y="3986784"/>
            <a:ext cx="5504688" cy="731520"/>
          </a:xfrm>
          <a:prstGeom prst="rect">
            <a:avLst/>
          </a:prstGeom>
          <a:noFill/>
          <a:ln/>
        </p:spPr>
        <p:txBody>
          <a:bodyPr wrap="square" lIns="0" tIns="0" rIns="0" bIns="0" rtlCol="0" anchor="ctr"/>
          <a:lstStyle/>
          <a:p>
            <a:pPr indent="0" marL="0">
              <a:lnSpc>
                <a:spcPct val="110000"/>
              </a:lnSpc>
              <a:buNone/>
            </a:pPr>
            <a:r>
              <a:rPr lang="en-US" sz="2000" b="1" dirty="0">
                <a:solidFill>
                  <a:srgbClr val="0C62FB"/>
                </a:solidFill>
                <a:latin typeface="Arial" pitchFamily="34" charset="0"/>
                <a:ea typeface="Arial" pitchFamily="34" charset="-122"/>
                <a:cs typeface="Arial" pitchFamily="34" charset="-120"/>
              </a:rPr>
              <a:t>46%</a:t>
            </a:r>
            <a:pPr indent="0" marL="0">
              <a:lnSpc>
                <a:spcPct val="110000"/>
              </a:lnSpc>
              <a:buNone/>
            </a:pPr>
            <a:r>
              <a:rPr lang="en-US" sz="950" dirty="0">
                <a:solidFill>
                  <a:srgbClr val="14171F"/>
                </a:solidFill>
                <a:latin typeface="Arial" pitchFamily="34" charset="0"/>
                <a:ea typeface="Arial" pitchFamily="34" charset="-122"/>
                <a:cs typeface="Arial" pitchFamily="34" charset="-120"/>
              </a:rPr>
              <a:t> of software licences sit unused; cloud waste is at 29% and rising. The dollars are already visible — someone just has to add them up in front of the client.</a:t>
            </a:r>
            <a:endParaRPr lang="en-US" sz="2000" dirty="0"/>
          </a:p>
        </p:txBody>
      </p:sp>
      <p:sp>
        <p:nvSpPr>
          <p:cNvPr id="11" name="Shape 9"/>
          <p:cNvSpPr/>
          <p:nvPr/>
        </p:nvSpPr>
        <p:spPr>
          <a:xfrm>
            <a:off x="502920" y="4901184"/>
            <a:ext cx="5760720" cy="896112"/>
          </a:xfrm>
          <a:prstGeom prst="rect">
            <a:avLst/>
          </a:prstGeom>
          <a:solidFill>
            <a:srgbClr val="14171F"/>
          </a:solidFill>
          <a:ln/>
        </p:spPr>
      </p:sp>
      <p:sp>
        <p:nvSpPr>
          <p:cNvPr id="12" name="Text 10"/>
          <p:cNvSpPr/>
          <p:nvPr/>
        </p:nvSpPr>
        <p:spPr>
          <a:xfrm>
            <a:off x="630936" y="4974336"/>
            <a:ext cx="5504688" cy="768096"/>
          </a:xfrm>
          <a:prstGeom prst="rect">
            <a:avLst/>
          </a:prstGeom>
          <a:noFill/>
          <a:ln/>
        </p:spPr>
        <p:txBody>
          <a:bodyPr wrap="square" lIns="0" tIns="0" rIns="0" bIns="0" rtlCol="0" anchor="ctr"/>
          <a:lstStyle/>
          <a:p>
            <a:pPr indent="0" marL="0">
              <a:lnSpc>
                <a:spcPct val="110000"/>
              </a:lnSpc>
              <a:buNone/>
            </a:pPr>
            <a:r>
              <a:rPr lang="en-US" sz="950" b="1" dirty="0">
                <a:solidFill>
                  <a:srgbClr val="FFFFFF"/>
                </a:solidFill>
                <a:latin typeface="Arial" pitchFamily="34" charset="0"/>
                <a:ea typeface="Arial" pitchFamily="34" charset="-122"/>
                <a:cs typeface="Arial" pitchFamily="34" charset="-120"/>
              </a:rPr>
              <a:t>Why the vendors fund this: utilisation drives their renewals and consumption revenue. They pay for the assessment; we sit on the client's side of the value question. Everyone's incentives line up.</a:t>
            </a:r>
            <a:endParaRPr lang="en-US" sz="950" dirty="0"/>
          </a:p>
        </p:txBody>
      </p:sp>
      <p:sp>
        <p:nvSpPr>
          <p:cNvPr id="13" name="Text 11"/>
          <p:cNvSpPr/>
          <p:nvPr/>
        </p:nvSpPr>
        <p:spPr>
          <a:xfrm>
            <a:off x="6537960" y="1426464"/>
            <a:ext cx="5148072" cy="256032"/>
          </a:xfrm>
          <a:prstGeom prst="rect">
            <a:avLst/>
          </a:prstGeom>
          <a:noFill/>
          <a:ln/>
        </p:spPr>
        <p:txBody>
          <a:bodyPr wrap="square" lIns="0" tIns="0" rIns="0" bIns="0" rtlCol="0" anchor="ctr"/>
          <a:lstStyle/>
          <a:p>
            <a:pPr indent="0" marL="0">
              <a:buNone/>
            </a:pPr>
            <a:r>
              <a:rPr lang="en-US" sz="900" b="1" spc="150" kern="0" dirty="0">
                <a:solidFill>
                  <a:srgbClr val="0C62FB"/>
                </a:solidFill>
                <a:latin typeface="Arial" pitchFamily="34" charset="0"/>
                <a:ea typeface="Arial" pitchFamily="34" charset="-122"/>
                <a:cs typeface="Arial" pitchFamily="34" charset="-120"/>
              </a:rPr>
              <a:t>THE EASY BUTTON — PARTNER FUNDING</a:t>
            </a:r>
            <a:endParaRPr lang="en-US" sz="900" dirty="0"/>
          </a:p>
        </p:txBody>
      </p:sp>
      <p:sp>
        <p:nvSpPr>
          <p:cNvPr id="14" name="Shape 12"/>
          <p:cNvSpPr/>
          <p:nvPr/>
        </p:nvSpPr>
        <p:spPr>
          <a:xfrm>
            <a:off x="6537960" y="1737360"/>
            <a:ext cx="1143000" cy="969264"/>
          </a:xfrm>
          <a:prstGeom prst="rect">
            <a:avLst/>
          </a:prstGeom>
          <a:solidFill>
            <a:srgbClr val="0C62FB"/>
          </a:solidFill>
          <a:ln/>
        </p:spPr>
      </p:sp>
      <p:sp>
        <p:nvSpPr>
          <p:cNvPr id="15" name="Text 13"/>
          <p:cNvSpPr/>
          <p:nvPr/>
        </p:nvSpPr>
        <p:spPr>
          <a:xfrm>
            <a:off x="6611112" y="1737360"/>
            <a:ext cx="1024128" cy="96926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AWS</a:t>
            </a:r>
            <a:endParaRPr lang="en-US" sz="1000" dirty="0"/>
          </a:p>
        </p:txBody>
      </p:sp>
      <p:sp>
        <p:nvSpPr>
          <p:cNvPr id="16" name="Shape 14"/>
          <p:cNvSpPr/>
          <p:nvPr/>
        </p:nvSpPr>
        <p:spPr>
          <a:xfrm>
            <a:off x="7680960" y="1737360"/>
            <a:ext cx="4005072" cy="969264"/>
          </a:xfrm>
          <a:prstGeom prst="rect">
            <a:avLst/>
          </a:prstGeom>
          <a:solidFill>
            <a:srgbClr val="F5F8FE"/>
          </a:solidFill>
          <a:ln/>
        </p:spPr>
      </p:sp>
      <p:sp>
        <p:nvSpPr>
          <p:cNvPr id="17" name="Text 15"/>
          <p:cNvSpPr/>
          <p:nvPr/>
        </p:nvSpPr>
        <p:spPr>
          <a:xfrm>
            <a:off x="7790688" y="1737360"/>
            <a:ext cx="3767328" cy="969264"/>
          </a:xfrm>
          <a:prstGeom prst="rect">
            <a:avLst/>
          </a:prstGeom>
          <a:noFill/>
          <a:ln/>
        </p:spPr>
        <p:txBody>
          <a:bodyPr wrap="square" lIns="0" tIns="0" rIns="0" bIns="0" rtlCol="0" anchor="ctr"/>
          <a:lstStyle/>
          <a:p>
            <a:pPr indent="0" marL="0">
              <a:lnSpc>
                <a:spcPct val="108000"/>
              </a:lnSpc>
              <a:buNone/>
            </a:pPr>
            <a:r>
              <a:rPr lang="en-US" sz="930" dirty="0">
                <a:solidFill>
                  <a:srgbClr val="14171F"/>
                </a:solidFill>
                <a:latin typeface="Arial" pitchFamily="34" charset="0"/>
                <a:ea typeface="Arial" pitchFamily="34" charset="-122"/>
                <a:cs typeface="Arial" pitchFamily="34" charset="-120"/>
              </a:rPr>
              <a:t>Migration assessments funded (~5% of projected spend); credits of 15–25% at scale; proof-of-concept funding to $25k; Well-Architected reviews effectively free.</a:t>
            </a:r>
            <a:endParaRPr lang="en-US" sz="930" dirty="0"/>
          </a:p>
        </p:txBody>
      </p:sp>
      <p:sp>
        <p:nvSpPr>
          <p:cNvPr id="18" name="Shape 16"/>
          <p:cNvSpPr/>
          <p:nvPr/>
        </p:nvSpPr>
        <p:spPr>
          <a:xfrm>
            <a:off x="6537960" y="2798064"/>
            <a:ext cx="1143000" cy="786384"/>
          </a:xfrm>
          <a:prstGeom prst="rect">
            <a:avLst/>
          </a:prstGeom>
          <a:solidFill>
            <a:srgbClr val="0C62FB"/>
          </a:solidFill>
          <a:ln/>
        </p:spPr>
      </p:sp>
      <p:sp>
        <p:nvSpPr>
          <p:cNvPr id="19" name="Text 17"/>
          <p:cNvSpPr/>
          <p:nvPr/>
        </p:nvSpPr>
        <p:spPr>
          <a:xfrm>
            <a:off x="6611112" y="2798064"/>
            <a:ext cx="1024128" cy="78638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Snowflake</a:t>
            </a:r>
            <a:endParaRPr lang="en-US" sz="1000" dirty="0"/>
          </a:p>
        </p:txBody>
      </p:sp>
      <p:sp>
        <p:nvSpPr>
          <p:cNvPr id="20" name="Shape 18"/>
          <p:cNvSpPr/>
          <p:nvPr/>
        </p:nvSpPr>
        <p:spPr>
          <a:xfrm>
            <a:off x="7680960" y="2798064"/>
            <a:ext cx="4005072" cy="786384"/>
          </a:xfrm>
          <a:prstGeom prst="rect">
            <a:avLst/>
          </a:prstGeom>
          <a:solidFill>
            <a:srgbClr val="F5F8FE"/>
          </a:solidFill>
          <a:ln/>
        </p:spPr>
      </p:sp>
      <p:sp>
        <p:nvSpPr>
          <p:cNvPr id="21" name="Text 19"/>
          <p:cNvSpPr/>
          <p:nvPr/>
        </p:nvSpPr>
        <p:spPr>
          <a:xfrm>
            <a:off x="7790688" y="2798064"/>
            <a:ext cx="3767328" cy="786384"/>
          </a:xfrm>
          <a:prstGeom prst="rect">
            <a:avLst/>
          </a:prstGeom>
          <a:noFill/>
          <a:ln/>
        </p:spPr>
        <p:txBody>
          <a:bodyPr wrap="square" lIns="0" tIns="0" rIns="0" bIns="0" rtlCol="0" anchor="ctr"/>
          <a:lstStyle/>
          <a:p>
            <a:pPr indent="0" marL="0">
              <a:lnSpc>
                <a:spcPct val="108000"/>
              </a:lnSpc>
              <a:buNone/>
            </a:pPr>
            <a:r>
              <a:rPr lang="en-US" sz="930" dirty="0">
                <a:solidFill>
                  <a:srgbClr val="14171F"/>
                </a:solidFill>
                <a:latin typeface="Arial" pitchFamily="34" charset="0"/>
                <a:ea typeface="Arial" pitchFamily="34" charset="-122"/>
                <a:cs typeface="Arial" pitchFamily="34" charset="-120"/>
              </a:rPr>
              <a:t>Services funds for partner-led assessments and pilots; LiftOff funds foundation work.</a:t>
            </a:r>
            <a:endParaRPr lang="en-US" sz="930" dirty="0"/>
          </a:p>
        </p:txBody>
      </p:sp>
      <p:sp>
        <p:nvSpPr>
          <p:cNvPr id="22" name="Shape 20"/>
          <p:cNvSpPr/>
          <p:nvPr/>
        </p:nvSpPr>
        <p:spPr>
          <a:xfrm>
            <a:off x="6537960" y="3675888"/>
            <a:ext cx="1143000" cy="786384"/>
          </a:xfrm>
          <a:prstGeom prst="rect">
            <a:avLst/>
          </a:prstGeom>
          <a:solidFill>
            <a:srgbClr val="0C62FB"/>
          </a:solidFill>
          <a:ln/>
        </p:spPr>
      </p:sp>
      <p:sp>
        <p:nvSpPr>
          <p:cNvPr id="23" name="Text 21"/>
          <p:cNvSpPr/>
          <p:nvPr/>
        </p:nvSpPr>
        <p:spPr>
          <a:xfrm>
            <a:off x="6611112" y="3675888"/>
            <a:ext cx="1024128" cy="78638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Databricks</a:t>
            </a:r>
            <a:endParaRPr lang="en-US" sz="1000" dirty="0"/>
          </a:p>
        </p:txBody>
      </p:sp>
      <p:sp>
        <p:nvSpPr>
          <p:cNvPr id="24" name="Shape 22"/>
          <p:cNvSpPr/>
          <p:nvPr/>
        </p:nvSpPr>
        <p:spPr>
          <a:xfrm>
            <a:off x="7680960" y="3675888"/>
            <a:ext cx="4005072" cy="786384"/>
          </a:xfrm>
          <a:prstGeom prst="rect">
            <a:avLst/>
          </a:prstGeom>
          <a:solidFill>
            <a:srgbClr val="F5F8FE"/>
          </a:solidFill>
          <a:ln/>
        </p:spPr>
      </p:sp>
      <p:sp>
        <p:nvSpPr>
          <p:cNvPr id="25" name="Text 23"/>
          <p:cNvSpPr/>
          <p:nvPr/>
        </p:nvSpPr>
        <p:spPr>
          <a:xfrm>
            <a:off x="7790688" y="3675888"/>
            <a:ext cx="3767328" cy="786384"/>
          </a:xfrm>
          <a:prstGeom prst="rect">
            <a:avLst/>
          </a:prstGeom>
          <a:noFill/>
          <a:ln/>
        </p:spPr>
        <p:txBody>
          <a:bodyPr wrap="square" lIns="0" tIns="0" rIns="0" bIns="0" rtlCol="0" anchor="ctr"/>
          <a:lstStyle/>
          <a:p>
            <a:pPr indent="0" marL="0">
              <a:lnSpc>
                <a:spcPct val="108000"/>
              </a:lnSpc>
              <a:buNone/>
            </a:pPr>
            <a:r>
              <a:rPr lang="en-US" sz="930" dirty="0">
                <a:solidFill>
                  <a:srgbClr val="14171F"/>
                </a:solidFill>
                <a:latin typeface="Arial" pitchFamily="34" charset="0"/>
                <a:ea typeface="Arial" pitchFamily="34" charset="-122"/>
                <a:cs typeface="Arial" pitchFamily="34" charset="-120"/>
              </a:rPr>
              <a:t>New 2026 partner framework links architecture assessments directly to funding and incentives.</a:t>
            </a:r>
            <a:endParaRPr lang="en-US" sz="930" dirty="0"/>
          </a:p>
        </p:txBody>
      </p:sp>
      <p:sp>
        <p:nvSpPr>
          <p:cNvPr id="26" name="Shape 24"/>
          <p:cNvSpPr/>
          <p:nvPr/>
        </p:nvSpPr>
        <p:spPr>
          <a:xfrm>
            <a:off x="6537960" y="4553712"/>
            <a:ext cx="1143000" cy="786384"/>
          </a:xfrm>
          <a:prstGeom prst="rect">
            <a:avLst/>
          </a:prstGeom>
          <a:solidFill>
            <a:srgbClr val="0C62FB"/>
          </a:solidFill>
          <a:ln/>
        </p:spPr>
      </p:sp>
      <p:sp>
        <p:nvSpPr>
          <p:cNvPr id="27" name="Text 25"/>
          <p:cNvSpPr/>
          <p:nvPr/>
        </p:nvSpPr>
        <p:spPr>
          <a:xfrm>
            <a:off x="6611112" y="4553712"/>
            <a:ext cx="1024128" cy="78638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Salesforce</a:t>
            </a:r>
            <a:endParaRPr lang="en-US" sz="1000" dirty="0"/>
          </a:p>
        </p:txBody>
      </p:sp>
      <p:sp>
        <p:nvSpPr>
          <p:cNvPr id="28" name="Shape 26"/>
          <p:cNvSpPr/>
          <p:nvPr/>
        </p:nvSpPr>
        <p:spPr>
          <a:xfrm>
            <a:off x="7680960" y="4553712"/>
            <a:ext cx="4005072" cy="786384"/>
          </a:xfrm>
          <a:prstGeom prst="rect">
            <a:avLst/>
          </a:prstGeom>
          <a:solidFill>
            <a:srgbClr val="F5F8FE"/>
          </a:solidFill>
          <a:ln/>
        </p:spPr>
      </p:sp>
      <p:sp>
        <p:nvSpPr>
          <p:cNvPr id="29" name="Text 27"/>
          <p:cNvSpPr/>
          <p:nvPr/>
        </p:nvSpPr>
        <p:spPr>
          <a:xfrm>
            <a:off x="7790688" y="4553712"/>
            <a:ext cx="3767328" cy="786384"/>
          </a:xfrm>
          <a:prstGeom prst="rect">
            <a:avLst/>
          </a:prstGeom>
          <a:noFill/>
          <a:ln/>
        </p:spPr>
        <p:txBody>
          <a:bodyPr wrap="square" lIns="0" tIns="0" rIns="0" bIns="0" rtlCol="0" anchor="ctr"/>
          <a:lstStyle/>
          <a:p>
            <a:pPr indent="0" marL="0">
              <a:lnSpc>
                <a:spcPct val="108000"/>
              </a:lnSpc>
              <a:buNone/>
            </a:pPr>
            <a:r>
              <a:rPr lang="en-US" sz="930" dirty="0">
                <a:solidFill>
                  <a:srgbClr val="14171F"/>
                </a:solidFill>
                <a:latin typeface="Arial" pitchFamily="34" charset="0"/>
                <a:ea typeface="Arial" pitchFamily="34" charset="-122"/>
                <a:cs typeface="Arial" pitchFamily="34" charset="-120"/>
              </a:rPr>
              <a:t>FY27 program introduces consumption funds that reward adoption — built for “unlock what you already bought”.</a:t>
            </a:r>
            <a:endParaRPr lang="en-US" sz="930" dirty="0"/>
          </a:p>
        </p:txBody>
      </p:sp>
      <p:sp>
        <p:nvSpPr>
          <p:cNvPr id="30" name="Text 28"/>
          <p:cNvSpPr/>
          <p:nvPr/>
        </p:nvSpPr>
        <p:spPr>
          <a:xfrm>
            <a:off x="6537960" y="5449824"/>
            <a:ext cx="5148072" cy="457200"/>
          </a:xfrm>
          <a:prstGeom prst="rect">
            <a:avLst/>
          </a:prstGeom>
          <a:noFill/>
          <a:ln/>
        </p:spPr>
        <p:txBody>
          <a:bodyPr wrap="square" lIns="0" tIns="0" rIns="0" bIns="0" rtlCol="0" anchor="ctr"/>
          <a:lstStyle/>
          <a:p>
            <a:pPr indent="0" marL="0">
              <a:lnSpc>
                <a:spcPct val="110000"/>
              </a:lnSpc>
              <a:buNone/>
            </a:pPr>
            <a:r>
              <a:rPr lang="en-US" sz="850" i="1" dirty="0">
                <a:solidFill>
                  <a:srgbClr val="5C6470"/>
                </a:solidFill>
                <a:latin typeface="Arial" pitchFamily="34" charset="0"/>
                <a:ea typeface="Arial" pitchFamily="34" charset="-122"/>
                <a:cs typeface="Arial" pitchFamily="34" charset="-120"/>
              </a:rPr>
              <a:t>Program terms move — confirm current funding per deal with the alliance leads before quoting it to a client.</a:t>
            </a:r>
            <a:endParaRPr lang="en-US" sz="850" dirty="0"/>
          </a:p>
        </p:txBody>
      </p:sp>
      <p:sp>
        <p:nvSpPr>
          <p:cNvPr id="31" name="Text 29"/>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The cheapest consulting a client will ever buy is an assessment someone else pays for. This is the door-opener for new and dormant accounts.</a:t>
            </a:r>
            <a:endParaRPr lang="en-US" sz="900" dirty="0"/>
          </a:p>
        </p:txBody>
      </p:sp>
      <p:sp>
        <p:nvSpPr>
          <p:cNvPr id="32" name="Text 30"/>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Zylo SaaS Management Index 2025/26; Flexera State of the Cloud 2026; platform partner program terms as published 2026 (AWS MAP/PoC/Well-Architected, Snowflake Services Funds and LiftOff, Databricks partner framework Feb 2026, Salesforce FY27 consulting program). Health checks are a crowded category — the differentiation is the dollar figure on trapped value plus funded delivery, not the assessment mechanic.</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OFFERINGS  |  4 OF 4 — DEAL VALUE</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12</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Offering 4 — synergies are gated by systems and data work; that is our home ground</a:t>
            </a:r>
            <a:endParaRPr lang="en-US" sz="2200" dirty="0"/>
          </a:p>
        </p:txBody>
      </p:sp>
      <p:sp>
        <p:nvSpPr>
          <p:cNvPr id="7" name="Text 5"/>
          <p:cNvSpPr/>
          <p:nvPr/>
        </p:nvSpPr>
        <p:spPr>
          <a:xfrm>
            <a:off x="502920" y="1426464"/>
            <a:ext cx="6949440"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WHAT WE ACTUALLY DO</a:t>
            </a:r>
            <a:endParaRPr lang="en-US" sz="900" dirty="0"/>
          </a:p>
        </p:txBody>
      </p:sp>
      <p:sp>
        <p:nvSpPr>
          <p:cNvPr id="8" name="Shape 6"/>
          <p:cNvSpPr/>
          <p:nvPr/>
        </p:nvSpPr>
        <p:spPr>
          <a:xfrm>
            <a:off x="502920" y="1773936"/>
            <a:ext cx="246888" cy="246888"/>
          </a:xfrm>
          <a:prstGeom prst="ellipse">
            <a:avLst/>
          </a:prstGeom>
          <a:solidFill>
            <a:srgbClr val="0C62FB"/>
          </a:solidFill>
          <a:ln/>
        </p:spPr>
      </p:sp>
      <p:sp>
        <p:nvSpPr>
          <p:cNvPr id="9" name="Text 7"/>
          <p:cNvSpPr/>
          <p:nvPr/>
        </p:nvSpPr>
        <p:spPr>
          <a:xfrm>
            <a:off x="484632" y="1760220"/>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886968" y="1737360"/>
            <a:ext cx="6565392" cy="1234440"/>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Stand up the value cell on a live deal.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Weekly integration forum, a monthly value review that makes go / hold / kill / accelerate calls on synergy initiatives, quarterly resets with the executive. Planned, forecast and actual synergy value — by initiative, by date, by owner.</a:t>
            </a:r>
            <a:endParaRPr lang="en-US" sz="1050" dirty="0"/>
          </a:p>
        </p:txBody>
      </p:sp>
      <p:sp>
        <p:nvSpPr>
          <p:cNvPr id="11" name="Shape 9"/>
          <p:cNvSpPr/>
          <p:nvPr/>
        </p:nvSpPr>
        <p:spPr>
          <a:xfrm>
            <a:off x="502920" y="3145536"/>
            <a:ext cx="246888" cy="246888"/>
          </a:xfrm>
          <a:prstGeom prst="ellipse">
            <a:avLst/>
          </a:prstGeom>
          <a:solidFill>
            <a:srgbClr val="0C62FB"/>
          </a:solidFill>
          <a:ln/>
        </p:spPr>
      </p:sp>
      <p:sp>
        <p:nvSpPr>
          <p:cNvPr id="12" name="Text 10"/>
          <p:cNvSpPr/>
          <p:nvPr/>
        </p:nvSpPr>
        <p:spPr>
          <a:xfrm>
            <a:off x="484632" y="3131820"/>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886968" y="3108960"/>
            <a:ext cx="6565392" cy="1234440"/>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Run the 100-day value plan.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For a new acquisition or a new portfolio company: baseline in the first month, owners and targets by day 45, the tracking rhythm running before day 100. Most of the market now moves this fast — 58% of PE firms deploy value resources inside the first 100 days, double the year before.</a:t>
            </a:r>
            <a:endParaRPr lang="en-US" sz="1050" dirty="0"/>
          </a:p>
        </p:txBody>
      </p:sp>
      <p:sp>
        <p:nvSpPr>
          <p:cNvPr id="14" name="Shape 12"/>
          <p:cNvSpPr/>
          <p:nvPr/>
        </p:nvSpPr>
        <p:spPr>
          <a:xfrm>
            <a:off x="502920" y="4517136"/>
            <a:ext cx="246888" cy="246888"/>
          </a:xfrm>
          <a:prstGeom prst="ellipse">
            <a:avLst/>
          </a:prstGeom>
          <a:solidFill>
            <a:srgbClr val="0C62FB"/>
          </a:solidFill>
          <a:ln/>
        </p:spPr>
      </p:sp>
      <p:sp>
        <p:nvSpPr>
          <p:cNvPr id="15" name="Text 13"/>
          <p:cNvSpPr/>
          <p:nvPr/>
        </p:nvSpPr>
        <p:spPr>
          <a:xfrm>
            <a:off x="484632" y="4503420"/>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886968" y="4480560"/>
            <a:ext cx="6565392" cy="1234440"/>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Deliver the integration that paces everything.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Synergy timelines are set by systems and data migration, not by strategy documents. We do the integration work itself — instrumented as we go, so the synergy number is live data, not a status report.</a:t>
            </a:r>
            <a:endParaRPr lang="en-US" sz="1050" dirty="0"/>
          </a:p>
        </p:txBody>
      </p:sp>
      <p:sp>
        <p:nvSpPr>
          <p:cNvPr id="17" name="Text 15"/>
          <p:cNvSpPr/>
          <p:nvPr/>
        </p:nvSpPr>
        <p:spPr>
          <a:xfrm>
            <a:off x="7726680" y="1426464"/>
            <a:ext cx="3959352"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THE NUMBERS THAT SELL IT</a:t>
            </a:r>
            <a:endParaRPr lang="en-US" sz="900" dirty="0"/>
          </a:p>
        </p:txBody>
      </p:sp>
      <p:sp>
        <p:nvSpPr>
          <p:cNvPr id="18" name="Shape 16"/>
          <p:cNvSpPr/>
          <p:nvPr/>
        </p:nvSpPr>
        <p:spPr>
          <a:xfrm>
            <a:off x="7726680" y="1737360"/>
            <a:ext cx="3959352" cy="1060704"/>
          </a:xfrm>
          <a:prstGeom prst="rect">
            <a:avLst/>
          </a:prstGeom>
          <a:solidFill>
            <a:srgbClr val="F5F8FE"/>
          </a:solidFill>
          <a:ln/>
        </p:spPr>
      </p:sp>
      <p:sp>
        <p:nvSpPr>
          <p:cNvPr id="19" name="Text 17"/>
          <p:cNvSpPr/>
          <p:nvPr/>
        </p:nvSpPr>
        <p:spPr>
          <a:xfrm>
            <a:off x="7854696" y="1801368"/>
            <a:ext cx="3703320" cy="950976"/>
          </a:xfrm>
          <a:prstGeom prst="rect">
            <a:avLst/>
          </a:prstGeom>
          <a:noFill/>
          <a:ln/>
        </p:spPr>
        <p:txBody>
          <a:bodyPr wrap="square" lIns="0" tIns="0" rIns="0" bIns="0" rtlCol="0" anchor="ctr"/>
          <a:lstStyle/>
          <a:p>
            <a:pPr indent="0" marL="0">
              <a:lnSpc>
                <a:spcPct val="108000"/>
              </a:lnSpc>
              <a:buNone/>
            </a:pPr>
            <a:r>
              <a:rPr lang="en-US" sz="1600" b="1" dirty="0">
                <a:solidFill>
                  <a:srgbClr val="0C62FB"/>
                </a:solidFill>
                <a:latin typeface="Arial" pitchFamily="34" charset="0"/>
                <a:ea typeface="Arial" pitchFamily="34" charset="-122"/>
                <a:cs typeface="Arial" pitchFamily="34" charset="-120"/>
              </a:rPr>
              <a:t>70% / 30%  </a:t>
            </a:r>
            <a:pPr indent="0" marL="0">
              <a:lnSpc>
                <a:spcPct val="108000"/>
              </a:lnSpc>
              <a:buNone/>
            </a:pPr>
            <a:r>
              <a:rPr lang="en-US" sz="950" dirty="0">
                <a:solidFill>
                  <a:srgbClr val="14171F"/>
                </a:solidFill>
                <a:latin typeface="Arial" pitchFamily="34" charset="0"/>
                <a:ea typeface="Arial" pitchFamily="34" charset="-122"/>
                <a:cs typeface="Arial" pitchFamily="34" charset="-120"/>
              </a:rPr>
              <a:t>of acquirers overestimate synergies at announcement; only 30% hit their targets.</a:t>
            </a:r>
            <a:pPr indent="0" marL="0">
              <a:lnSpc>
                <a:spcPct val="108000"/>
              </a:lnSpc>
              <a:buNone/>
            </a:pPr>
            <a:r>
              <a:rPr lang="en-US" sz="800" dirty="0">
                <a:solidFill>
                  <a:srgbClr val="5C6470"/>
                </a:solidFill>
                <a:latin typeface="Arial" pitchFamily="34" charset="0"/>
                <a:ea typeface="Arial" pitchFamily="34" charset="-122"/>
                <a:cs typeface="Arial" pitchFamily="34" charset="-120"/>
              </a:rPr>
              <a:t>   Bain</a:t>
            </a:r>
            <a:endParaRPr lang="en-US" sz="1600" dirty="0"/>
          </a:p>
        </p:txBody>
      </p:sp>
      <p:sp>
        <p:nvSpPr>
          <p:cNvPr id="20" name="Shape 18"/>
          <p:cNvSpPr/>
          <p:nvPr/>
        </p:nvSpPr>
        <p:spPr>
          <a:xfrm>
            <a:off x="7726680" y="2907792"/>
            <a:ext cx="3959352" cy="1060704"/>
          </a:xfrm>
          <a:prstGeom prst="rect">
            <a:avLst/>
          </a:prstGeom>
          <a:solidFill>
            <a:srgbClr val="F5F8FE"/>
          </a:solidFill>
          <a:ln/>
        </p:spPr>
      </p:sp>
      <p:sp>
        <p:nvSpPr>
          <p:cNvPr id="21" name="Text 19"/>
          <p:cNvSpPr/>
          <p:nvPr/>
        </p:nvSpPr>
        <p:spPr>
          <a:xfrm>
            <a:off x="7854696" y="2971800"/>
            <a:ext cx="3703320" cy="950976"/>
          </a:xfrm>
          <a:prstGeom prst="rect">
            <a:avLst/>
          </a:prstGeom>
          <a:noFill/>
          <a:ln/>
        </p:spPr>
        <p:txBody>
          <a:bodyPr wrap="square" lIns="0" tIns="0" rIns="0" bIns="0" rtlCol="0" anchor="ctr"/>
          <a:lstStyle/>
          <a:p>
            <a:pPr indent="0" marL="0">
              <a:lnSpc>
                <a:spcPct val="108000"/>
              </a:lnSpc>
              <a:buNone/>
            </a:pPr>
            <a:r>
              <a:rPr lang="en-US" sz="1600" b="1" dirty="0">
                <a:solidFill>
                  <a:srgbClr val="0C62FB"/>
                </a:solidFill>
                <a:latin typeface="Arial" pitchFamily="34" charset="0"/>
                <a:ea typeface="Arial" pitchFamily="34" charset="-122"/>
                <a:cs typeface="Arial" pitchFamily="34" charset="-120"/>
              </a:rPr>
              <a:t>83%  </a:t>
            </a:r>
            <a:pPr indent="0" marL="0">
              <a:lnSpc>
                <a:spcPct val="108000"/>
              </a:lnSpc>
              <a:buNone/>
            </a:pPr>
            <a:r>
              <a:rPr lang="en-US" sz="950" dirty="0">
                <a:solidFill>
                  <a:srgbClr val="14171F"/>
                </a:solidFill>
                <a:latin typeface="Arial" pitchFamily="34" charset="0"/>
                <a:ea typeface="Arial" pitchFamily="34" charset="-122"/>
                <a:cs typeface="Arial" pitchFamily="34" charset="-120"/>
              </a:rPr>
              <a:t>of deals failed to lift shareholder returns — while integration scorecards showed green. Dashboards measured activity, not value.</a:t>
            </a:r>
            <a:pPr indent="0" marL="0">
              <a:lnSpc>
                <a:spcPct val="108000"/>
              </a:lnSpc>
              <a:buNone/>
            </a:pPr>
            <a:r>
              <a:rPr lang="en-US" sz="800" dirty="0">
                <a:solidFill>
                  <a:srgbClr val="5C6470"/>
                </a:solidFill>
                <a:latin typeface="Arial" pitchFamily="34" charset="0"/>
                <a:ea typeface="Arial" pitchFamily="34" charset="-122"/>
                <a:cs typeface="Arial" pitchFamily="34" charset="-120"/>
              </a:rPr>
              <a:t>   KPMG</a:t>
            </a:r>
            <a:endParaRPr lang="en-US" sz="1600" dirty="0"/>
          </a:p>
        </p:txBody>
      </p:sp>
      <p:sp>
        <p:nvSpPr>
          <p:cNvPr id="22" name="Shape 20"/>
          <p:cNvSpPr/>
          <p:nvPr/>
        </p:nvSpPr>
        <p:spPr>
          <a:xfrm>
            <a:off x="7726680" y="4078224"/>
            <a:ext cx="3959352" cy="1060704"/>
          </a:xfrm>
          <a:prstGeom prst="rect">
            <a:avLst/>
          </a:prstGeom>
          <a:solidFill>
            <a:srgbClr val="F5F8FE"/>
          </a:solidFill>
          <a:ln/>
        </p:spPr>
      </p:sp>
      <p:sp>
        <p:nvSpPr>
          <p:cNvPr id="23" name="Text 21"/>
          <p:cNvSpPr/>
          <p:nvPr/>
        </p:nvSpPr>
        <p:spPr>
          <a:xfrm>
            <a:off x="7854696" y="4142232"/>
            <a:ext cx="3703320" cy="950976"/>
          </a:xfrm>
          <a:prstGeom prst="rect">
            <a:avLst/>
          </a:prstGeom>
          <a:noFill/>
          <a:ln/>
        </p:spPr>
        <p:txBody>
          <a:bodyPr wrap="square" lIns="0" tIns="0" rIns="0" bIns="0" rtlCol="0" anchor="ctr"/>
          <a:lstStyle/>
          <a:p>
            <a:pPr indent="0" marL="0">
              <a:lnSpc>
                <a:spcPct val="108000"/>
              </a:lnSpc>
              <a:buNone/>
            </a:pPr>
            <a:r>
              <a:rPr lang="en-US" sz="1600" b="1" dirty="0">
                <a:solidFill>
                  <a:srgbClr val="0C62FB"/>
                </a:solidFill>
                <a:latin typeface="Arial" pitchFamily="34" charset="0"/>
                <a:ea typeface="Arial" pitchFamily="34" charset="-122"/>
                <a:cs typeface="Arial" pitchFamily="34" charset="-120"/>
              </a:rPr>
              <a:t>25–35%  </a:t>
            </a:r>
            <a:pPr indent="0" marL="0">
              <a:lnSpc>
                <a:spcPct val="108000"/>
              </a:lnSpc>
              <a:buNone/>
            </a:pPr>
            <a:r>
              <a:rPr lang="en-US" sz="950" dirty="0">
                <a:solidFill>
                  <a:srgbClr val="14171F"/>
                </a:solidFill>
                <a:latin typeface="Arial" pitchFamily="34" charset="0"/>
                <a:ea typeface="Arial" pitchFamily="34" charset="-122"/>
                <a:cs typeface="Arial" pitchFamily="34" charset="-120"/>
              </a:rPr>
              <a:t>of announced revenue synergies actually land, against 70–85% for cost — and they take twice as long.</a:t>
            </a:r>
            <a:pPr indent="0" marL="0">
              <a:lnSpc>
                <a:spcPct val="108000"/>
              </a:lnSpc>
              <a:buNone/>
            </a:pPr>
            <a:r>
              <a:rPr lang="en-US" sz="800" dirty="0">
                <a:solidFill>
                  <a:srgbClr val="5C6470"/>
                </a:solidFill>
                <a:latin typeface="Arial" pitchFamily="34" charset="0"/>
                <a:ea typeface="Arial" pitchFamily="34" charset="-122"/>
                <a:cs typeface="Arial" pitchFamily="34" charset="-120"/>
              </a:rPr>
              <a:t>   McKinsey / Bain</a:t>
            </a:r>
            <a:endParaRPr lang="en-US" sz="1600" dirty="0"/>
          </a:p>
        </p:txBody>
      </p:sp>
      <p:sp>
        <p:nvSpPr>
          <p:cNvPr id="24" name="Shape 22"/>
          <p:cNvSpPr/>
          <p:nvPr/>
        </p:nvSpPr>
        <p:spPr>
          <a:xfrm>
            <a:off x="7726680" y="5248656"/>
            <a:ext cx="3959352" cy="566928"/>
          </a:xfrm>
          <a:prstGeom prst="rect">
            <a:avLst/>
          </a:prstGeom>
          <a:solidFill>
            <a:srgbClr val="14171F"/>
          </a:solidFill>
          <a:ln/>
        </p:spPr>
      </p:sp>
      <p:sp>
        <p:nvSpPr>
          <p:cNvPr id="25" name="Text 23"/>
          <p:cNvSpPr/>
          <p:nvPr/>
        </p:nvSpPr>
        <p:spPr>
          <a:xfrm>
            <a:off x="7854696" y="5294376"/>
            <a:ext cx="3703320" cy="493776"/>
          </a:xfrm>
          <a:prstGeom prst="rect">
            <a:avLst/>
          </a:prstGeom>
          <a:noFill/>
          <a:ln/>
        </p:spPr>
        <p:txBody>
          <a:bodyPr wrap="square" lIns="0" tIns="0" rIns="0" bIns="0" rtlCol="0" anchor="ctr"/>
          <a:lstStyle/>
          <a:p>
            <a:pPr indent="0" marL="0">
              <a:lnSpc>
                <a:spcPct val="108000"/>
              </a:lnSpc>
              <a:buNone/>
            </a:pPr>
            <a:r>
              <a:rPr lang="en-US" sz="950" b="1" dirty="0">
                <a:solidFill>
                  <a:srgbClr val="FFFFFF"/>
                </a:solidFill>
                <a:latin typeface="Arial" pitchFamily="34" charset="0"/>
                <a:ea typeface="Arial" pitchFamily="34" charset="-122"/>
                <a:cs typeface="Arial" pitchFamily="34" charset="-120"/>
              </a:rPr>
              <a:t>Holds now average six-plus years — portfolio value work recurs; it isn't deal-cycle dependent.</a:t>
            </a:r>
            <a:endParaRPr lang="en-US" sz="950" dirty="0"/>
          </a:p>
        </p:txBody>
      </p:sp>
      <p:sp>
        <p:nvSpPr>
          <p:cNvPr id="26" name="Text 24"/>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The strategy firms design the integration office; we can build its data pipes and run the delivery that actually sets the synergy clock.</a:t>
            </a:r>
            <a:endParaRPr lang="en-US" sz="900" dirty="0"/>
          </a:p>
        </p:txBody>
      </p:sp>
      <p:sp>
        <p:nvSpPr>
          <p:cNvPr id="27" name="Text 25"/>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Sources: Bain synergy analysis (31,000 companies) and Global PE Report 2026; KPMG M&amp;A shareholder-return study via L.E.K.; McKinsey revenue synergies research; Alvarez &amp; Marsal North America Value Creation Report 2026 (100-day deployment). Who buys: corporate development, the integration lead, PE operating partners, the CFO.</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POSITIONING  |  WHY US</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13</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Strategy firms report value, vendors promise it — we build where it gets measured</a:t>
            </a:r>
            <a:endParaRPr lang="en-US" sz="2200" dirty="0"/>
          </a:p>
        </p:txBody>
      </p:sp>
      <p:sp>
        <p:nvSpPr>
          <p:cNvPr id="7" name="Shape 5"/>
          <p:cNvSpPr/>
          <p:nvPr/>
        </p:nvSpPr>
        <p:spPr>
          <a:xfrm>
            <a:off x="502920" y="1463040"/>
            <a:ext cx="3611880" cy="384048"/>
          </a:xfrm>
          <a:prstGeom prst="rect">
            <a:avLst/>
          </a:prstGeom>
          <a:solidFill>
            <a:srgbClr val="D8DCE3"/>
          </a:solidFill>
          <a:ln/>
        </p:spPr>
      </p:sp>
      <p:sp>
        <p:nvSpPr>
          <p:cNvPr id="8" name="Text 6"/>
          <p:cNvSpPr/>
          <p:nvPr/>
        </p:nvSpPr>
        <p:spPr>
          <a:xfrm>
            <a:off x="612648" y="1463040"/>
            <a:ext cx="3392424" cy="384048"/>
          </a:xfrm>
          <a:prstGeom prst="rect">
            <a:avLst/>
          </a:prstGeom>
          <a:noFill/>
          <a:ln/>
        </p:spPr>
        <p:txBody>
          <a:bodyPr wrap="square" lIns="0" tIns="0" rIns="0" bIns="0" rtlCol="0" anchor="ctr"/>
          <a:lstStyle/>
          <a:p>
            <a:pPr indent="0" marL="0">
              <a:buNone/>
            </a:pPr>
            <a:r>
              <a:rPr lang="en-US" sz="1050" b="1" spc="150" kern="0" dirty="0">
                <a:solidFill>
                  <a:srgbClr val="14171F"/>
                </a:solidFill>
                <a:latin typeface="Arial" pitchFamily="34" charset="0"/>
                <a:ea typeface="Arial" pitchFamily="34" charset="-122"/>
                <a:cs typeface="Arial" pitchFamily="34" charset="-120"/>
              </a:rPr>
              <a:t>STRATEGY FIRMS</a:t>
            </a:r>
            <a:endParaRPr lang="en-US" sz="1050" dirty="0"/>
          </a:p>
        </p:txBody>
      </p:sp>
      <p:sp>
        <p:nvSpPr>
          <p:cNvPr id="9" name="Shape 7"/>
          <p:cNvSpPr/>
          <p:nvPr/>
        </p:nvSpPr>
        <p:spPr>
          <a:xfrm>
            <a:off x="502920" y="1847088"/>
            <a:ext cx="3611880" cy="3200400"/>
          </a:xfrm>
          <a:prstGeom prst="rect">
            <a:avLst/>
          </a:prstGeom>
          <a:solidFill>
            <a:srgbClr val="EFF1F4"/>
          </a:solidFill>
          <a:ln/>
        </p:spPr>
      </p:sp>
      <p:sp>
        <p:nvSpPr>
          <p:cNvPr id="10" name="Text 8"/>
          <p:cNvSpPr/>
          <p:nvPr/>
        </p:nvSpPr>
        <p:spPr>
          <a:xfrm>
            <a:off x="649224" y="2029968"/>
            <a:ext cx="3319272" cy="2907792"/>
          </a:xfrm>
          <a:prstGeom prst="rect">
            <a:avLst/>
          </a:prstGeom>
          <a:noFill/>
          <a:ln/>
        </p:spPr>
        <p:txBody>
          <a:bodyPr wrap="square" lIns="0" tIns="0" rIns="0" bIns="0" rtlCol="0" anchor="t"/>
          <a:lstStyle/>
          <a:p>
            <a:pPr marL="127000" indent="-127000">
              <a:lnSpc>
                <a:spcPct val="114000"/>
              </a:lnSpc>
              <a:spcAft>
                <a:spcPts val="1000"/>
              </a:spcAft>
              <a:buSzPct val="100000"/>
              <a:buChar char="–"/>
            </a:pPr>
            <a:r>
              <a:rPr lang="en-US" sz="1050" dirty="0">
                <a:solidFill>
                  <a:srgbClr val="3A4150"/>
                </a:solidFill>
                <a:latin typeface="Arial" pitchFamily="34" charset="0"/>
                <a:ea typeface="Arial" pitchFamily="34" charset="-122"/>
                <a:cs typeface="Arial" pitchFamily="34" charset="-120"/>
              </a:rPr>
              <a:t>Sell the framework and the office — the thinking is genuinely good.</a:t>
            </a:r>
            <a:endParaRPr lang="en-US" sz="1050" dirty="0"/>
          </a:p>
          <a:p>
            <a:pPr marL="127000" indent="-127000">
              <a:lnSpc>
                <a:spcPct val="114000"/>
              </a:lnSpc>
              <a:spcAft>
                <a:spcPts val="1000"/>
              </a:spcAft>
              <a:buSzPct val="100000"/>
              <a:buChar char="–"/>
            </a:pPr>
            <a:r>
              <a:rPr lang="en-US" sz="1050" dirty="0">
                <a:solidFill>
                  <a:srgbClr val="3A4150"/>
                </a:solidFill>
                <a:latin typeface="Arial" pitchFamily="34" charset="0"/>
                <a:ea typeface="Arial" pitchFamily="34" charset="-122"/>
                <a:cs typeface="Arial" pitchFamily="34" charset="-120"/>
              </a:rPr>
              <a:t>Tracking runs on manually reported programme status: a reporting layer on top of delivery.</a:t>
            </a:r>
            <a:endParaRPr lang="en-US" sz="1050" dirty="0"/>
          </a:p>
          <a:p>
            <a:pPr marL="127000" indent="-127000">
              <a:lnSpc>
                <a:spcPct val="114000"/>
              </a:lnSpc>
              <a:spcAft>
                <a:spcPts val="1000"/>
              </a:spcAft>
              <a:buSzPct val="100000"/>
              <a:buChar char="–"/>
            </a:pPr>
            <a:r>
              <a:rPr lang="en-US" sz="1050" dirty="0">
                <a:solidFill>
                  <a:srgbClr val="3A4150"/>
                </a:solidFill>
                <a:latin typeface="Arial" pitchFamily="34" charset="0"/>
                <a:ea typeface="Arial" pitchFamily="34" charset="-122"/>
                <a:cs typeface="Arial" pitchFamily="34" charset="-120"/>
              </a:rPr>
              <a:t>Priced and staffed for mega-programmes; leave when the deck is done.</a:t>
            </a:r>
            <a:endParaRPr lang="en-US" sz="1050" dirty="0"/>
          </a:p>
        </p:txBody>
      </p:sp>
      <p:sp>
        <p:nvSpPr>
          <p:cNvPr id="11" name="Shape 9"/>
          <p:cNvSpPr/>
          <p:nvPr/>
        </p:nvSpPr>
        <p:spPr>
          <a:xfrm>
            <a:off x="4288536" y="1463040"/>
            <a:ext cx="3611880" cy="384048"/>
          </a:xfrm>
          <a:prstGeom prst="rect">
            <a:avLst/>
          </a:prstGeom>
          <a:solidFill>
            <a:srgbClr val="D8DCE3"/>
          </a:solidFill>
          <a:ln/>
        </p:spPr>
      </p:sp>
      <p:sp>
        <p:nvSpPr>
          <p:cNvPr id="12" name="Text 10"/>
          <p:cNvSpPr/>
          <p:nvPr/>
        </p:nvSpPr>
        <p:spPr>
          <a:xfrm>
            <a:off x="4398264" y="1463040"/>
            <a:ext cx="3392424" cy="384048"/>
          </a:xfrm>
          <a:prstGeom prst="rect">
            <a:avLst/>
          </a:prstGeom>
          <a:noFill/>
          <a:ln/>
        </p:spPr>
        <p:txBody>
          <a:bodyPr wrap="square" lIns="0" tIns="0" rIns="0" bIns="0" rtlCol="0" anchor="ctr"/>
          <a:lstStyle/>
          <a:p>
            <a:pPr indent="0" marL="0">
              <a:buNone/>
            </a:pPr>
            <a:r>
              <a:rPr lang="en-US" sz="1050" b="1" spc="150" kern="0" dirty="0">
                <a:solidFill>
                  <a:srgbClr val="14171F"/>
                </a:solidFill>
                <a:latin typeface="Arial" pitchFamily="34" charset="0"/>
                <a:ea typeface="Arial" pitchFamily="34" charset="-122"/>
                <a:cs typeface="Arial" pitchFamily="34" charset="-120"/>
              </a:rPr>
              <a:t>PLATFORM VENDORS</a:t>
            </a:r>
            <a:endParaRPr lang="en-US" sz="1050" dirty="0"/>
          </a:p>
        </p:txBody>
      </p:sp>
      <p:sp>
        <p:nvSpPr>
          <p:cNvPr id="13" name="Shape 11"/>
          <p:cNvSpPr/>
          <p:nvPr/>
        </p:nvSpPr>
        <p:spPr>
          <a:xfrm>
            <a:off x="4288536" y="1847088"/>
            <a:ext cx="3611880" cy="3200400"/>
          </a:xfrm>
          <a:prstGeom prst="rect">
            <a:avLst/>
          </a:prstGeom>
          <a:solidFill>
            <a:srgbClr val="EFF1F4"/>
          </a:solidFill>
          <a:ln/>
        </p:spPr>
      </p:sp>
      <p:sp>
        <p:nvSpPr>
          <p:cNvPr id="14" name="Text 12"/>
          <p:cNvSpPr/>
          <p:nvPr/>
        </p:nvSpPr>
        <p:spPr>
          <a:xfrm>
            <a:off x="4434840" y="2029968"/>
            <a:ext cx="3319272" cy="2907792"/>
          </a:xfrm>
          <a:prstGeom prst="rect">
            <a:avLst/>
          </a:prstGeom>
          <a:noFill/>
          <a:ln/>
        </p:spPr>
        <p:txBody>
          <a:bodyPr wrap="square" lIns="0" tIns="0" rIns="0" bIns="0" rtlCol="0" anchor="t"/>
          <a:lstStyle/>
          <a:p>
            <a:pPr marL="127000" indent="-127000">
              <a:lnSpc>
                <a:spcPct val="114000"/>
              </a:lnSpc>
              <a:spcAft>
                <a:spcPts val="1000"/>
              </a:spcAft>
              <a:buSzPct val="100000"/>
              <a:buChar char="–"/>
            </a:pPr>
            <a:r>
              <a:rPr lang="en-US" sz="1050" dirty="0">
                <a:solidFill>
                  <a:srgbClr val="3A4150"/>
                </a:solidFill>
                <a:latin typeface="Arial" pitchFamily="34" charset="0"/>
                <a:ea typeface="Arial" pitchFamily="34" charset="-122"/>
                <a:cs typeface="Arial" pitchFamily="34" charset="-120"/>
              </a:rPr>
              <a:t>Value-engineering teams build a strong case — for buying more of their platform.</a:t>
            </a:r>
            <a:endParaRPr lang="en-US" sz="1050" dirty="0"/>
          </a:p>
          <a:p>
            <a:pPr marL="127000" indent="-127000">
              <a:lnSpc>
                <a:spcPct val="114000"/>
              </a:lnSpc>
              <a:spcAft>
                <a:spcPts val="1000"/>
              </a:spcAft>
              <a:buSzPct val="100000"/>
              <a:buChar char="–"/>
            </a:pPr>
            <a:r>
              <a:rPr lang="en-US" sz="1050" dirty="0">
                <a:solidFill>
                  <a:srgbClr val="3A4150"/>
                </a:solidFill>
                <a:latin typeface="Arial" pitchFamily="34" charset="0"/>
                <a:ea typeface="Arial" pitchFamily="34" charset="-122"/>
                <a:cs typeface="Arial" pitchFamily="34" charset="-120"/>
              </a:rPr>
              <a:t>Single-platform by design; the client's estate isn't.</a:t>
            </a:r>
            <a:endParaRPr lang="en-US" sz="1050" dirty="0"/>
          </a:p>
          <a:p>
            <a:pPr marL="127000" indent="-127000">
              <a:lnSpc>
                <a:spcPct val="114000"/>
              </a:lnSpc>
              <a:spcAft>
                <a:spcPts val="1000"/>
              </a:spcAft>
              <a:buSzPct val="100000"/>
              <a:buChar char="–"/>
            </a:pPr>
            <a:r>
              <a:rPr lang="en-US" sz="1050" dirty="0">
                <a:solidFill>
                  <a:srgbClr val="3A4150"/>
                </a:solidFill>
                <a:latin typeface="Arial" pitchFamily="34" charset="0"/>
                <a:ea typeface="Arial" pitchFamily="34" charset="-122"/>
                <a:cs typeface="Arial" pitchFamily="34" charset="-120"/>
              </a:rPr>
              <a:t>Step away once the deal closes — exactly when realisation starts.</a:t>
            </a:r>
            <a:endParaRPr lang="en-US" sz="1050" dirty="0"/>
          </a:p>
        </p:txBody>
      </p:sp>
      <p:sp>
        <p:nvSpPr>
          <p:cNvPr id="15" name="Shape 13"/>
          <p:cNvSpPr/>
          <p:nvPr/>
        </p:nvSpPr>
        <p:spPr>
          <a:xfrm>
            <a:off x="8074152" y="1463040"/>
            <a:ext cx="3611880" cy="384048"/>
          </a:xfrm>
          <a:prstGeom prst="rect">
            <a:avLst/>
          </a:prstGeom>
          <a:solidFill>
            <a:srgbClr val="0C62FB"/>
          </a:solidFill>
          <a:ln/>
        </p:spPr>
      </p:sp>
      <p:sp>
        <p:nvSpPr>
          <p:cNvPr id="16" name="Text 14"/>
          <p:cNvSpPr/>
          <p:nvPr/>
        </p:nvSpPr>
        <p:spPr>
          <a:xfrm>
            <a:off x="8183880" y="1463040"/>
            <a:ext cx="3392424" cy="384048"/>
          </a:xfrm>
          <a:prstGeom prst="rect">
            <a:avLst/>
          </a:prstGeom>
          <a:noFill/>
          <a:ln/>
        </p:spPr>
        <p:txBody>
          <a:bodyPr wrap="square" lIns="0" tIns="0" rIns="0" bIns="0" rtlCol="0" anchor="ctr"/>
          <a:lstStyle/>
          <a:p>
            <a:pPr indent="0" marL="0">
              <a:buNone/>
            </a:pPr>
            <a:r>
              <a:rPr lang="en-US" sz="1050" b="1" spc="150" kern="0" dirty="0">
                <a:solidFill>
                  <a:srgbClr val="FFFFFF"/>
                </a:solidFill>
                <a:latin typeface="Arial" pitchFamily="34" charset="0"/>
                <a:ea typeface="Arial" pitchFamily="34" charset="-122"/>
                <a:cs typeface="Arial" pitchFamily="34" charset="-120"/>
              </a:rPr>
              <a:t>SLALOM</a:t>
            </a:r>
            <a:endParaRPr lang="en-US" sz="1050" dirty="0"/>
          </a:p>
        </p:txBody>
      </p:sp>
      <p:sp>
        <p:nvSpPr>
          <p:cNvPr id="17" name="Shape 15"/>
          <p:cNvSpPr/>
          <p:nvPr/>
        </p:nvSpPr>
        <p:spPr>
          <a:xfrm>
            <a:off x="8074152" y="1847088"/>
            <a:ext cx="3611880" cy="3200400"/>
          </a:xfrm>
          <a:prstGeom prst="rect">
            <a:avLst/>
          </a:prstGeom>
          <a:solidFill>
            <a:srgbClr val="E8F0FE"/>
          </a:solidFill>
          <a:ln/>
        </p:spPr>
      </p:sp>
      <p:sp>
        <p:nvSpPr>
          <p:cNvPr id="18" name="Text 16"/>
          <p:cNvSpPr/>
          <p:nvPr/>
        </p:nvSpPr>
        <p:spPr>
          <a:xfrm>
            <a:off x="8220456" y="2029968"/>
            <a:ext cx="3319272" cy="2907792"/>
          </a:xfrm>
          <a:prstGeom prst="rect">
            <a:avLst/>
          </a:prstGeom>
          <a:noFill/>
          <a:ln/>
        </p:spPr>
        <p:txBody>
          <a:bodyPr wrap="square" lIns="0" tIns="0" rIns="0" bIns="0" rtlCol="0" anchor="t"/>
          <a:lstStyle/>
          <a:p>
            <a:pPr marL="127000" indent="-127000">
              <a:lnSpc>
                <a:spcPct val="114000"/>
              </a:lnSpc>
              <a:spcAft>
                <a:spcPts val="1000"/>
              </a:spcAft>
              <a:buSzPct val="100000"/>
              <a:buChar char="–"/>
            </a:pPr>
            <a:r>
              <a:rPr lang="en-US" sz="1050" b="1" dirty="0">
                <a:solidFill>
                  <a:srgbClr val="14171F"/>
                </a:solidFill>
                <a:latin typeface="Arial" pitchFamily="34" charset="0"/>
                <a:ea typeface="Arial" pitchFamily="34" charset="-122"/>
                <a:cs typeface="Arial" pitchFamily="34" charset="-120"/>
              </a:rPr>
              <a:t>Inside the build — value tracking wires into the platform's own data, not status reports.</a:t>
            </a:r>
            <a:endParaRPr lang="en-US" sz="1050" dirty="0"/>
          </a:p>
          <a:p>
            <a:pPr marL="127000" indent="-127000">
              <a:lnSpc>
                <a:spcPct val="114000"/>
              </a:lnSpc>
              <a:spcAft>
                <a:spcPts val="1000"/>
              </a:spcAft>
              <a:buSzPct val="100000"/>
              <a:buChar char="–"/>
            </a:pPr>
            <a:r>
              <a:rPr lang="en-US" sz="1050" b="1" dirty="0">
                <a:solidFill>
                  <a:srgbClr val="14171F"/>
                </a:solidFill>
                <a:latin typeface="Arial" pitchFamily="34" charset="0"/>
                <a:ea typeface="Arial" pitchFamily="34" charset="-122"/>
                <a:cs typeface="Arial" pitchFamily="34" charset="-120"/>
              </a:rPr>
              <a:t>Across AWS, Salesforce, Snowflake and Databricks as one estate.</a:t>
            </a:r>
            <a:endParaRPr lang="en-US" sz="1050" dirty="0"/>
          </a:p>
          <a:p>
            <a:pPr marL="127000" indent="-127000">
              <a:lnSpc>
                <a:spcPct val="114000"/>
              </a:lnSpc>
              <a:spcAft>
                <a:spcPts val="1000"/>
              </a:spcAft>
              <a:buSzPct val="100000"/>
              <a:buChar char="–"/>
            </a:pPr>
            <a:r>
              <a:rPr lang="en-US" sz="1050" b="1" dirty="0">
                <a:solidFill>
                  <a:srgbClr val="14171F"/>
                </a:solidFill>
                <a:latin typeface="Arial" pitchFamily="34" charset="0"/>
                <a:ea typeface="Arial" pitchFamily="34" charset="-122"/>
                <a:cs typeface="Arial" pitchFamily="34" charset="-120"/>
              </a:rPr>
              <a:t>Present through delivery and after go-live — where value is actually won or lost.</a:t>
            </a:r>
            <a:endParaRPr lang="en-US" sz="1050" dirty="0"/>
          </a:p>
        </p:txBody>
      </p:sp>
      <p:sp>
        <p:nvSpPr>
          <p:cNvPr id="19" name="Shape 17"/>
          <p:cNvSpPr/>
          <p:nvPr/>
        </p:nvSpPr>
        <p:spPr>
          <a:xfrm>
            <a:off x="502920" y="5212080"/>
            <a:ext cx="11183112" cy="658368"/>
          </a:xfrm>
          <a:prstGeom prst="rect">
            <a:avLst/>
          </a:prstGeom>
          <a:solidFill>
            <a:srgbClr val="F5F8FE"/>
          </a:solidFill>
          <a:ln/>
        </p:spPr>
      </p:sp>
      <p:sp>
        <p:nvSpPr>
          <p:cNvPr id="20" name="Text 18"/>
          <p:cNvSpPr/>
          <p:nvPr/>
        </p:nvSpPr>
        <p:spPr>
          <a:xfrm>
            <a:off x="649224" y="5266944"/>
            <a:ext cx="10890504" cy="548640"/>
          </a:xfrm>
          <a:prstGeom prst="rect">
            <a:avLst/>
          </a:prstGeom>
          <a:noFill/>
          <a:ln/>
        </p:spPr>
        <p:txBody>
          <a:bodyPr wrap="square" lIns="0" tIns="0" rIns="0" bIns="0" rtlCol="0" anchor="ctr"/>
          <a:lstStyle/>
          <a:p>
            <a:pPr indent="0" marL="0">
              <a:lnSpc>
                <a:spcPct val="112000"/>
              </a:lnSpc>
              <a:buNone/>
            </a:pPr>
            <a:r>
              <a:rPr lang="en-US" sz="1000" b="1" dirty="0">
                <a:solidFill>
                  <a:srgbClr val="14171F"/>
                </a:solidFill>
                <a:latin typeface="Arial" pitchFamily="34" charset="0"/>
                <a:ea typeface="Arial" pitchFamily="34" charset="-122"/>
                <a:cs typeface="Arial" pitchFamily="34" charset="-120"/>
              </a:rPr>
              <a:t>Where we borrow rather than compete:  </a:t>
            </a:r>
            <a:pPr indent="0" marL="0">
              <a:lnSpc>
                <a:spcPct val="112000"/>
              </a:lnSpc>
              <a:buNone/>
            </a:pPr>
            <a:r>
              <a:rPr lang="en-US" sz="1000" dirty="0">
                <a:solidFill>
                  <a:srgbClr val="14171F"/>
                </a:solidFill>
                <a:latin typeface="Arial" pitchFamily="34" charset="0"/>
                <a:ea typeface="Arial" pitchFamily="34" charset="-122"/>
                <a:cs typeface="Arial" pitchFamily="34" charset="-120"/>
              </a:rPr>
              <a:t>the strategy firms own the framework credibility, and that's fine — we don't out-theorise them, we out-execute them. The methods here are established practice; the difference is that we install them inside delivery and leave them running.</a:t>
            </a:r>
            <a:endParaRPr lang="en-US" sz="1000" dirty="0"/>
          </a:p>
        </p:txBody>
      </p:sp>
      <p:sp>
        <p:nvSpPr>
          <p:cNvPr id="21" name="Text 19"/>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Nobody else is positioned to make value tracking live data instead of status reporting. That is the sentence to remember from this deck.</a:t>
            </a:r>
            <a:endParaRPr lang="en-US" sz="900" dirty="0"/>
          </a:p>
        </p:txBody>
      </p:sp>
      <p:sp>
        <p:nvSpPr>
          <p:cNvPr id="22" name="Text 20"/>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Competitor picture from published offerings, 2025–2026: McKinsey Value Assurance, Bain Results Delivery, PwC Value Realization Managed Services, Accenture Transformation Office, Capgemini and Kyndryl value offices; SAP, ServiceNow, Salesforce and Snowflake in-house value-engineering teams.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GO TO MARKET  |  MOTIONS AND ENABLEMENT</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14</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We go to market through work we already have — client partners open the door with one question</a:t>
            </a:r>
            <a:endParaRPr lang="en-US" sz="2200" dirty="0"/>
          </a:p>
        </p:txBody>
      </p:sp>
      <p:sp>
        <p:nvSpPr>
          <p:cNvPr id="7" name="Text 5"/>
          <p:cNvSpPr/>
          <p:nvPr/>
        </p:nvSpPr>
        <p:spPr>
          <a:xfrm>
            <a:off x="502920" y="1426464"/>
            <a:ext cx="4937760" cy="256032"/>
          </a:xfrm>
          <a:prstGeom prst="rect">
            <a:avLst/>
          </a:prstGeom>
          <a:noFill/>
          <a:ln/>
        </p:spPr>
        <p:txBody>
          <a:bodyPr wrap="square" lIns="0" tIns="0" rIns="0" bIns="0" rtlCol="0" anchor="ctr"/>
          <a:lstStyle/>
          <a:p>
            <a:pPr indent="0" marL="0">
              <a:buNone/>
            </a:pPr>
            <a:r>
              <a:rPr lang="en-US" sz="900" b="1" spc="200" kern="0" dirty="0">
                <a:solidFill>
                  <a:srgbClr val="0C62FB"/>
                </a:solidFill>
                <a:latin typeface="Arial" pitchFamily="34" charset="0"/>
                <a:ea typeface="Arial" pitchFamily="34" charset="-122"/>
                <a:cs typeface="Arial" pitchFamily="34" charset="-120"/>
              </a:rPr>
              <a:t>THREE MOTIONS</a:t>
            </a:r>
            <a:endParaRPr lang="en-US" sz="900" dirty="0"/>
          </a:p>
        </p:txBody>
      </p:sp>
      <p:sp>
        <p:nvSpPr>
          <p:cNvPr id="8" name="Shape 6"/>
          <p:cNvSpPr/>
          <p:nvPr/>
        </p:nvSpPr>
        <p:spPr>
          <a:xfrm>
            <a:off x="502920" y="1773936"/>
            <a:ext cx="246888" cy="246888"/>
          </a:xfrm>
          <a:prstGeom prst="ellipse">
            <a:avLst/>
          </a:prstGeom>
          <a:solidFill>
            <a:srgbClr val="0C62FB"/>
          </a:solidFill>
          <a:ln/>
        </p:spPr>
      </p:sp>
      <p:sp>
        <p:nvSpPr>
          <p:cNvPr id="9" name="Text 7"/>
          <p:cNvSpPr/>
          <p:nvPr/>
        </p:nvSpPr>
        <p:spPr>
          <a:xfrm>
            <a:off x="484632" y="1760220"/>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886968" y="1737360"/>
            <a:ext cx="4553712" cy="960120"/>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Live engagements.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Add a value case or value tracking to a programme already running. Lowest friction, fastest proof, inside accounts we already hold.</a:t>
            </a:r>
            <a:endParaRPr lang="en-US" sz="1050" dirty="0"/>
          </a:p>
        </p:txBody>
      </p:sp>
      <p:sp>
        <p:nvSpPr>
          <p:cNvPr id="11" name="Shape 9"/>
          <p:cNvSpPr/>
          <p:nvPr/>
        </p:nvSpPr>
        <p:spPr>
          <a:xfrm>
            <a:off x="502920" y="2834640"/>
            <a:ext cx="246888" cy="246888"/>
          </a:xfrm>
          <a:prstGeom prst="ellipse">
            <a:avLst/>
          </a:prstGeom>
          <a:solidFill>
            <a:srgbClr val="0C62FB"/>
          </a:solidFill>
          <a:ln/>
        </p:spPr>
      </p:sp>
      <p:sp>
        <p:nvSpPr>
          <p:cNvPr id="12" name="Text 10"/>
          <p:cNvSpPr/>
          <p:nvPr/>
        </p:nvSpPr>
        <p:spPr>
          <a:xfrm>
            <a:off x="484632" y="2820924"/>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886968" y="2798064"/>
            <a:ext cx="4553712" cy="960120"/>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Partner-funded assessments.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The platform value assessment as a first conversation with new or dormant accounts — funded, fixed, and finished in weeks.</a:t>
            </a:r>
            <a:endParaRPr lang="en-US" sz="1050" dirty="0"/>
          </a:p>
        </p:txBody>
      </p:sp>
      <p:sp>
        <p:nvSpPr>
          <p:cNvPr id="14" name="Shape 12"/>
          <p:cNvSpPr/>
          <p:nvPr/>
        </p:nvSpPr>
        <p:spPr>
          <a:xfrm>
            <a:off x="502920" y="3895344"/>
            <a:ext cx="246888" cy="246888"/>
          </a:xfrm>
          <a:prstGeom prst="ellipse">
            <a:avLst/>
          </a:prstGeom>
          <a:solidFill>
            <a:srgbClr val="0C62FB"/>
          </a:solidFill>
          <a:ln/>
        </p:spPr>
      </p:sp>
      <p:sp>
        <p:nvSpPr>
          <p:cNvPr id="15" name="Text 13"/>
          <p:cNvSpPr/>
          <p:nvPr/>
        </p:nvSpPr>
        <p:spPr>
          <a:xfrm>
            <a:off x="484632" y="3881628"/>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886968" y="3858768"/>
            <a:ext cx="4553712" cy="960120"/>
          </a:xfrm>
          <a:prstGeom prst="rect">
            <a:avLst/>
          </a:prstGeom>
          <a:noFill/>
          <a:ln/>
        </p:spPr>
        <p:txBody>
          <a:bodyPr wrap="square" lIns="0" tIns="0" rIns="0" bIns="0" rtlCol="0" anchor="t"/>
          <a:lstStyle/>
          <a:p>
            <a:pPr indent="0" marL="0">
              <a:lnSpc>
                <a:spcPct val="112000"/>
              </a:lnSpc>
              <a:buNone/>
            </a:pPr>
            <a:r>
              <a:rPr lang="en-US" sz="1050" b="1" dirty="0">
                <a:solidFill>
                  <a:srgbClr val="14171F"/>
                </a:solidFill>
                <a:latin typeface="Arial" pitchFamily="34" charset="0"/>
                <a:ea typeface="Arial" pitchFamily="34" charset="-122"/>
                <a:cs typeface="Arial" pitchFamily="34" charset="-120"/>
              </a:rPr>
              <a:t>Deal and pressure moments.  </a:t>
            </a:r>
            <a:pPr indent="0" marL="0">
              <a:lnSpc>
                <a:spcPct val="112000"/>
              </a:lnSpc>
              <a:buNone/>
            </a:pPr>
            <a:r>
              <a:rPr lang="en-US" sz="1050" dirty="0">
                <a:solidFill>
                  <a:srgbClr val="14171F"/>
                </a:solidFill>
                <a:latin typeface="Arial" pitchFamily="34" charset="0"/>
                <a:ea typeface="Arial" pitchFamily="34" charset="-122"/>
                <a:cs typeface="Arial" pitchFamily="34" charset="-120"/>
              </a:rPr>
              <a:t>A merger announcement, new PE ownership, a new CFO, a board asking for the AI number: each is a timed, legitimate reason to call.</a:t>
            </a:r>
            <a:endParaRPr lang="en-US" sz="1050" dirty="0"/>
          </a:p>
        </p:txBody>
      </p:sp>
      <p:sp>
        <p:nvSpPr>
          <p:cNvPr id="17" name="Shape 15"/>
          <p:cNvSpPr/>
          <p:nvPr/>
        </p:nvSpPr>
        <p:spPr>
          <a:xfrm>
            <a:off x="502920" y="4974336"/>
            <a:ext cx="4937760" cy="822960"/>
          </a:xfrm>
          <a:prstGeom prst="rect">
            <a:avLst/>
          </a:prstGeom>
          <a:solidFill>
            <a:srgbClr val="14171F"/>
          </a:solidFill>
          <a:ln/>
        </p:spPr>
      </p:sp>
      <p:sp>
        <p:nvSpPr>
          <p:cNvPr id="18" name="Text 16"/>
          <p:cNvSpPr/>
          <p:nvPr/>
        </p:nvSpPr>
        <p:spPr>
          <a:xfrm>
            <a:off x="630936" y="5047488"/>
            <a:ext cx="4681728" cy="694944"/>
          </a:xfrm>
          <a:prstGeom prst="rect">
            <a:avLst/>
          </a:prstGeom>
          <a:noFill/>
          <a:ln/>
        </p:spPr>
        <p:txBody>
          <a:bodyPr wrap="square" lIns="0" tIns="0" rIns="0" bIns="0" rtlCol="0" anchor="ctr"/>
          <a:lstStyle/>
          <a:p>
            <a:pPr indent="0" marL="0">
              <a:lnSpc>
                <a:spcPct val="110000"/>
              </a:lnSpc>
              <a:buNone/>
            </a:pPr>
            <a:r>
              <a:rPr lang="en-US" sz="950" b="1" dirty="0">
                <a:solidFill>
                  <a:srgbClr val="FFFFFF"/>
                </a:solidFill>
                <a:latin typeface="Arial" pitchFamily="34" charset="0"/>
                <a:ea typeface="Arial" pitchFamily="34" charset="-122"/>
                <a:cs typeface="Arial" pitchFamily="34" charset="-120"/>
              </a:rPr>
              <a:t>Enablement: one 45-minute session with client partners, plus a one-pager per offering. The goal is recognition, not selling — they spot the moment, we take the meeting.</a:t>
            </a:r>
            <a:endParaRPr lang="en-US" sz="950" dirty="0"/>
          </a:p>
        </p:txBody>
      </p:sp>
      <p:sp>
        <p:nvSpPr>
          <p:cNvPr id="19" name="Text 17"/>
          <p:cNvSpPr/>
          <p:nvPr/>
        </p:nvSpPr>
        <p:spPr>
          <a:xfrm>
            <a:off x="5715000" y="1426464"/>
            <a:ext cx="5971032" cy="256032"/>
          </a:xfrm>
          <a:prstGeom prst="rect">
            <a:avLst/>
          </a:prstGeom>
          <a:noFill/>
          <a:ln/>
        </p:spPr>
        <p:txBody>
          <a:bodyPr wrap="square" lIns="0" tIns="0" rIns="0" bIns="0" rtlCol="0" anchor="ctr"/>
          <a:lstStyle/>
          <a:p>
            <a:pPr indent="0" marL="0">
              <a:buNone/>
            </a:pPr>
            <a:r>
              <a:rPr lang="en-US" sz="900" b="1" spc="150" kern="0" dirty="0">
                <a:solidFill>
                  <a:srgbClr val="0C62FB"/>
                </a:solidFill>
                <a:latin typeface="Arial" pitchFamily="34" charset="0"/>
                <a:ea typeface="Arial" pitchFamily="34" charset="-122"/>
                <a:cs typeface="Arial" pitchFamily="34" charset="-120"/>
              </a:rPr>
              <a:t>WHEN A CLIENT SAYS…  →  THE DOOR IT OPENS</a:t>
            </a:r>
            <a:endParaRPr lang="en-US" sz="900" dirty="0"/>
          </a:p>
        </p:txBody>
      </p:sp>
      <p:sp>
        <p:nvSpPr>
          <p:cNvPr id="20" name="Shape 18"/>
          <p:cNvSpPr/>
          <p:nvPr/>
        </p:nvSpPr>
        <p:spPr>
          <a:xfrm>
            <a:off x="5715000" y="1737360"/>
            <a:ext cx="3017520" cy="713232"/>
          </a:xfrm>
          <a:prstGeom prst="rect">
            <a:avLst/>
          </a:prstGeom>
          <a:solidFill>
            <a:srgbClr val="F5F8FE"/>
          </a:solidFill>
          <a:ln/>
        </p:spPr>
      </p:sp>
      <p:sp>
        <p:nvSpPr>
          <p:cNvPr id="21" name="Text 19"/>
          <p:cNvSpPr/>
          <p:nvPr/>
        </p:nvSpPr>
        <p:spPr>
          <a:xfrm>
            <a:off x="5824728" y="1737360"/>
            <a:ext cx="2816352" cy="713232"/>
          </a:xfrm>
          <a:prstGeom prst="rect">
            <a:avLst/>
          </a:prstGeom>
          <a:noFill/>
          <a:ln/>
        </p:spPr>
        <p:txBody>
          <a:bodyPr wrap="square" lIns="0" tIns="0" rIns="0" bIns="0" rtlCol="0" anchor="ctr"/>
          <a:lstStyle/>
          <a:p>
            <a:pPr indent="0" marL="0">
              <a:lnSpc>
                <a:spcPct val="105000"/>
              </a:lnSpc>
              <a:buNone/>
            </a:pPr>
            <a:r>
              <a:rPr lang="en-US" sz="930" i="1" dirty="0">
                <a:solidFill>
                  <a:srgbClr val="14171F"/>
                </a:solidFill>
                <a:latin typeface="Arial" pitchFamily="34" charset="0"/>
                <a:ea typeface="Arial" pitchFamily="34" charset="-122"/>
                <a:cs typeface="Arial" pitchFamily="34" charset="-120"/>
              </a:rPr>
              <a:t>“We need to build the business case.”</a:t>
            </a:r>
            <a:endParaRPr lang="en-US" sz="930" dirty="0"/>
          </a:p>
        </p:txBody>
      </p:sp>
      <p:sp>
        <p:nvSpPr>
          <p:cNvPr id="22" name="Shape 20"/>
          <p:cNvSpPr/>
          <p:nvPr/>
        </p:nvSpPr>
        <p:spPr>
          <a:xfrm>
            <a:off x="8842248" y="1737360"/>
            <a:ext cx="2843784" cy="713232"/>
          </a:xfrm>
          <a:prstGeom prst="rect">
            <a:avLst/>
          </a:prstGeom>
          <a:solidFill>
            <a:srgbClr val="E8F0FE"/>
          </a:solidFill>
          <a:ln/>
        </p:spPr>
      </p:sp>
      <p:sp>
        <p:nvSpPr>
          <p:cNvPr id="23" name="Text 21"/>
          <p:cNvSpPr/>
          <p:nvPr/>
        </p:nvSpPr>
        <p:spPr>
          <a:xfrm>
            <a:off x="8951976" y="1737360"/>
            <a:ext cx="2624328" cy="713232"/>
          </a:xfrm>
          <a:prstGeom prst="rect">
            <a:avLst/>
          </a:prstGeom>
          <a:noFill/>
          <a:ln/>
        </p:spPr>
        <p:txBody>
          <a:bodyPr wrap="square" lIns="0" tIns="0" rIns="0" bIns="0" rtlCol="0" anchor="ctr"/>
          <a:lstStyle/>
          <a:p>
            <a:pPr indent="0" marL="0">
              <a:lnSpc>
                <a:spcPct val="105000"/>
              </a:lnSpc>
              <a:buNone/>
            </a:pPr>
            <a:r>
              <a:rPr lang="en-US" sz="930" b="1" dirty="0">
                <a:solidFill>
                  <a:srgbClr val="14171F"/>
                </a:solidFill>
                <a:latin typeface="Arial" pitchFamily="34" charset="0"/>
                <a:ea typeface="Arial" pitchFamily="34" charset="-122"/>
                <a:cs typeface="Arial" pitchFamily="34" charset="-120"/>
              </a:rPr>
              <a:t>Build it as a value case — so it still matters in a year. (Offering 1)</a:t>
            </a:r>
            <a:endParaRPr lang="en-US" sz="930" dirty="0"/>
          </a:p>
        </p:txBody>
      </p:sp>
      <p:sp>
        <p:nvSpPr>
          <p:cNvPr id="24" name="Shape 22"/>
          <p:cNvSpPr/>
          <p:nvPr/>
        </p:nvSpPr>
        <p:spPr>
          <a:xfrm>
            <a:off x="5715000" y="2560320"/>
            <a:ext cx="3017520" cy="713232"/>
          </a:xfrm>
          <a:prstGeom prst="rect">
            <a:avLst/>
          </a:prstGeom>
          <a:solidFill>
            <a:srgbClr val="F5F8FE"/>
          </a:solidFill>
          <a:ln/>
        </p:spPr>
      </p:sp>
      <p:sp>
        <p:nvSpPr>
          <p:cNvPr id="25" name="Text 23"/>
          <p:cNvSpPr/>
          <p:nvPr/>
        </p:nvSpPr>
        <p:spPr>
          <a:xfrm>
            <a:off x="5824728" y="2560320"/>
            <a:ext cx="2816352" cy="713232"/>
          </a:xfrm>
          <a:prstGeom prst="rect">
            <a:avLst/>
          </a:prstGeom>
          <a:noFill/>
          <a:ln/>
        </p:spPr>
        <p:txBody>
          <a:bodyPr wrap="square" lIns="0" tIns="0" rIns="0" bIns="0" rtlCol="0" anchor="ctr"/>
          <a:lstStyle/>
          <a:p>
            <a:pPr indent="0" marL="0">
              <a:lnSpc>
                <a:spcPct val="105000"/>
              </a:lnSpc>
              <a:buNone/>
            </a:pPr>
            <a:r>
              <a:rPr lang="en-US" sz="930" i="1" dirty="0">
                <a:solidFill>
                  <a:srgbClr val="14171F"/>
                </a:solidFill>
                <a:latin typeface="Arial" pitchFamily="34" charset="0"/>
                <a:ea typeface="Arial" pitchFamily="34" charset="-122"/>
                <a:cs typeface="Arial" pitchFamily="34" charset="-120"/>
              </a:rPr>
              <a:t>“The board keeps asking what we got for the spend.”</a:t>
            </a:r>
            <a:endParaRPr lang="en-US" sz="930" dirty="0"/>
          </a:p>
        </p:txBody>
      </p:sp>
      <p:sp>
        <p:nvSpPr>
          <p:cNvPr id="26" name="Shape 24"/>
          <p:cNvSpPr/>
          <p:nvPr/>
        </p:nvSpPr>
        <p:spPr>
          <a:xfrm>
            <a:off x="8842248" y="2560320"/>
            <a:ext cx="2843784" cy="713232"/>
          </a:xfrm>
          <a:prstGeom prst="rect">
            <a:avLst/>
          </a:prstGeom>
          <a:solidFill>
            <a:srgbClr val="E8F0FE"/>
          </a:solidFill>
          <a:ln/>
        </p:spPr>
      </p:sp>
      <p:sp>
        <p:nvSpPr>
          <p:cNvPr id="27" name="Text 25"/>
          <p:cNvSpPr/>
          <p:nvPr/>
        </p:nvSpPr>
        <p:spPr>
          <a:xfrm>
            <a:off x="8951976" y="2560320"/>
            <a:ext cx="2624328" cy="713232"/>
          </a:xfrm>
          <a:prstGeom prst="rect">
            <a:avLst/>
          </a:prstGeom>
          <a:noFill/>
          <a:ln/>
        </p:spPr>
        <p:txBody>
          <a:bodyPr wrap="square" lIns="0" tIns="0" rIns="0" bIns="0" rtlCol="0" anchor="ctr"/>
          <a:lstStyle/>
          <a:p>
            <a:pPr indent="0" marL="0">
              <a:lnSpc>
                <a:spcPct val="105000"/>
              </a:lnSpc>
              <a:buNone/>
            </a:pPr>
            <a:r>
              <a:rPr lang="en-US" sz="930" b="1" dirty="0">
                <a:solidFill>
                  <a:srgbClr val="14171F"/>
                </a:solidFill>
                <a:latin typeface="Arial" pitchFamily="34" charset="0"/>
                <a:ea typeface="Arial" pitchFamily="34" charset="-122"/>
                <a:cs typeface="Arial" pitchFamily="34" charset="-120"/>
              </a:rPr>
              <a:t>AI value scan: the portfolio on one page, keep / fix / stop. (Offering 2)</a:t>
            </a:r>
            <a:endParaRPr lang="en-US" sz="930" dirty="0"/>
          </a:p>
        </p:txBody>
      </p:sp>
      <p:sp>
        <p:nvSpPr>
          <p:cNvPr id="28" name="Shape 26"/>
          <p:cNvSpPr/>
          <p:nvPr/>
        </p:nvSpPr>
        <p:spPr>
          <a:xfrm>
            <a:off x="5715000" y="3383280"/>
            <a:ext cx="3017520" cy="713232"/>
          </a:xfrm>
          <a:prstGeom prst="rect">
            <a:avLst/>
          </a:prstGeom>
          <a:solidFill>
            <a:srgbClr val="F5F8FE"/>
          </a:solidFill>
          <a:ln/>
        </p:spPr>
      </p:sp>
      <p:sp>
        <p:nvSpPr>
          <p:cNvPr id="29" name="Text 27"/>
          <p:cNvSpPr/>
          <p:nvPr/>
        </p:nvSpPr>
        <p:spPr>
          <a:xfrm>
            <a:off x="5824728" y="3383280"/>
            <a:ext cx="2816352" cy="713232"/>
          </a:xfrm>
          <a:prstGeom prst="rect">
            <a:avLst/>
          </a:prstGeom>
          <a:noFill/>
          <a:ln/>
        </p:spPr>
        <p:txBody>
          <a:bodyPr wrap="square" lIns="0" tIns="0" rIns="0" bIns="0" rtlCol="0" anchor="ctr"/>
          <a:lstStyle/>
          <a:p>
            <a:pPr indent="0" marL="0">
              <a:lnSpc>
                <a:spcPct val="105000"/>
              </a:lnSpc>
              <a:buNone/>
            </a:pPr>
            <a:r>
              <a:rPr lang="en-US" sz="930" i="1" dirty="0">
                <a:solidFill>
                  <a:srgbClr val="14171F"/>
                </a:solidFill>
                <a:latin typeface="Arial" pitchFamily="34" charset="0"/>
                <a:ea typeface="Arial" pitchFamily="34" charset="-122"/>
                <a:cs typeface="Arial" pitchFamily="34" charset="-120"/>
              </a:rPr>
              <a:t>“Renewal's coming and we're not using half of it.”</a:t>
            </a:r>
            <a:endParaRPr lang="en-US" sz="930" dirty="0"/>
          </a:p>
        </p:txBody>
      </p:sp>
      <p:sp>
        <p:nvSpPr>
          <p:cNvPr id="30" name="Shape 28"/>
          <p:cNvSpPr/>
          <p:nvPr/>
        </p:nvSpPr>
        <p:spPr>
          <a:xfrm>
            <a:off x="8842248" y="3383280"/>
            <a:ext cx="2843784" cy="713232"/>
          </a:xfrm>
          <a:prstGeom prst="rect">
            <a:avLst/>
          </a:prstGeom>
          <a:solidFill>
            <a:srgbClr val="E8F0FE"/>
          </a:solidFill>
          <a:ln/>
        </p:spPr>
      </p:sp>
      <p:sp>
        <p:nvSpPr>
          <p:cNvPr id="31" name="Text 29"/>
          <p:cNvSpPr/>
          <p:nvPr/>
        </p:nvSpPr>
        <p:spPr>
          <a:xfrm>
            <a:off x="8951976" y="3383280"/>
            <a:ext cx="2624328" cy="713232"/>
          </a:xfrm>
          <a:prstGeom prst="rect">
            <a:avLst/>
          </a:prstGeom>
          <a:noFill/>
          <a:ln/>
        </p:spPr>
        <p:txBody>
          <a:bodyPr wrap="square" lIns="0" tIns="0" rIns="0" bIns="0" rtlCol="0" anchor="ctr"/>
          <a:lstStyle/>
          <a:p>
            <a:pPr indent="0" marL="0">
              <a:lnSpc>
                <a:spcPct val="105000"/>
              </a:lnSpc>
              <a:buNone/>
            </a:pPr>
            <a:r>
              <a:rPr lang="en-US" sz="930" b="1" dirty="0">
                <a:solidFill>
                  <a:srgbClr val="14171F"/>
                </a:solidFill>
                <a:latin typeface="Arial" pitchFamily="34" charset="0"/>
                <a:ea typeface="Arial" pitchFamily="34" charset="-122"/>
                <a:cs typeface="Arial" pitchFamily="34" charset="-120"/>
              </a:rPr>
              <a:t>Funded platform value assessment — often at no cost to them. (Offering 3)</a:t>
            </a:r>
            <a:endParaRPr lang="en-US" sz="930" dirty="0"/>
          </a:p>
        </p:txBody>
      </p:sp>
      <p:sp>
        <p:nvSpPr>
          <p:cNvPr id="32" name="Shape 30"/>
          <p:cNvSpPr/>
          <p:nvPr/>
        </p:nvSpPr>
        <p:spPr>
          <a:xfrm>
            <a:off x="5715000" y="4206240"/>
            <a:ext cx="3017520" cy="713232"/>
          </a:xfrm>
          <a:prstGeom prst="rect">
            <a:avLst/>
          </a:prstGeom>
          <a:solidFill>
            <a:srgbClr val="F5F8FE"/>
          </a:solidFill>
          <a:ln/>
        </p:spPr>
      </p:sp>
      <p:sp>
        <p:nvSpPr>
          <p:cNvPr id="33" name="Text 31"/>
          <p:cNvSpPr/>
          <p:nvPr/>
        </p:nvSpPr>
        <p:spPr>
          <a:xfrm>
            <a:off x="5824728" y="4206240"/>
            <a:ext cx="2816352" cy="713232"/>
          </a:xfrm>
          <a:prstGeom prst="rect">
            <a:avLst/>
          </a:prstGeom>
          <a:noFill/>
          <a:ln/>
        </p:spPr>
        <p:txBody>
          <a:bodyPr wrap="square" lIns="0" tIns="0" rIns="0" bIns="0" rtlCol="0" anchor="ctr"/>
          <a:lstStyle/>
          <a:p>
            <a:pPr indent="0" marL="0">
              <a:lnSpc>
                <a:spcPct val="105000"/>
              </a:lnSpc>
              <a:buNone/>
            </a:pPr>
            <a:r>
              <a:rPr lang="en-US" sz="930" i="1" dirty="0">
                <a:solidFill>
                  <a:srgbClr val="14171F"/>
                </a:solidFill>
                <a:latin typeface="Arial" pitchFamily="34" charset="0"/>
                <a:ea typeface="Arial" pitchFamily="34" charset="-122"/>
                <a:cs typeface="Arial" pitchFamily="34" charset="-120"/>
              </a:rPr>
              <a:t>“The programme's on track but the benefits feel soft.”</a:t>
            </a:r>
            <a:endParaRPr lang="en-US" sz="930" dirty="0"/>
          </a:p>
        </p:txBody>
      </p:sp>
      <p:sp>
        <p:nvSpPr>
          <p:cNvPr id="34" name="Shape 32"/>
          <p:cNvSpPr/>
          <p:nvPr/>
        </p:nvSpPr>
        <p:spPr>
          <a:xfrm>
            <a:off x="8842248" y="4206240"/>
            <a:ext cx="2843784" cy="713232"/>
          </a:xfrm>
          <a:prstGeom prst="rect">
            <a:avLst/>
          </a:prstGeom>
          <a:solidFill>
            <a:srgbClr val="E8F0FE"/>
          </a:solidFill>
          <a:ln/>
        </p:spPr>
      </p:sp>
      <p:sp>
        <p:nvSpPr>
          <p:cNvPr id="35" name="Text 33"/>
          <p:cNvSpPr/>
          <p:nvPr/>
        </p:nvSpPr>
        <p:spPr>
          <a:xfrm>
            <a:off x="8951976" y="4206240"/>
            <a:ext cx="2624328" cy="713232"/>
          </a:xfrm>
          <a:prstGeom prst="rect">
            <a:avLst/>
          </a:prstGeom>
          <a:noFill/>
          <a:ln/>
        </p:spPr>
        <p:txBody>
          <a:bodyPr wrap="square" lIns="0" tIns="0" rIns="0" bIns="0" rtlCol="0" anchor="ctr"/>
          <a:lstStyle/>
          <a:p>
            <a:pPr indent="0" marL="0">
              <a:lnSpc>
                <a:spcPct val="105000"/>
              </a:lnSpc>
              <a:buNone/>
            </a:pPr>
            <a:r>
              <a:rPr lang="en-US" sz="930" b="1" dirty="0">
                <a:solidFill>
                  <a:srgbClr val="14171F"/>
                </a:solidFill>
                <a:latin typeface="Arial" pitchFamily="34" charset="0"/>
                <a:ea typeface="Arial" pitchFamily="34" charset="-122"/>
                <a:cs typeface="Arial" pitchFamily="34" charset="-120"/>
              </a:rPr>
              <a:t>Value health check on the tracking: owners, baselines, cadence. (Offering 1)</a:t>
            </a:r>
            <a:endParaRPr lang="en-US" sz="930" dirty="0"/>
          </a:p>
        </p:txBody>
      </p:sp>
      <p:sp>
        <p:nvSpPr>
          <p:cNvPr id="36" name="Shape 34"/>
          <p:cNvSpPr/>
          <p:nvPr/>
        </p:nvSpPr>
        <p:spPr>
          <a:xfrm>
            <a:off x="5715000" y="5029200"/>
            <a:ext cx="3017520" cy="713232"/>
          </a:xfrm>
          <a:prstGeom prst="rect">
            <a:avLst/>
          </a:prstGeom>
          <a:solidFill>
            <a:srgbClr val="F5F8FE"/>
          </a:solidFill>
          <a:ln/>
        </p:spPr>
      </p:sp>
      <p:sp>
        <p:nvSpPr>
          <p:cNvPr id="37" name="Text 35"/>
          <p:cNvSpPr/>
          <p:nvPr/>
        </p:nvSpPr>
        <p:spPr>
          <a:xfrm>
            <a:off x="5824728" y="5029200"/>
            <a:ext cx="2816352" cy="713232"/>
          </a:xfrm>
          <a:prstGeom prst="rect">
            <a:avLst/>
          </a:prstGeom>
          <a:noFill/>
          <a:ln/>
        </p:spPr>
        <p:txBody>
          <a:bodyPr wrap="square" lIns="0" tIns="0" rIns="0" bIns="0" rtlCol="0" anchor="ctr"/>
          <a:lstStyle/>
          <a:p>
            <a:pPr indent="0" marL="0">
              <a:lnSpc>
                <a:spcPct val="105000"/>
              </a:lnSpc>
              <a:buNone/>
            </a:pPr>
            <a:r>
              <a:rPr lang="en-US" sz="930" i="1" dirty="0">
                <a:solidFill>
                  <a:srgbClr val="14171F"/>
                </a:solidFill>
                <a:latin typeface="Arial" pitchFamily="34" charset="0"/>
                <a:ea typeface="Arial" pitchFamily="34" charset="-122"/>
                <a:cs typeface="Arial" pitchFamily="34" charset="-120"/>
              </a:rPr>
              <a:t>“We've just signed the deal.”</a:t>
            </a:r>
            <a:endParaRPr lang="en-US" sz="930" dirty="0"/>
          </a:p>
        </p:txBody>
      </p:sp>
      <p:sp>
        <p:nvSpPr>
          <p:cNvPr id="38" name="Shape 36"/>
          <p:cNvSpPr/>
          <p:nvPr/>
        </p:nvSpPr>
        <p:spPr>
          <a:xfrm>
            <a:off x="8842248" y="5029200"/>
            <a:ext cx="2843784" cy="713232"/>
          </a:xfrm>
          <a:prstGeom prst="rect">
            <a:avLst/>
          </a:prstGeom>
          <a:solidFill>
            <a:srgbClr val="E8F0FE"/>
          </a:solidFill>
          <a:ln/>
        </p:spPr>
      </p:sp>
      <p:sp>
        <p:nvSpPr>
          <p:cNvPr id="39" name="Text 37"/>
          <p:cNvSpPr/>
          <p:nvPr/>
        </p:nvSpPr>
        <p:spPr>
          <a:xfrm>
            <a:off x="8951976" y="5029200"/>
            <a:ext cx="2624328" cy="713232"/>
          </a:xfrm>
          <a:prstGeom prst="rect">
            <a:avLst/>
          </a:prstGeom>
          <a:noFill/>
          <a:ln/>
        </p:spPr>
        <p:txBody>
          <a:bodyPr wrap="square" lIns="0" tIns="0" rIns="0" bIns="0" rtlCol="0" anchor="ctr"/>
          <a:lstStyle/>
          <a:p>
            <a:pPr indent="0" marL="0">
              <a:lnSpc>
                <a:spcPct val="105000"/>
              </a:lnSpc>
              <a:buNone/>
            </a:pPr>
            <a:r>
              <a:rPr lang="en-US" sz="930" b="1" dirty="0">
                <a:solidFill>
                  <a:srgbClr val="14171F"/>
                </a:solidFill>
                <a:latin typeface="Arial" pitchFamily="34" charset="0"/>
                <a:ea typeface="Arial" pitchFamily="34" charset="-122"/>
                <a:cs typeface="Arial" pitchFamily="34" charset="-120"/>
              </a:rPr>
              <a:t>100-day value plan and synergy tracking, running before day 100. (Offering 4)</a:t>
            </a:r>
            <a:endParaRPr lang="en-US" sz="930" dirty="0"/>
          </a:p>
        </p:txBody>
      </p:sp>
      <p:sp>
        <p:nvSpPr>
          <p:cNvPr id="40" name="Text 38"/>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The ask of client partners is one sentence: when you hear one of these five lines, make the introduction. Everything after that is ours to win.</a:t>
            </a:r>
            <a:endParaRPr lang="en-US" sz="900" dirty="0"/>
          </a:p>
        </p:txBody>
      </p:sp>
      <p:sp>
        <p:nvSpPr>
          <p:cNvPr id="41" name="Text 39"/>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The five cues and the one-pagers are the entire enablement kit — deliberately small. If a client partner needs a methodology deck to make the introduction, the enablement has failed.</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GETTING STARTED  |  DECISIONS</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15</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200" b="1" dirty="0">
                <a:solidFill>
                  <a:srgbClr val="14171F"/>
                </a:solidFill>
                <a:latin typeface="Arial" pitchFamily="34" charset="0"/>
                <a:ea typeface="Arial" pitchFamily="34" charset="-122"/>
                <a:cs typeface="Arial" pitchFamily="34" charset="-120"/>
              </a:rPr>
              <a:t>Three moves get this started: a sponsor, three accounts, one enablement session</a:t>
            </a:r>
            <a:endParaRPr lang="en-US" sz="2200" dirty="0"/>
          </a:p>
        </p:txBody>
      </p:sp>
      <p:sp>
        <p:nvSpPr>
          <p:cNvPr id="7" name="Shape 5"/>
          <p:cNvSpPr/>
          <p:nvPr/>
        </p:nvSpPr>
        <p:spPr>
          <a:xfrm>
            <a:off x="502920" y="1517904"/>
            <a:ext cx="246888" cy="246888"/>
          </a:xfrm>
          <a:prstGeom prst="ellipse">
            <a:avLst/>
          </a:prstGeom>
          <a:solidFill>
            <a:srgbClr val="0C62FB"/>
          </a:solidFill>
          <a:ln/>
        </p:spPr>
      </p:sp>
      <p:sp>
        <p:nvSpPr>
          <p:cNvPr id="8" name="Text 6"/>
          <p:cNvSpPr/>
          <p:nvPr/>
        </p:nvSpPr>
        <p:spPr>
          <a:xfrm>
            <a:off x="484632" y="1504188"/>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850392" y="1472184"/>
            <a:ext cx="3264408" cy="384048"/>
          </a:xfrm>
          <a:prstGeom prst="rect">
            <a:avLst/>
          </a:prstGeom>
          <a:noFill/>
          <a:ln/>
        </p:spPr>
        <p:txBody>
          <a:bodyPr wrap="square" lIns="0" tIns="0" rIns="0" bIns="0" rtlCol="0" anchor="ctr"/>
          <a:lstStyle/>
          <a:p>
            <a:pPr indent="0" marL="0">
              <a:buNone/>
            </a:pPr>
            <a:r>
              <a:rPr lang="en-US" sz="1250" b="1" dirty="0">
                <a:solidFill>
                  <a:srgbClr val="14171F"/>
                </a:solidFill>
                <a:latin typeface="Arial" pitchFamily="34" charset="0"/>
                <a:ea typeface="Arial" pitchFamily="34" charset="-122"/>
                <a:cs typeface="Arial" pitchFamily="34" charset="-120"/>
              </a:rPr>
              <a:t>Name the proving grounds</a:t>
            </a:r>
            <a:endParaRPr lang="en-US" sz="1250" dirty="0"/>
          </a:p>
        </p:txBody>
      </p:sp>
      <p:sp>
        <p:nvSpPr>
          <p:cNvPr id="10" name="Shape 8"/>
          <p:cNvSpPr/>
          <p:nvPr/>
        </p:nvSpPr>
        <p:spPr>
          <a:xfrm>
            <a:off x="502920" y="1956816"/>
            <a:ext cx="3611880" cy="1874520"/>
          </a:xfrm>
          <a:prstGeom prst="rect">
            <a:avLst/>
          </a:prstGeom>
          <a:solidFill>
            <a:srgbClr val="F5F8FE"/>
          </a:solidFill>
          <a:ln/>
        </p:spPr>
      </p:sp>
      <p:sp>
        <p:nvSpPr>
          <p:cNvPr id="11" name="Text 9"/>
          <p:cNvSpPr/>
          <p:nvPr/>
        </p:nvSpPr>
        <p:spPr>
          <a:xfrm>
            <a:off x="630936" y="2084832"/>
            <a:ext cx="3355848" cy="1618488"/>
          </a:xfrm>
          <a:prstGeom prst="rect">
            <a:avLst/>
          </a:prstGeom>
          <a:noFill/>
          <a:ln/>
        </p:spPr>
        <p:txBody>
          <a:bodyPr wrap="square" lIns="0" tIns="0" rIns="0" bIns="0" rtlCol="0" anchor="t"/>
          <a:lstStyle/>
          <a:p>
            <a:pPr indent="0" marL="0">
              <a:lnSpc>
                <a:spcPct val="116000"/>
              </a:lnSpc>
              <a:buNone/>
            </a:pPr>
            <a:r>
              <a:rPr lang="en-US" sz="1050" dirty="0">
                <a:solidFill>
                  <a:srgbClr val="14171F"/>
                </a:solidFill>
                <a:latin typeface="Arial" pitchFamily="34" charset="0"/>
                <a:ea typeface="Arial" pitchFamily="34" charset="-122"/>
                <a:cs typeface="Arial" pitchFamily="34" charset="-120"/>
              </a:rPr>
              <a:t>Three accounts, one per motion: a live programme that takes a value case; a platform account that takes a funded assessment; one account with a deal, a new CFO or a board asking the AI question.</a:t>
            </a:r>
            <a:endParaRPr lang="en-US" sz="1050" dirty="0"/>
          </a:p>
        </p:txBody>
      </p:sp>
      <p:sp>
        <p:nvSpPr>
          <p:cNvPr id="12" name="Shape 10"/>
          <p:cNvSpPr/>
          <p:nvPr/>
        </p:nvSpPr>
        <p:spPr>
          <a:xfrm>
            <a:off x="502920" y="3922776"/>
            <a:ext cx="3611880" cy="841248"/>
          </a:xfrm>
          <a:prstGeom prst="rect">
            <a:avLst/>
          </a:prstGeom>
          <a:solidFill>
            <a:srgbClr val="E8F0FE"/>
          </a:solidFill>
          <a:ln/>
        </p:spPr>
      </p:sp>
      <p:sp>
        <p:nvSpPr>
          <p:cNvPr id="13" name="Text 11"/>
          <p:cNvSpPr/>
          <p:nvPr/>
        </p:nvSpPr>
        <p:spPr>
          <a:xfrm>
            <a:off x="630936" y="3995928"/>
            <a:ext cx="3355848" cy="713232"/>
          </a:xfrm>
          <a:prstGeom prst="rect">
            <a:avLst/>
          </a:prstGeom>
          <a:noFill/>
          <a:ln/>
        </p:spPr>
        <p:txBody>
          <a:bodyPr wrap="square" lIns="0" tIns="0" rIns="0" bIns="0" rtlCol="0" anchor="t"/>
          <a:lstStyle/>
          <a:p>
            <a:pPr indent="0" marL="0">
              <a:lnSpc>
                <a:spcPct val="110000"/>
              </a:lnSpc>
              <a:buNone/>
            </a:pPr>
            <a:r>
              <a:rPr lang="en-US" sz="850" b="1" spc="150" kern="0" dirty="0">
                <a:solidFill>
                  <a:srgbClr val="0C62FB"/>
                </a:solidFill>
                <a:latin typeface="Arial" pitchFamily="34" charset="0"/>
                <a:ea typeface="Arial" pitchFamily="34" charset="-122"/>
                <a:cs typeface="Arial" pitchFamily="34" charset="-120"/>
              </a:rPr>
              <a:t>ASK   </a:t>
            </a:r>
            <a:pPr indent="0" marL="0">
              <a:lnSpc>
                <a:spcPct val="110000"/>
              </a:lnSpc>
              <a:buNone/>
            </a:pPr>
            <a:r>
              <a:rPr lang="en-US" sz="1000" dirty="0">
                <a:solidFill>
                  <a:srgbClr val="14171F"/>
                </a:solidFill>
                <a:latin typeface="Arial" pitchFamily="34" charset="0"/>
                <a:ea typeface="Arial" pitchFamily="34" charset="-122"/>
                <a:cs typeface="Arial" pitchFamily="34" charset="-120"/>
              </a:rPr>
              <a:t>Name the three accounts and the client partner for each.</a:t>
            </a:r>
            <a:endParaRPr lang="en-US" sz="850" dirty="0"/>
          </a:p>
        </p:txBody>
      </p:sp>
      <p:sp>
        <p:nvSpPr>
          <p:cNvPr id="14" name="Shape 12"/>
          <p:cNvSpPr/>
          <p:nvPr/>
        </p:nvSpPr>
        <p:spPr>
          <a:xfrm>
            <a:off x="4288536" y="1517904"/>
            <a:ext cx="246888" cy="246888"/>
          </a:xfrm>
          <a:prstGeom prst="ellipse">
            <a:avLst/>
          </a:prstGeom>
          <a:solidFill>
            <a:srgbClr val="0C62FB"/>
          </a:solidFill>
          <a:ln/>
        </p:spPr>
      </p:sp>
      <p:sp>
        <p:nvSpPr>
          <p:cNvPr id="15" name="Text 13"/>
          <p:cNvSpPr/>
          <p:nvPr/>
        </p:nvSpPr>
        <p:spPr>
          <a:xfrm>
            <a:off x="4270248" y="1504188"/>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4636008" y="1472184"/>
            <a:ext cx="3264408" cy="384048"/>
          </a:xfrm>
          <a:prstGeom prst="rect">
            <a:avLst/>
          </a:prstGeom>
          <a:noFill/>
          <a:ln/>
        </p:spPr>
        <p:txBody>
          <a:bodyPr wrap="square" lIns="0" tIns="0" rIns="0" bIns="0" rtlCol="0" anchor="ctr"/>
          <a:lstStyle/>
          <a:p>
            <a:pPr indent="0" marL="0">
              <a:buNone/>
            </a:pPr>
            <a:r>
              <a:rPr lang="en-US" sz="1250" b="1" dirty="0">
                <a:solidFill>
                  <a:srgbClr val="14171F"/>
                </a:solidFill>
                <a:latin typeface="Arial" pitchFamily="34" charset="0"/>
                <a:ea typeface="Arial" pitchFamily="34" charset="-122"/>
                <a:cs typeface="Arial" pitchFamily="34" charset="-120"/>
              </a:rPr>
              <a:t>Run the first enablement</a:t>
            </a:r>
            <a:endParaRPr lang="en-US" sz="1250" dirty="0"/>
          </a:p>
        </p:txBody>
      </p:sp>
      <p:sp>
        <p:nvSpPr>
          <p:cNvPr id="17" name="Shape 15"/>
          <p:cNvSpPr/>
          <p:nvPr/>
        </p:nvSpPr>
        <p:spPr>
          <a:xfrm>
            <a:off x="4288536" y="1956816"/>
            <a:ext cx="3611880" cy="1874520"/>
          </a:xfrm>
          <a:prstGeom prst="rect">
            <a:avLst/>
          </a:prstGeom>
          <a:solidFill>
            <a:srgbClr val="F5F8FE"/>
          </a:solidFill>
          <a:ln/>
        </p:spPr>
      </p:sp>
      <p:sp>
        <p:nvSpPr>
          <p:cNvPr id="18" name="Text 16"/>
          <p:cNvSpPr/>
          <p:nvPr/>
        </p:nvSpPr>
        <p:spPr>
          <a:xfrm>
            <a:off x="4416552" y="2084832"/>
            <a:ext cx="3355848" cy="1618488"/>
          </a:xfrm>
          <a:prstGeom prst="rect">
            <a:avLst/>
          </a:prstGeom>
          <a:noFill/>
          <a:ln/>
        </p:spPr>
        <p:txBody>
          <a:bodyPr wrap="square" lIns="0" tIns="0" rIns="0" bIns="0" rtlCol="0" anchor="t"/>
          <a:lstStyle/>
          <a:p>
            <a:pPr indent="0" marL="0">
              <a:lnSpc>
                <a:spcPct val="116000"/>
              </a:lnSpc>
              <a:buNone/>
            </a:pPr>
            <a:r>
              <a:rPr lang="en-US" sz="1050" dirty="0">
                <a:solidFill>
                  <a:srgbClr val="14171F"/>
                </a:solidFill>
                <a:latin typeface="Arial" pitchFamily="34" charset="0"/>
                <a:ea typeface="Arial" pitchFamily="34" charset="-122"/>
                <a:cs typeface="Arial" pitchFamily="34" charset="-120"/>
              </a:rPr>
              <a:t>Forty-five minutes with client partners: the five cues, the four doors, the one-pagers. Then the same session per account team as opportunities appear.</a:t>
            </a:r>
            <a:endParaRPr lang="en-US" sz="1050" dirty="0"/>
          </a:p>
        </p:txBody>
      </p:sp>
      <p:sp>
        <p:nvSpPr>
          <p:cNvPr id="19" name="Shape 17"/>
          <p:cNvSpPr/>
          <p:nvPr/>
        </p:nvSpPr>
        <p:spPr>
          <a:xfrm>
            <a:off x="4288536" y="3922776"/>
            <a:ext cx="3611880" cy="841248"/>
          </a:xfrm>
          <a:prstGeom prst="rect">
            <a:avLst/>
          </a:prstGeom>
          <a:solidFill>
            <a:srgbClr val="E8F0FE"/>
          </a:solidFill>
          <a:ln/>
        </p:spPr>
      </p:sp>
      <p:sp>
        <p:nvSpPr>
          <p:cNvPr id="20" name="Text 18"/>
          <p:cNvSpPr/>
          <p:nvPr/>
        </p:nvSpPr>
        <p:spPr>
          <a:xfrm>
            <a:off x="4416552" y="3995928"/>
            <a:ext cx="3355848" cy="713232"/>
          </a:xfrm>
          <a:prstGeom prst="rect">
            <a:avLst/>
          </a:prstGeom>
          <a:noFill/>
          <a:ln/>
        </p:spPr>
        <p:txBody>
          <a:bodyPr wrap="square" lIns="0" tIns="0" rIns="0" bIns="0" rtlCol="0" anchor="t"/>
          <a:lstStyle/>
          <a:p>
            <a:pPr indent="0" marL="0">
              <a:lnSpc>
                <a:spcPct val="110000"/>
              </a:lnSpc>
              <a:buNone/>
            </a:pPr>
            <a:r>
              <a:rPr lang="en-US" sz="850" b="1" spc="150" kern="0" dirty="0">
                <a:solidFill>
                  <a:srgbClr val="0C62FB"/>
                </a:solidFill>
                <a:latin typeface="Arial" pitchFamily="34" charset="0"/>
                <a:ea typeface="Arial" pitchFamily="34" charset="-122"/>
                <a:cs typeface="Arial" pitchFamily="34" charset="-120"/>
              </a:rPr>
              <a:t>ASK   </a:t>
            </a:r>
            <a:pPr indent="0" marL="0">
              <a:lnSpc>
                <a:spcPct val="110000"/>
              </a:lnSpc>
              <a:buNone/>
            </a:pPr>
            <a:r>
              <a:rPr lang="en-US" sz="1000" dirty="0">
                <a:solidFill>
                  <a:srgbClr val="14171F"/>
                </a:solidFill>
                <a:latin typeface="Arial" pitchFamily="34" charset="0"/>
                <a:ea typeface="Arial" pitchFamily="34" charset="-122"/>
                <a:cs typeface="Arial" pitchFamily="34" charset="-120"/>
              </a:rPr>
              <a:t>A slot at the next practice or account huddle.</a:t>
            </a:r>
            <a:endParaRPr lang="en-US" sz="850" dirty="0"/>
          </a:p>
        </p:txBody>
      </p:sp>
      <p:sp>
        <p:nvSpPr>
          <p:cNvPr id="21" name="Shape 19"/>
          <p:cNvSpPr/>
          <p:nvPr/>
        </p:nvSpPr>
        <p:spPr>
          <a:xfrm>
            <a:off x="8074152" y="1517904"/>
            <a:ext cx="246888" cy="246888"/>
          </a:xfrm>
          <a:prstGeom prst="ellipse">
            <a:avLst/>
          </a:prstGeom>
          <a:solidFill>
            <a:srgbClr val="0C62FB"/>
          </a:solidFill>
          <a:ln/>
        </p:spPr>
      </p:sp>
      <p:sp>
        <p:nvSpPr>
          <p:cNvPr id="22" name="Text 20"/>
          <p:cNvSpPr/>
          <p:nvPr/>
        </p:nvSpPr>
        <p:spPr>
          <a:xfrm>
            <a:off x="8055864" y="1504188"/>
            <a:ext cx="2834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1"/>
          <p:cNvSpPr/>
          <p:nvPr/>
        </p:nvSpPr>
        <p:spPr>
          <a:xfrm>
            <a:off x="8421624" y="1472184"/>
            <a:ext cx="3264408" cy="384048"/>
          </a:xfrm>
          <a:prstGeom prst="rect">
            <a:avLst/>
          </a:prstGeom>
          <a:noFill/>
          <a:ln/>
        </p:spPr>
        <p:txBody>
          <a:bodyPr wrap="square" lIns="0" tIns="0" rIns="0" bIns="0" rtlCol="0" anchor="ctr"/>
          <a:lstStyle/>
          <a:p>
            <a:pPr indent="0" marL="0">
              <a:buNone/>
            </a:pPr>
            <a:r>
              <a:rPr lang="en-US" sz="1250" b="1" dirty="0">
                <a:solidFill>
                  <a:srgbClr val="14171F"/>
                </a:solidFill>
                <a:latin typeface="Arial" pitchFamily="34" charset="0"/>
                <a:ea typeface="Arial" pitchFamily="34" charset="-122"/>
                <a:cs typeface="Arial" pitchFamily="34" charset="-120"/>
              </a:rPr>
              <a:t>Track it as its own offering</a:t>
            </a:r>
            <a:endParaRPr lang="en-US" sz="1250" dirty="0"/>
          </a:p>
        </p:txBody>
      </p:sp>
      <p:sp>
        <p:nvSpPr>
          <p:cNvPr id="24" name="Shape 22"/>
          <p:cNvSpPr/>
          <p:nvPr/>
        </p:nvSpPr>
        <p:spPr>
          <a:xfrm>
            <a:off x="8074152" y="1956816"/>
            <a:ext cx="3611880" cy="1874520"/>
          </a:xfrm>
          <a:prstGeom prst="rect">
            <a:avLst/>
          </a:prstGeom>
          <a:solidFill>
            <a:srgbClr val="F5F8FE"/>
          </a:solidFill>
          <a:ln/>
        </p:spPr>
      </p:sp>
      <p:sp>
        <p:nvSpPr>
          <p:cNvPr id="25" name="Text 23"/>
          <p:cNvSpPr/>
          <p:nvPr/>
        </p:nvSpPr>
        <p:spPr>
          <a:xfrm>
            <a:off x="8202168" y="2084832"/>
            <a:ext cx="3355848" cy="1618488"/>
          </a:xfrm>
          <a:prstGeom prst="rect">
            <a:avLst/>
          </a:prstGeom>
          <a:noFill/>
          <a:ln/>
        </p:spPr>
        <p:txBody>
          <a:bodyPr wrap="square" lIns="0" tIns="0" rIns="0" bIns="0" rtlCol="0" anchor="t"/>
          <a:lstStyle/>
          <a:p>
            <a:pPr indent="0" marL="0">
              <a:lnSpc>
                <a:spcPct val="116000"/>
              </a:lnSpc>
              <a:buNone/>
            </a:pPr>
            <a:r>
              <a:rPr lang="en-US" sz="1050" dirty="0">
                <a:solidFill>
                  <a:srgbClr val="14171F"/>
                </a:solidFill>
                <a:latin typeface="Arial" pitchFamily="34" charset="0"/>
                <a:ea typeface="Arial" pitchFamily="34" charset="-122"/>
                <a:cs typeface="Arial" pitchFamily="34" charset="-120"/>
              </a:rPr>
              <a:t>Every entry engagement produces a number — dollars found, value tracked, benefits owned. Three of those become the case-study page this deck doesn't have yet.</a:t>
            </a:r>
            <a:endParaRPr lang="en-US" sz="1050" dirty="0"/>
          </a:p>
        </p:txBody>
      </p:sp>
      <p:sp>
        <p:nvSpPr>
          <p:cNvPr id="26" name="Shape 24"/>
          <p:cNvSpPr/>
          <p:nvPr/>
        </p:nvSpPr>
        <p:spPr>
          <a:xfrm>
            <a:off x="8074152" y="3922776"/>
            <a:ext cx="3611880" cy="841248"/>
          </a:xfrm>
          <a:prstGeom prst="rect">
            <a:avLst/>
          </a:prstGeom>
          <a:solidFill>
            <a:srgbClr val="E8F0FE"/>
          </a:solidFill>
          <a:ln/>
        </p:spPr>
      </p:sp>
      <p:sp>
        <p:nvSpPr>
          <p:cNvPr id="27" name="Text 25"/>
          <p:cNvSpPr/>
          <p:nvPr/>
        </p:nvSpPr>
        <p:spPr>
          <a:xfrm>
            <a:off x="8202168" y="3995928"/>
            <a:ext cx="3355848" cy="713232"/>
          </a:xfrm>
          <a:prstGeom prst="rect">
            <a:avLst/>
          </a:prstGeom>
          <a:noFill/>
          <a:ln/>
        </p:spPr>
        <p:txBody>
          <a:bodyPr wrap="square" lIns="0" tIns="0" rIns="0" bIns="0" rtlCol="0" anchor="t"/>
          <a:lstStyle/>
          <a:p>
            <a:pPr indent="0" marL="0">
              <a:lnSpc>
                <a:spcPct val="110000"/>
              </a:lnSpc>
              <a:buNone/>
            </a:pPr>
            <a:r>
              <a:rPr lang="en-US" sz="850" b="1" spc="150" kern="0" dirty="0">
                <a:solidFill>
                  <a:srgbClr val="0C62FB"/>
                </a:solidFill>
                <a:latin typeface="Arial" pitchFamily="34" charset="0"/>
                <a:ea typeface="Arial" pitchFamily="34" charset="-122"/>
                <a:cs typeface="Arial" pitchFamily="34" charset="-120"/>
              </a:rPr>
              <a:t>ASK   </a:t>
            </a:r>
            <a:pPr indent="0" marL="0">
              <a:lnSpc>
                <a:spcPct val="110000"/>
              </a:lnSpc>
              <a:buNone/>
            </a:pPr>
            <a:r>
              <a:rPr lang="en-US" sz="1000" dirty="0">
                <a:solidFill>
                  <a:srgbClr val="14171F"/>
                </a:solidFill>
                <a:latin typeface="Arial" pitchFamily="34" charset="0"/>
                <a:ea typeface="Arial" pitchFamily="34" charset="-122"/>
                <a:cs typeface="Arial" pitchFamily="34" charset="-120"/>
              </a:rPr>
              <a:t>Sponsor agreement that value work is pursued and reported as a distinct offering.</a:t>
            </a:r>
            <a:endParaRPr lang="en-US" sz="850" dirty="0"/>
          </a:p>
        </p:txBody>
      </p:sp>
      <p:sp>
        <p:nvSpPr>
          <p:cNvPr id="28" name="Shape 26"/>
          <p:cNvSpPr/>
          <p:nvPr/>
        </p:nvSpPr>
        <p:spPr>
          <a:xfrm>
            <a:off x="502920" y="5029200"/>
            <a:ext cx="11183112" cy="777240"/>
          </a:xfrm>
          <a:prstGeom prst="rect">
            <a:avLst/>
          </a:prstGeom>
          <a:solidFill>
            <a:srgbClr val="F5F8FE"/>
          </a:solidFill>
          <a:ln/>
        </p:spPr>
      </p:sp>
      <p:sp>
        <p:nvSpPr>
          <p:cNvPr id="29" name="Text 27"/>
          <p:cNvSpPr/>
          <p:nvPr/>
        </p:nvSpPr>
        <p:spPr>
          <a:xfrm>
            <a:off x="649224" y="5084064"/>
            <a:ext cx="10890504" cy="667512"/>
          </a:xfrm>
          <a:prstGeom prst="rect">
            <a:avLst/>
          </a:prstGeom>
          <a:noFill/>
          <a:ln/>
        </p:spPr>
        <p:txBody>
          <a:bodyPr wrap="square" lIns="0" tIns="0" rIns="0" bIns="0" rtlCol="0" anchor="ctr"/>
          <a:lstStyle/>
          <a:p>
            <a:pPr indent="0" marL="0">
              <a:lnSpc>
                <a:spcPct val="115000"/>
              </a:lnSpc>
              <a:buNone/>
            </a:pPr>
            <a:r>
              <a:rPr lang="en-US" sz="1050" b="1" dirty="0">
                <a:solidFill>
                  <a:srgbClr val="14171F"/>
                </a:solidFill>
                <a:latin typeface="Arial" pitchFamily="34" charset="0"/>
                <a:ea typeface="Arial" pitchFamily="34" charset="-122"/>
                <a:cs typeface="Arial" pitchFamily="34" charset="-120"/>
              </a:rPr>
              <a:t>What happens in the first 90 days:  </a:t>
            </a:r>
            <a:pPr indent="0" marL="0">
              <a:lnSpc>
                <a:spcPct val="115000"/>
              </a:lnSpc>
              <a:buNone/>
            </a:pPr>
            <a:r>
              <a:rPr lang="en-US" sz="1050" dirty="0">
                <a:solidFill>
                  <a:srgbClr val="14171F"/>
                </a:solidFill>
                <a:latin typeface="Arial" pitchFamily="34" charset="0"/>
                <a:ea typeface="Arial" pitchFamily="34" charset="-122"/>
                <a:cs typeface="Arial" pitchFamily="34" charset="-120"/>
              </a:rPr>
              <a:t>the three entry engagements run and finish; each produces a number; the numbers become the proof page. No new hires, no new tooling, no committee — three small, fixed, mostly funded pieces of work that let the capability earn its way in.</a:t>
            </a:r>
            <a:endParaRPr lang="en-US" sz="1050" dirty="0"/>
          </a:p>
        </p:txBody>
      </p:sp>
      <p:sp>
        <p:nvSpPr>
          <p:cNvPr id="30" name="Text 28"/>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Small, fixed, funded first steps. The decision today is three account names and one calendar slot — the capability proves itself from there.</a:t>
            </a:r>
            <a:endParaRPr lang="en-US" sz="900" dirty="0"/>
          </a:p>
        </p:txBody>
      </p:sp>
      <p:sp>
        <p:nvSpPr>
          <p:cNvPr id="31" name="Text 29"/>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Companion materials to follow this deck: one-pager per offering (client-facing), the five-cues card (internal), and the value case template. All three exist as drafts and sharpen with the first three engagements.</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7772400" cy="274320"/>
          </a:xfrm>
          <a:prstGeom prst="rect">
            <a:avLst/>
          </a:prstGeom>
          <a:noFill/>
          <a:ln/>
        </p:spPr>
        <p:txBody>
          <a:bodyPr wrap="square" lIns="0" tIns="0" rIns="0" bIns="0" rtlCol="0" anchor="ctr"/>
          <a:lstStyle/>
          <a:p>
            <a:pPr indent="0" marL="0">
              <a:buNone/>
            </a:pPr>
            <a:r>
              <a:rPr lang="en-US" sz="900" spc="200" kern="0" dirty="0">
                <a:solidFill>
                  <a:srgbClr val="5C6470"/>
                </a:solidFill>
                <a:latin typeface="Arial" pitchFamily="34" charset="0"/>
                <a:ea typeface="Arial" pitchFamily="34" charset="-122"/>
                <a:cs typeface="Arial" pitchFamily="34" charset="-120"/>
              </a:rPr>
              <a:t>APPENDIX  |  STAT BANK</a:t>
            </a:r>
            <a:endParaRPr lang="en-US" sz="900" dirty="0"/>
          </a:p>
        </p:txBody>
      </p:sp>
      <p:sp>
        <p:nvSpPr>
          <p:cNvPr id="3" name="Text 1"/>
          <p:cNvSpPr/>
          <p:nvPr/>
        </p:nvSpPr>
        <p:spPr>
          <a:xfrm>
            <a:off x="10680192" y="146304"/>
            <a:ext cx="1207008" cy="329184"/>
          </a:xfrm>
          <a:prstGeom prst="rect">
            <a:avLst/>
          </a:prstGeom>
          <a:solidFill>
            <a:srgbClr val="14171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Draft for discussion</a:t>
            </a:r>
            <a:endParaRPr lang="en-US" sz="800" dirty="0"/>
          </a:p>
        </p:txBody>
      </p:sp>
      <p:sp>
        <p:nvSpPr>
          <p:cNvPr id="4" name="Text 2"/>
          <p:cNvSpPr/>
          <p:nvPr/>
        </p:nvSpPr>
        <p:spPr>
          <a:xfrm>
            <a:off x="11475720" y="512064"/>
            <a:ext cx="411480" cy="228600"/>
          </a:xfrm>
          <a:prstGeom prst="rect">
            <a:avLst/>
          </a:prstGeom>
          <a:noFill/>
          <a:ln/>
        </p:spPr>
        <p:txBody>
          <a:bodyPr wrap="square" lIns="0" tIns="0" rIns="0" bIns="0" rtlCol="0" anchor="ctr"/>
          <a:lstStyle/>
          <a:p>
            <a:pPr algn="r" indent="0" marL="0">
              <a:buNone/>
            </a:pPr>
            <a:r>
              <a:rPr lang="en-US" sz="900" dirty="0">
                <a:solidFill>
                  <a:srgbClr val="5C6470"/>
                </a:solidFill>
                <a:latin typeface="Arial" pitchFamily="34" charset="0"/>
                <a:ea typeface="Arial" pitchFamily="34" charset="-122"/>
                <a:cs typeface="Arial" pitchFamily="34" charset="-120"/>
              </a:rPr>
              <a:t>16</a:t>
            </a:r>
            <a:endParaRPr lang="en-US" sz="900" dirty="0"/>
          </a:p>
        </p:txBody>
      </p:sp>
      <p:sp>
        <p:nvSpPr>
          <p:cNvPr id="5" name="Text 3"/>
          <p:cNvSpPr/>
          <p:nvPr/>
        </p:nvSpPr>
        <p:spPr>
          <a:xfrm>
            <a:off x="11137392" y="6528816"/>
            <a:ext cx="777240" cy="256032"/>
          </a:xfrm>
          <a:prstGeom prst="rect">
            <a:avLst/>
          </a:prstGeom>
          <a:noFill/>
          <a:ln/>
        </p:spPr>
        <p:txBody>
          <a:bodyPr wrap="square" lIns="0" tIns="0" rIns="0" bIns="0" rtlCol="0" anchor="ctr"/>
          <a:lstStyle/>
          <a:p>
            <a:pPr algn="r" indent="0" marL="0">
              <a:buNone/>
            </a:pPr>
            <a:r>
              <a:rPr lang="en-US" sz="1100" b="1" dirty="0">
                <a:solidFill>
                  <a:srgbClr val="14171F"/>
                </a:solidFill>
                <a:latin typeface="Arial" pitchFamily="34" charset="0"/>
                <a:ea typeface="Arial" pitchFamily="34" charset="-122"/>
                <a:cs typeface="Arial" pitchFamily="34" charset="-120"/>
              </a:rPr>
              <a:t>slalom</a:t>
            </a:r>
            <a:endParaRPr lang="en-US" sz="1100" dirty="0"/>
          </a:p>
        </p:txBody>
      </p:sp>
      <p:sp>
        <p:nvSpPr>
          <p:cNvPr id="6" name="Text 4"/>
          <p:cNvSpPr/>
          <p:nvPr/>
        </p:nvSpPr>
        <p:spPr>
          <a:xfrm>
            <a:off x="502920" y="530352"/>
            <a:ext cx="10972800" cy="749808"/>
          </a:xfrm>
          <a:prstGeom prst="rect">
            <a:avLst/>
          </a:prstGeom>
          <a:noFill/>
          <a:ln/>
        </p:spPr>
        <p:txBody>
          <a:bodyPr wrap="square" lIns="0" tIns="0" rIns="0" bIns="0" rtlCol="0" anchor="t"/>
          <a:lstStyle/>
          <a:p>
            <a:pPr indent="0" marL="0">
              <a:lnSpc>
                <a:spcPct val="102000"/>
              </a:lnSpc>
              <a:buNone/>
            </a:pPr>
            <a:r>
              <a:rPr lang="en-US" sz="2000" b="1" dirty="0">
                <a:solidFill>
                  <a:srgbClr val="14171F"/>
                </a:solidFill>
                <a:latin typeface="Arial" pitchFamily="34" charset="0"/>
                <a:ea typeface="Arial" pitchFamily="34" charset="-122"/>
                <a:cs typeface="Arial" pitchFamily="34" charset="-120"/>
              </a:rPr>
              <a:t>The numbers behind the deck — and the ones we deliberately don't use</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7863840" cy="914400"/>
        </p:xfrm>
        <a:graphic>
          <a:graphicData uri="http://schemas.openxmlformats.org/drawingml/2006/table">
            <a:tbl>
              <a:tblPr/>
              <a:tblGrid>
                <a:gridCol w="5029200"/>
                <a:gridCol w="2834640"/>
              </a:tblGrid>
              <a:tr h="310896">
                <a:tc>
                  <a:txBody>
                    <a:bodyPr/>
                    <a:lstStyle/>
                    <a:p>
                      <a:pPr indent="0" marL="0">
                        <a:buNone/>
                      </a:pPr>
                      <a:r>
                        <a:rPr lang="en-US" sz="900" b="1" dirty="0">
                          <a:solidFill>
                            <a:srgbClr val="FFFFFF"/>
                          </a:solidFill>
                          <a:latin typeface="Arial" pitchFamily="34" charset="0"/>
                          <a:ea typeface="Arial" pitchFamily="34" charset="-122"/>
                          <a:cs typeface="Arial" pitchFamily="34" charset="-120"/>
                        </a:rPr>
                        <a:t>The stat</a:t>
                      </a:r>
                      <a:endParaRPr lang="en-US" sz="90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62FB"/>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Source</a:t>
                      </a:r>
                      <a:endParaRPr lang="en-US" sz="90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C62FB"/>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Only 0.5% of ~16,000 projects hit cost, time and benefits targets</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Flyvbjerg &amp; Gardner, How Big Things Get Done, 2023</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88% of transformations miss their original ambition; a dedicated value owner captures 24% more of planned value</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Bain &amp; Company, 24,000-initiative database, 2024</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~25% of transformation value is lost at the business-case stage; even successful programmes capture only 67% of possible value</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McKinsey, Losing from Day One</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Only 39% of organisations mostly or always deliver full project benefits</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Wellingtone, State of Project Management 2025/26</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89% of operations leaders say tech investments haven't fully delivered</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PwC, Digital Trends in Operations 2026 (n=767)</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84% of finance organisations have adopted or are adopting AI; 7% report high impact</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Gartner CFO survey, press release Mar 2026</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Top 20% of companies capture 74% of AI's economic value — 7.2x the gains of peers</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PwC AI Performance Study, Apr 2026 (n=1,217)</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70% of AI value comes from people and process redesign (10% algorithms, 20% tech and data)</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BCG, 2025</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Full AI cost visibility → 5x more likely to show established returns; only 26% have it</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KPMG Global AI Pulse, Q2 2026 (n=2,000+)</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46% of software licences unused (~$19.8m per enterprise per year); cloud waste at 29% and rising</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Zylo SMI 2025/26; Flexera State of the Cloud 2026</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~70% of acquirers overestimate synergies; ~30% hit targets; revenue synergies land at 25–35%</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Bain (31,000 companies); McKinsey</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5F8FE"/>
                    </a:solidFill>
                  </a:tcPr>
                </a:tc>
              </a:tr>
              <a:tr h="310896">
                <a:tc>
                  <a:txBody>
                    <a:bodyPr/>
                    <a:lstStyle/>
                    <a:p>
                      <a:pPr indent="0" marL="0">
                        <a:buNone/>
                      </a:pPr>
                      <a:r>
                        <a:rPr lang="en-US" sz="860" dirty="0">
                          <a:solidFill>
                            <a:srgbClr val="14171F"/>
                          </a:solidFill>
                          <a:latin typeface="Arial" pitchFamily="34" charset="0"/>
                          <a:ea typeface="Arial" pitchFamily="34" charset="-122"/>
                          <a:cs typeface="Arial" pitchFamily="34" charset="-120"/>
                        </a:rPr>
                        <a:t>PE now needs ~12% annual EBITDA growth where 5% used to do; 58% of firms deploy value resources in the first 100 days</a:t>
                      </a:r>
                      <a:endParaRPr lang="en-US" sz="86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820" dirty="0">
                          <a:solidFill>
                            <a:srgbClr val="5C6470"/>
                          </a:solidFill>
                          <a:latin typeface="Arial" pitchFamily="34" charset="0"/>
                          <a:ea typeface="Arial" pitchFamily="34" charset="-122"/>
                          <a:cs typeface="Arial" pitchFamily="34" charset="-120"/>
                        </a:rPr>
                        <a:t>Bain Global PE Report 2026; A&amp;M Value Creation Report 2026</a:t>
                      </a:r>
                      <a:endParaRPr lang="en-US" sz="820" dirty="0">
                        <a:latin typeface="Arial" charset="0"/>
                        <a:ea typeface="Arial" charset="0"/>
                        <a:cs typeface="Arial" charset="0"/>
                      </a:endParaRPr>
                    </a:p>
                  </a:txBody>
                  <a:tcPr marL="36576" marR="36576"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5"/>
          <p:cNvSpPr/>
          <p:nvPr/>
        </p:nvSpPr>
        <p:spPr>
          <a:xfrm>
            <a:off x="8549640" y="1371600"/>
            <a:ext cx="3136392" cy="3108960"/>
          </a:xfrm>
          <a:prstGeom prst="rect">
            <a:avLst/>
          </a:prstGeom>
          <a:solidFill>
            <a:srgbClr val="FBEDED"/>
          </a:solidFill>
          <a:ln/>
        </p:spPr>
      </p:sp>
      <p:sp>
        <p:nvSpPr>
          <p:cNvPr id="9" name="Text 6"/>
          <p:cNvSpPr/>
          <p:nvPr/>
        </p:nvSpPr>
        <p:spPr>
          <a:xfrm>
            <a:off x="8677656" y="1481328"/>
            <a:ext cx="2880360" cy="237744"/>
          </a:xfrm>
          <a:prstGeom prst="rect">
            <a:avLst/>
          </a:prstGeom>
          <a:noFill/>
          <a:ln/>
        </p:spPr>
        <p:txBody>
          <a:bodyPr wrap="square" lIns="0" tIns="0" rIns="0" bIns="0" rtlCol="0" anchor="ctr"/>
          <a:lstStyle/>
          <a:p>
            <a:pPr indent="0" marL="0">
              <a:buNone/>
            </a:pPr>
            <a:r>
              <a:rPr lang="en-US" sz="900" b="1" spc="150" kern="0" dirty="0">
                <a:solidFill>
                  <a:srgbClr val="C62828"/>
                </a:solidFill>
                <a:latin typeface="Arial" pitchFamily="34" charset="0"/>
                <a:ea typeface="Arial" pitchFamily="34" charset="-122"/>
                <a:cs typeface="Arial" pitchFamily="34" charset="-120"/>
              </a:rPr>
              <a:t>NUMBERS WE DON'T USE</a:t>
            </a:r>
            <a:endParaRPr lang="en-US" sz="900" dirty="0"/>
          </a:p>
        </p:txBody>
      </p:sp>
      <p:sp>
        <p:nvSpPr>
          <p:cNvPr id="10" name="Text 7"/>
          <p:cNvSpPr/>
          <p:nvPr/>
        </p:nvSpPr>
        <p:spPr>
          <a:xfrm>
            <a:off x="8677656" y="1773936"/>
            <a:ext cx="2880360" cy="2651760"/>
          </a:xfrm>
          <a:prstGeom prst="rect">
            <a:avLst/>
          </a:prstGeom>
          <a:noFill/>
          <a:ln/>
        </p:spPr>
        <p:txBody>
          <a:bodyPr wrap="square" lIns="0" tIns="0" rIns="0" bIns="0" rtlCol="0" anchor="ctr"/>
          <a:lstStyle/>
          <a:p>
            <a:pPr marL="127000" indent="-127000">
              <a:lnSpc>
                <a:spcPct val="112000"/>
              </a:lnSpc>
              <a:spcAft>
                <a:spcPts val="800"/>
              </a:spcAft>
              <a:buSzPct val="100000"/>
              <a:buChar char="–"/>
            </a:pPr>
            <a:r>
              <a:rPr lang="en-US" sz="930" dirty="0">
                <a:solidFill>
                  <a:srgbClr val="14171F"/>
                </a:solidFill>
                <a:latin typeface="Arial" pitchFamily="34" charset="0"/>
                <a:ea typeface="Arial" pitchFamily="34" charset="-122"/>
                <a:cs typeface="Arial" pitchFamily="34" charset="-120"/>
              </a:rPr>
              <a:t>“95% of AI pilots fail” (MIT) — tiny sample, unaudited, contradicted by its own findings. Invites challenge.</a:t>
            </a:r>
            <a:endParaRPr lang="en-US" sz="930" dirty="0"/>
          </a:p>
          <a:p>
            <a:pPr marL="127000" indent="-127000">
              <a:lnSpc>
                <a:spcPct val="112000"/>
              </a:lnSpc>
              <a:spcAft>
                <a:spcPts val="800"/>
              </a:spcAft>
              <a:buSzPct val="100000"/>
              <a:buChar char="–"/>
            </a:pPr>
            <a:r>
              <a:rPr lang="en-US" sz="930" dirty="0">
                <a:solidFill>
                  <a:srgbClr val="14171F"/>
                </a:solidFill>
                <a:latin typeface="Arial" pitchFamily="34" charset="0"/>
                <a:ea typeface="Arial" pitchFamily="34" charset="-122"/>
                <a:cs typeface="Arial" pitchFamily="34" charset="-120"/>
              </a:rPr>
              <a:t>“70% of transformations fail” — a 1993 guess recycled for thirty years. No empirical basis.</a:t>
            </a:r>
            <a:endParaRPr lang="en-US" sz="930" dirty="0"/>
          </a:p>
          <a:p>
            <a:pPr marL="127000" indent="-127000">
              <a:lnSpc>
                <a:spcPct val="112000"/>
              </a:lnSpc>
              <a:spcAft>
                <a:spcPts val="800"/>
              </a:spcAft>
              <a:buSzPct val="100000"/>
              <a:buChar char="–"/>
            </a:pPr>
            <a:r>
              <a:rPr lang="en-US" sz="930" dirty="0">
                <a:solidFill>
                  <a:srgbClr val="14171F"/>
                </a:solidFill>
                <a:latin typeface="Arial" pitchFamily="34" charset="0"/>
                <a:ea typeface="Arial" pitchFamily="34" charset="-122"/>
                <a:cs typeface="Arial" pitchFamily="34" charset="-120"/>
              </a:rPr>
              <a:t>“30% of AI projects abandoned by 2025” — a Gartner prediction, never verified as an outcome.</a:t>
            </a:r>
            <a:endParaRPr lang="en-US" sz="930" dirty="0"/>
          </a:p>
          <a:p>
            <a:pPr marL="127000" indent="-127000">
              <a:lnSpc>
                <a:spcPct val="112000"/>
              </a:lnSpc>
              <a:spcAft>
                <a:spcPts val="800"/>
              </a:spcAft>
              <a:buSzPct val="100000"/>
              <a:buChar char="–"/>
            </a:pPr>
            <a:r>
              <a:rPr lang="en-US" sz="930" dirty="0">
                <a:solidFill>
                  <a:srgbClr val="14171F"/>
                </a:solidFill>
                <a:latin typeface="Arial" pitchFamily="34" charset="0"/>
                <a:ea typeface="Arial" pitchFamily="34" charset="-122"/>
                <a:cs typeface="Arial" pitchFamily="34" charset="-120"/>
              </a:rPr>
              <a:t>Vendor ROI studies (417%, 251%) — commissioned marketing; use only as “the value the vendor claims is available”.</a:t>
            </a:r>
            <a:endParaRPr lang="en-US" sz="930" dirty="0"/>
          </a:p>
        </p:txBody>
      </p:sp>
      <p:sp>
        <p:nvSpPr>
          <p:cNvPr id="11" name="Shape 8"/>
          <p:cNvSpPr/>
          <p:nvPr/>
        </p:nvSpPr>
        <p:spPr>
          <a:xfrm>
            <a:off x="8549640" y="4617720"/>
            <a:ext cx="3136392" cy="1207008"/>
          </a:xfrm>
          <a:prstGeom prst="rect">
            <a:avLst/>
          </a:prstGeom>
          <a:solidFill>
            <a:srgbClr val="14171F"/>
          </a:solidFill>
          <a:ln/>
        </p:spPr>
      </p:sp>
      <p:sp>
        <p:nvSpPr>
          <p:cNvPr id="12" name="Text 9"/>
          <p:cNvSpPr/>
          <p:nvPr/>
        </p:nvSpPr>
        <p:spPr>
          <a:xfrm>
            <a:off x="8677656" y="4709160"/>
            <a:ext cx="2880360" cy="1042416"/>
          </a:xfrm>
          <a:prstGeom prst="rect">
            <a:avLst/>
          </a:prstGeom>
          <a:noFill/>
          <a:ln/>
        </p:spPr>
        <p:txBody>
          <a:bodyPr wrap="square" lIns="0" tIns="0" rIns="0" bIns="0" rtlCol="0" anchor="ctr"/>
          <a:lstStyle/>
          <a:p>
            <a:pPr indent="0" marL="0">
              <a:lnSpc>
                <a:spcPct val="115000"/>
              </a:lnSpc>
              <a:buNone/>
            </a:pPr>
            <a:r>
              <a:rPr lang="en-US" sz="1000" b="1" dirty="0">
                <a:solidFill>
                  <a:srgbClr val="FFFFFF"/>
                </a:solidFill>
                <a:latin typeface="Arial" pitchFamily="34" charset="0"/>
                <a:ea typeface="Arial" pitchFamily="34" charset="-122"/>
                <a:cs typeface="Arial" pitchFamily="34" charset="-120"/>
              </a:rPr>
              <a:t>Quoting careful numbers is part of the offering. A client who watches us reject a famous stat learns exactly how we'll treat their business case.</a:t>
            </a:r>
            <a:endParaRPr lang="en-US" sz="1000" dirty="0"/>
          </a:p>
        </p:txBody>
      </p:sp>
      <p:sp>
        <p:nvSpPr>
          <p:cNvPr id="13" name="Text 10"/>
          <p:cNvSpPr/>
          <p:nvPr/>
        </p:nvSpPr>
        <p:spPr>
          <a:xfrm>
            <a:off x="502920" y="6016752"/>
            <a:ext cx="11183112" cy="420624"/>
          </a:xfrm>
          <a:prstGeom prst="rect">
            <a:avLst/>
          </a:prstGeom>
          <a:solidFill>
            <a:srgbClr val="0C62FB"/>
          </a:solidFill>
          <a:ln/>
        </p:spPr>
        <p:txBody>
          <a:bodyPr wrap="square" lIns="1143" tIns="1143" rIns="1143" bIns="1143" rtlCol="0" anchor="ctr"/>
          <a:lstStyle/>
          <a:p>
            <a:pPr indent="0" marL="0">
              <a:buNone/>
            </a:pPr>
            <a:r>
              <a:rPr lang="en-US" sz="900" b="1" spc="150" kern="0" dirty="0">
                <a:solidFill>
                  <a:srgbClr val="FFFFFF"/>
                </a:solidFill>
                <a:latin typeface="Arial" pitchFamily="34" charset="0"/>
                <a:ea typeface="Arial" pitchFamily="34" charset="-122"/>
                <a:cs typeface="Arial" pitchFamily="34" charset="-120"/>
              </a:rPr>
              <a:t>SO WHAT   </a:t>
            </a:r>
            <a:pPr indent="0" marL="0">
              <a:buNone/>
            </a:pPr>
            <a:r>
              <a:rPr lang="en-US" sz="1100" dirty="0">
                <a:solidFill>
                  <a:srgbClr val="FFFFFF"/>
                </a:solidFill>
                <a:latin typeface="Arial" pitchFamily="34" charset="0"/>
                <a:ea typeface="Arial" pitchFamily="34" charset="-122"/>
                <a:cs typeface="Arial" pitchFamily="34" charset="-120"/>
              </a:rPr>
              <a:t>Every number in this deck traces to a named source and survives a sceptical CFO. The full research document sits behind this page.</a:t>
            </a:r>
            <a:endParaRPr lang="en-US" sz="900" dirty="0"/>
          </a:p>
        </p:txBody>
      </p:sp>
      <p:sp>
        <p:nvSpPr>
          <p:cNvPr id="14" name="Text 11"/>
          <p:cNvSpPr/>
          <p:nvPr/>
        </p:nvSpPr>
        <p:spPr>
          <a:xfrm>
            <a:off x="502920" y="6492240"/>
            <a:ext cx="10424160" cy="310896"/>
          </a:xfrm>
          <a:prstGeom prst="rect">
            <a:avLst/>
          </a:prstGeom>
          <a:noFill/>
          <a:ln/>
        </p:spPr>
        <p:txBody>
          <a:bodyPr wrap="square" lIns="0" tIns="0" rIns="0" bIns="0" rtlCol="0" anchor="t"/>
          <a:lstStyle/>
          <a:p>
            <a:pPr indent="0" marL="0">
              <a:lnSpc>
                <a:spcPct val="105000"/>
              </a:lnSpc>
              <a:buNone/>
            </a:pPr>
            <a:r>
              <a:rPr lang="en-US" sz="750" dirty="0">
                <a:solidFill>
                  <a:srgbClr val="5C6470"/>
                </a:solidFill>
                <a:latin typeface="Arial" pitchFamily="34" charset="0"/>
                <a:ea typeface="Arial" pitchFamily="34" charset="-122"/>
                <a:cs typeface="Arial" pitchFamily="34" charset="-120"/>
              </a:rPr>
              <a:t>Full research foundation with confidence ratings and verification notes: research/value-architecture-research.md. Several widely circulated figures were checked and excluded during research; the exclusion list above is the short version.</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2026-08-19T08:17:12Z</dcterms:created>
  <dcterms:modified xsi:type="dcterms:W3CDTF">2026-08-19T08:17:12Z</dcterms:modified>
</cp:coreProperties>
</file>