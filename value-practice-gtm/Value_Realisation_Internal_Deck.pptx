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300" r:id="rId2"/>
    <p:sldId id="301" r:id="rId36"/>
    <p:sldId id="302" r:id="rId37"/>
    <p:sldId id="303" r:id="rId38"/>
    <p:sldId id="304" r:id="rId39"/>
    <p:sldId id="305" r:id="rId40"/>
    <p:sldId id="306" r:id="rId41"/>
    <p:sldId id="307" r:id="rId42"/>
    <p:sldId id="308" r:id="rId43"/>
    <p:sldId id="309"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0" d="100"/>
          <a:sy n="70" d="100"/>
        </p:scale>
        <p:origin x="2118" y="7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2.xml"/><Relationship Id="rId37" Type="http://schemas.openxmlformats.org/officeDocument/2006/relationships/slide" Target="slides/slide3.xml"/><Relationship Id="rId38" Type="http://schemas.openxmlformats.org/officeDocument/2006/relationships/slide" Target="slides/slide4.xml"/><Relationship Id="rId39" Type="http://schemas.openxmlformats.org/officeDocument/2006/relationships/slide" Target="slides/slide5.xml"/><Relationship Id="rId40" Type="http://schemas.openxmlformats.org/officeDocument/2006/relationships/slide" Target="slides/slide6.xml"/><Relationship Id="rId41" Type="http://schemas.openxmlformats.org/officeDocument/2006/relationships/slide" Target="slides/slide7.xml"/><Relationship Id="rId42" Type="http://schemas.openxmlformats.org/officeDocument/2006/relationships/slide" Target="slides/slide8.xml"/><Relationship Id="rId43" Type="http://schemas.openxmlformats.org/officeDocument/2006/relationships/slide" Target="slides/slide9.xml"/><Relationship Id="rId44"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supports the revised answer led storyline.</a:t>
            </a:r>
          </a:p>
          <a:p>
            <a:endParaRPr/>
          </a:p>
          <a:p>
            <a:r>
              <a:t>[Sources]</a:t>
            </a:r>
          </a:p>
          <a:p>
            <a:r>
              <a:t>User supplied research brief and practice design, 20 August 2026.</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D10"/>
        </a:solidFill>
        <a:effectLst/>
      </p:bgPr>
    </p:bg>
    <p:spTree>
      <p:nvGrpSpPr>
        <p:cNvPr id="1" name=""/>
        <p:cNvGrpSpPr/>
        <p:nvPr/>
      </p:nvGrpSpPr>
      <p:grpSpPr>
        <a:xfrm>
          <a:off x="0" y="0"/>
          <a:ext cx="0" cy="0"/>
          <a:chOff x="0" y="0"/>
          <a:chExt cx="0" cy="0"/>
        </a:xfrm>
      </p:grpSpPr>
      <p:sp>
        <p:nvSpPr>
          <p:cNvPr id="7" name="shape-1">
            <a:extLst>
              <a:ext uri="{FF2B5EF4-FFF2-40B4-BE49-F238E27FC236}">
                <a16:creationId xmlns:a16="http://schemas.microsoft.com/office/drawing/2014/main" id="{16F40763-E2B5-48C2-8C8F-222C2769A900}"/>
              </a:ext>
            </a:extLst>
          </p:cNvPr>
          <p:cNvSpPr>
            <a:spLocks noGrp="1"/>
          </p:cNvSpPr>
          <p:nvPr/>
        </p:nvSpPr>
        <p:spPr>
          <a:xfrm>
            <a:off x="0" y="0"/>
            <a:ext cx="190500" cy="6858000"/>
          </a:xfrm>
          <a:prstGeom prst="rect">
            <a:avLst/>
          </a:prstGeom>
          <a:solidFill>
            <a:srgbClr val="1667D9"/>
          </a:solidFill>
          <a:ln w="0">
            <a:noFill/>
            <a:prstDash val="solid"/>
          </a:ln>
        </p:spPr>
        <p:txBody>
          <a:bodyPr/>
          <a:lstStyle/>
          <a:p>
            <a:endParaRPr lang="en-AU"/>
          </a:p>
        </p:txBody>
      </p:sp>
      <p:sp>
        <p:nvSpPr>
          <p:cNvPr id="2" name="text-2">
            <a:extLst>
              <a:ext uri="{FF2B5EF4-FFF2-40B4-BE49-F238E27FC236}">
                <a16:creationId xmlns:a16="http://schemas.microsoft.com/office/drawing/2014/main" id="{BB434933-FF16-41C1-A55F-AE363A103B37}"/>
              </a:ext>
            </a:extLst>
          </p:cNvPr>
          <p:cNvSpPr>
            <a:spLocks noGrp="1"/>
          </p:cNvSpPr>
          <p:nvPr/>
        </p:nvSpPr>
        <p:spPr>
          <a:xfrm>
            <a:off x="533400" y="476250"/>
            <a:ext cx="3333750" cy="285750"/>
          </a:xfrm>
          <a:prstGeom prst="rect">
            <a:avLst/>
          </a:prstGeom>
          <a:noFill/>
          <a:ln w="0">
            <a:noFill/>
            <a:prstDash val="solid"/>
          </a:ln>
        </p:spPr>
        <p:txBody>
          <a:bodyPr lIns="0" tIns="0" rIns="0" bIns="0" anchor="t">
            <a:normAutofit/>
          </a:bodyPr>
          <a:lstStyle/>
          <a:p>
            <a:pPr algn="l">
              <a:buNone/>
              <a:defRPr sz="1350" b="1">
                <a:solidFill>
                  <a:srgbClr val="82B6FF"/>
                </a:solidFill>
                <a:latin typeface="Helvetica Neue"/>
                <a:ea typeface="Helvetica Neue"/>
                <a:cs typeface="Helvetica Neue"/>
              </a:defRPr>
            </a:pPr>
            <a:r>
              <a:rPr sz="1350" b="1">
                <a:solidFill>
                  <a:srgbClr val="82B6FF"/>
                </a:solidFill>
                <a:latin typeface="Helvetica Neue"/>
                <a:ea typeface="Helvetica Neue"/>
                <a:cs typeface="Helvetica Neue"/>
              </a:rPr>
              <a:t>SLALOM AUSTRALIA</a:t>
            </a:r>
          </a:p>
        </p:txBody>
      </p:sp>
      <p:sp>
        <p:nvSpPr>
          <p:cNvPr id="3" name="text-3">
            <a:extLst>
              <a:ext uri="{FF2B5EF4-FFF2-40B4-BE49-F238E27FC236}">
                <a16:creationId xmlns:a16="http://schemas.microsoft.com/office/drawing/2014/main" id="{3B76C9E1-24CE-4DC9-AA42-B2048FC0935C}"/>
              </a:ext>
            </a:extLst>
          </p:cNvPr>
          <p:cNvSpPr>
            <a:spLocks noGrp="1"/>
          </p:cNvSpPr>
          <p:nvPr/>
        </p:nvSpPr>
        <p:spPr>
          <a:xfrm>
            <a:off x="533400" y="1685925"/>
            <a:ext cx="9810750" cy="2400300"/>
          </a:xfrm>
          <a:prstGeom prst="rect">
            <a:avLst/>
          </a:prstGeom>
          <a:noFill/>
          <a:ln w="0">
            <a:noFill/>
            <a:prstDash val="solid"/>
          </a:ln>
        </p:spPr>
        <p:txBody>
          <a:bodyPr lIns="0" tIns="0" rIns="0" bIns="0" anchor="t">
            <a:normAutofit fontScale="94595"/>
          </a:bodyPr>
          <a:lstStyle/>
          <a:p>
            <a:pPr algn="l">
              <a:buNone/>
              <a:defRPr sz="5550" b="1">
                <a:solidFill>
                  <a:srgbClr val="FFFFFF"/>
                </a:solidFill>
                <a:latin typeface="Helvetica Neue"/>
                <a:ea typeface="Helvetica Neue"/>
                <a:cs typeface="Helvetica Neue"/>
              </a:defRPr>
            </a:pPr>
            <a:r>
              <a:rPr sz="5550" b="1">
                <a:solidFill>
                  <a:srgbClr val="FFFFFF"/>
                </a:solidFill>
                <a:latin typeface="Helvetica Neue"/>
                <a:ea typeface="Helvetica Neue"/>
                <a:cs typeface="Helvetica Neue"/>
              </a:rPr>
              <a:t>Turn technology investment into measurable business outcomes.</a:t>
            </a:r>
          </a:p>
        </p:txBody>
      </p:sp>
      <p:sp>
        <p:nvSpPr>
          <p:cNvPr id="4" name="text-4">
            <a:extLst>
              <a:ext uri="{FF2B5EF4-FFF2-40B4-BE49-F238E27FC236}">
                <a16:creationId xmlns:a16="http://schemas.microsoft.com/office/drawing/2014/main" id="{330AB16D-0E7C-40E8-B9A0-C1CD0DD4B588}"/>
              </a:ext>
            </a:extLst>
          </p:cNvPr>
          <p:cNvSpPr>
            <a:spLocks noGrp="1"/>
          </p:cNvSpPr>
          <p:nvPr/>
        </p:nvSpPr>
        <p:spPr>
          <a:xfrm>
            <a:off x="533400" y="4762500"/>
            <a:ext cx="7429500" cy="457200"/>
          </a:xfrm>
          <a:prstGeom prst="rect">
            <a:avLst/>
          </a:prstGeom>
          <a:noFill/>
          <a:ln w="0">
            <a:noFill/>
            <a:prstDash val="solid"/>
          </a:ln>
        </p:spPr>
        <p:txBody>
          <a:bodyPr lIns="0" tIns="0" rIns="0" bIns="0" anchor="t">
            <a:normAutofit/>
          </a:bodyPr>
          <a:lstStyle/>
          <a:p>
            <a:pPr algn="l">
              <a:buNone/>
              <a:defRPr sz="2250" b="1">
                <a:solidFill>
                  <a:srgbClr val="FFFFFF"/>
                </a:solidFill>
                <a:latin typeface="Helvetica Neue"/>
                <a:ea typeface="Helvetica Neue"/>
                <a:cs typeface="Helvetica Neue"/>
              </a:defRPr>
            </a:pPr>
            <a:r>
              <a:rPr sz="2250" b="1">
                <a:solidFill>
                  <a:srgbClr val="FFFFFF"/>
                </a:solidFill>
                <a:latin typeface="Helvetica Neue"/>
                <a:ea typeface="Helvetica Neue"/>
                <a:cs typeface="Helvetica Neue"/>
              </a:rPr>
              <a:t>Value Realisation</a:t>
            </a:r>
          </a:p>
        </p:txBody>
      </p:sp>
      <p:sp>
        <p:nvSpPr>
          <p:cNvPr id="5" name="text-5">
            <a:extLst>
              <a:ext uri="{FF2B5EF4-FFF2-40B4-BE49-F238E27FC236}">
                <a16:creationId xmlns:a16="http://schemas.microsoft.com/office/drawing/2014/main" id="{718CEE28-A828-4417-A32D-3C216A9E914B}"/>
              </a:ext>
            </a:extLst>
          </p:cNvPr>
          <p:cNvSpPr>
            <a:spLocks noGrp="1"/>
          </p:cNvSpPr>
          <p:nvPr/>
        </p:nvSpPr>
        <p:spPr>
          <a:xfrm>
            <a:off x="533400" y="5286375"/>
            <a:ext cx="9334500" cy="523875"/>
          </a:xfrm>
          <a:prstGeom prst="rect">
            <a:avLst/>
          </a:prstGeom>
          <a:noFill/>
          <a:ln w="0">
            <a:noFill/>
            <a:prstDash val="solid"/>
          </a:ln>
        </p:spPr>
        <p:txBody>
          <a:bodyPr lIns="0" tIns="0" rIns="0" bIns="0" anchor="t">
            <a:normAutofit fontScale="99638"/>
          </a:bodyPr>
          <a:lstStyle/>
          <a:p>
            <a:pPr algn="l">
              <a:buNone/>
              <a:defRPr sz="1725" b="0">
                <a:solidFill>
                  <a:srgbClr val="C4CBD3"/>
                </a:solidFill>
                <a:latin typeface="Helvetica Neue"/>
                <a:ea typeface="Helvetica Neue"/>
                <a:cs typeface="Helvetica Neue"/>
              </a:defRPr>
            </a:pPr>
            <a:r>
              <a:rPr sz="1725" b="0">
                <a:solidFill>
                  <a:srgbClr val="C4CBD3"/>
                </a:solidFill>
                <a:latin typeface="Helvetica Neue"/>
                <a:ea typeface="Helvetica Neue"/>
                <a:cs typeface="Helvetica Neue"/>
              </a:rPr>
              <a:t>The case for an integrated client offering that shapes decisions, changes delivery and proves results.</a:t>
            </a:r>
          </a:p>
        </p:txBody>
      </p:sp>
      <p:sp>
        <p:nvSpPr>
          <p:cNvPr id="6" name="text-6">
            <a:extLst>
              <a:ext uri="{FF2B5EF4-FFF2-40B4-BE49-F238E27FC236}">
                <a16:creationId xmlns:a16="http://schemas.microsoft.com/office/drawing/2014/main" id="{ECB98DF3-4BB6-4CD6-889F-BAB34F78F16E}"/>
              </a:ext>
            </a:extLst>
          </p:cNvPr>
          <p:cNvSpPr>
            <a:spLocks noGrp="1"/>
          </p:cNvSpPr>
          <p:nvPr/>
        </p:nvSpPr>
        <p:spPr>
          <a:xfrm>
            <a:off x="533400" y="6324600"/>
            <a:ext cx="2381250" cy="190500"/>
          </a:xfrm>
          <a:prstGeom prst="rect">
            <a:avLst/>
          </a:prstGeom>
          <a:noFill/>
          <a:ln w="0">
            <a:noFill/>
            <a:prstDash val="solid"/>
          </a:ln>
        </p:spPr>
        <p:txBody>
          <a:bodyPr lIns="0" tIns="0" rIns="0" bIns="0" anchor="t">
            <a:normAutofit/>
          </a:bodyPr>
          <a:lstStyle/>
          <a:p>
            <a:pPr algn="l">
              <a:buNone/>
              <a:defRPr sz="1050" b="1">
                <a:solidFill>
                  <a:srgbClr val="82B6FF"/>
                </a:solidFill>
                <a:latin typeface="Helvetica Neue"/>
                <a:ea typeface="Helvetica Neue"/>
                <a:cs typeface="Helvetica Neue"/>
              </a:defRPr>
            </a:pPr>
            <a:r>
              <a:rPr sz="1050" b="1">
                <a:solidFill>
                  <a:srgbClr val="82B6FF"/>
                </a:solidFill>
                <a:latin typeface="Helvetica Neue"/>
                <a:ea typeface="Helvetica Neue"/>
                <a:cs typeface="Helvetica Neue"/>
              </a:rPr>
              <a:t>20 AUGUST 2026</a:t>
            </a:r>
          </a:p>
        </p:txBody>
      </p:sp>
    </p:spTree>
    <p:extLst>
      <p:ext uri="{BB962C8B-B14F-4D97-AF65-F5344CB8AC3E}">
        <p14:creationId xmlns:p14="http://schemas.microsoft.com/office/powerpoint/2010/main" val="7247001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WHY THIS MATTERS</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Clients invest to improve business performance, then manage the investment around delivery.</a:t>
            </a:r>
          </a:p>
        </p:txBody>
      </p:sp>
      <p:sp>
        <p:nvSpPr>
          <p:cNvPr id="4" name="TextBox 3"/>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02</a:t>
            </a:r>
          </a:p>
        </p:txBody>
      </p:sp>
      <p:sp>
        <p:nvSpPr>
          <p:cNvPr id="5" name="TextBox 4"/>
          <p:cNvSpPr txBox="1"/>
          <p:nvPr/>
        </p:nvSpPr>
        <p:spPr>
          <a:xfrm>
            <a:off x="502920" y="1874519"/>
            <a:ext cx="11155680" cy="932688"/>
          </a:xfrm>
          <a:prstGeom prst="rect">
            <a:avLst/>
          </a:prstGeom>
          <a:noFill/>
        </p:spPr>
        <p:txBody>
          <a:bodyPr wrap="square" lIns="0" rIns="0" tIns="0" bIns="0">
            <a:spAutoFit/>
          </a:bodyPr>
          <a:lstStyle/>
          <a:p>
            <a:pPr>
              <a:lnSpc>
                <a:spcPct val="112000"/>
              </a:lnSpc>
              <a:spcAft>
                <a:spcPts val="0"/>
              </a:spcAft>
            </a:pPr>
            <a:r>
              <a:rPr sz="1250" b="1" i="0">
                <a:solidFill>
                  <a:srgbClr val="000000"/>
                </a:solidFill>
                <a:latin typeface="Avenir Next LT Pro"/>
              </a:rPr>
              <a:t>THE QUESTION.  </a:t>
            </a:r>
            <a:r>
              <a:rPr sz="1250" b="0" i="0">
                <a:solidFill>
                  <a:srgbClr val="000000"/>
                </a:solidFill>
                <a:latin typeface="Avenir Next LT Pro"/>
              </a:rPr>
              <a:t>What business outcome is this investment truly driving, and what must change for that outcome to be realised? This question is the client conversation; everything on the pages behind this one exists to answer it and to keep it answered for the life of the investment.</a:t>
            </a:r>
          </a:p>
        </p:txBody>
      </p:sp>
      <p:sp>
        <p:nvSpPr>
          <p:cNvPr id="6" name="Rectangle 5"/>
          <p:cNvSpPr/>
          <p:nvPr/>
        </p:nvSpPr>
        <p:spPr>
          <a:xfrm>
            <a:off x="502920" y="2573121"/>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55417"/>
            <a:ext cx="11155680" cy="1243584"/>
          </a:xfrm>
          <a:prstGeom prst="rect">
            <a:avLst/>
          </a:prstGeom>
          <a:noFill/>
        </p:spPr>
        <p:txBody>
          <a:bodyPr wrap="square" lIns="0" rIns="0" tIns="0" bIns="0">
            <a:spAutoFit/>
          </a:bodyPr>
          <a:lstStyle/>
          <a:p>
            <a:pPr>
              <a:lnSpc>
                <a:spcPct val="112000"/>
              </a:lnSpc>
              <a:spcAft>
                <a:spcPts val="0"/>
              </a:spcAft>
            </a:pPr>
            <a:r>
              <a:rPr sz="1250" b="1" i="0">
                <a:solidFill>
                  <a:srgbClr val="000000"/>
                </a:solidFill>
                <a:latin typeface="Avenir Next LT Pro"/>
              </a:rPr>
              <a:t>THE PROBLEM.  </a:t>
            </a:r>
            <a:r>
              <a:rPr sz="1250" b="0" i="0">
                <a:solidFill>
                  <a:srgbClr val="000000"/>
                </a:solidFill>
                <a:latin typeface="Avenir Next LT Pro"/>
              </a:rPr>
              <a:t>Clients invest to improve business performance, but manage the investment around delivery rather than whether the intended outcomes occur. The business case secures the funding and then goes in a drawer; delivery reports scope, schedule and budget; nobody owns the outcome after go live. Only 0.5 per cent of sixteen thousand studied projects hit cost, time and benefits together, and 88 per cent of transformations fail to reach their original ambition.</a:t>
            </a:r>
          </a:p>
        </p:txBody>
      </p:sp>
      <p:sp>
        <p:nvSpPr>
          <p:cNvPr id="8" name="Rectangle 7"/>
          <p:cNvSpPr/>
          <p:nvPr/>
        </p:nvSpPr>
        <p:spPr>
          <a:xfrm>
            <a:off x="502920" y="3571646"/>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3653942"/>
            <a:ext cx="11155680" cy="1243584"/>
          </a:xfrm>
          <a:prstGeom prst="rect">
            <a:avLst/>
          </a:prstGeom>
          <a:noFill/>
        </p:spPr>
        <p:txBody>
          <a:bodyPr wrap="square" lIns="0" rIns="0" tIns="0" bIns="0">
            <a:spAutoFit/>
          </a:bodyPr>
          <a:lstStyle/>
          <a:p>
            <a:pPr>
              <a:lnSpc>
                <a:spcPct val="112000"/>
              </a:lnSpc>
              <a:spcAft>
                <a:spcPts val="0"/>
              </a:spcAft>
            </a:pPr>
            <a:r>
              <a:rPr sz="1250" b="1" i="0">
                <a:solidFill>
                  <a:srgbClr val="000000"/>
                </a:solidFill>
                <a:latin typeface="Avenir Next LT Pro"/>
              </a:rPr>
              <a:t>THE ANSWER.  </a:t>
            </a:r>
            <a:r>
              <a:rPr sz="1250" b="0" i="0">
                <a:solidFill>
                  <a:srgbClr val="000000"/>
                </a:solidFill>
                <a:latin typeface="Avenir Next LT Pro"/>
              </a:rPr>
              <a:t>Value Realisation closes the gap by defining the outcomes, managing what must change and proving what the investment delivered. It is a discipline that runs for the life of the investment, and it is the discipline boards are now demanding: two thirds make further AI funding conditional on proof of return, and 43 per cent of finance leaders are being asked for a number they cannot produce.</a:t>
            </a:r>
          </a:p>
        </p:txBody>
      </p:sp>
      <p:sp>
        <p:nvSpPr>
          <p:cNvPr id="10" name="Rectangle 9"/>
          <p:cNvSpPr/>
          <p:nvPr/>
        </p:nvSpPr>
        <p:spPr>
          <a:xfrm>
            <a:off x="502920" y="4570171"/>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4652467"/>
            <a:ext cx="11155680" cy="621792"/>
          </a:xfrm>
          <a:prstGeom prst="rect">
            <a:avLst/>
          </a:prstGeom>
          <a:noFill/>
        </p:spPr>
        <p:txBody>
          <a:bodyPr wrap="square" lIns="0" rIns="0" tIns="0" bIns="0">
            <a:spAutoFit/>
          </a:bodyPr>
          <a:lstStyle/>
          <a:p>
            <a:pPr>
              <a:lnSpc>
                <a:spcPct val="112000"/>
              </a:lnSpc>
              <a:spcAft>
                <a:spcPts val="0"/>
              </a:spcAft>
            </a:pPr>
            <a:r>
              <a:rPr sz="1250" b="1" i="0">
                <a:solidFill>
                  <a:srgbClr val="000000"/>
                </a:solidFill>
                <a:latin typeface="Avenir Next LT Pro"/>
              </a:rPr>
              <a:t>THE METHOD.  </a:t>
            </a:r>
            <a:r>
              <a:rPr sz="1250" b="0" i="0">
                <a:solidFill>
                  <a:srgbClr val="000000"/>
                </a:solidFill>
                <a:latin typeface="Avenir Next LT Pro"/>
              </a:rPr>
              <a:t>Define the outcome. Manage what must change. Prove the value. One structure from the first client conversation through delivery to business as usual.</a:t>
            </a:r>
          </a:p>
        </p:txBody>
      </p:sp>
      <p:sp>
        <p:nvSpPr>
          <p:cNvPr id="12" name="TextBox 11"/>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Flyvbjerg, How Big Things Get Done, 2023. Bain and Company transformation research, April 2024, more than 24,000 initiatives. CloudZero, Finding the ROI of AI, June 2026.</a:t>
            </a:r>
          </a:p>
        </p:txBody>
      </p:sp>
    </p:spTree>
    <p:extLst>
      <p:ext uri="{BB962C8B-B14F-4D97-AF65-F5344CB8AC3E}">
        <p14:creationId xmlns:p14="http://schemas.microsoft.com/office/powerpoint/2010/main" val="1188438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WHAT VALUE IS</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Value is a measured improvement in a business outcome; ROI is only one expression of it.</a:t>
            </a:r>
          </a:p>
        </p:txBody>
      </p:sp>
      <p:sp>
        <p:nvSpPr>
          <p:cNvPr id="4" name="TextBox 3"/>
          <p:cNvSpPr txBox="1"/>
          <p:nvPr/>
        </p:nvSpPr>
        <p:spPr>
          <a:xfrm>
            <a:off x="502920" y="1700784"/>
            <a:ext cx="11155680" cy="566928"/>
          </a:xfrm>
          <a:prstGeom prst="rect">
            <a:avLst/>
          </a:prstGeom>
          <a:noFill/>
        </p:spPr>
        <p:txBody>
          <a:bodyPr wrap="square" lIns="0" rIns="0" tIns="0" bIns="0">
            <a:spAutoFit/>
          </a:bodyPr>
          <a:lstStyle/>
          <a:p>
            <a:pPr>
              <a:lnSpc>
                <a:spcPct val="110000"/>
              </a:lnSpc>
              <a:spcAft>
                <a:spcPts val="0"/>
              </a:spcAft>
            </a:pPr>
            <a:r>
              <a:rPr sz="1400" b="0" i="0">
                <a:solidFill>
                  <a:srgbClr val="000000"/>
                </a:solidFill>
                <a:latin typeface="Avenir Next LT Pro"/>
              </a:rPr>
              <a:t>Nobody in the market agrees on a definition; KPMG's own 2025 report admits value creation is often discussed yet rarely defined with precision. We work to a definition with teeth.</a:t>
            </a:r>
          </a:p>
        </p:txBody>
      </p:sp>
      <p:sp>
        <p:nvSpPr>
          <p:cNvPr id="5" name="TextBox 4"/>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03</a:t>
            </a:r>
          </a:p>
        </p:txBody>
      </p:sp>
      <p:sp>
        <p:nvSpPr>
          <p:cNvPr id="6" name="TextBox 5"/>
          <p:cNvSpPr txBox="1"/>
          <p:nvPr/>
        </p:nvSpPr>
        <p:spPr>
          <a:xfrm>
            <a:off x="502920" y="2395728"/>
            <a:ext cx="6400800" cy="2743200"/>
          </a:xfrm>
          <a:prstGeom prst="rect">
            <a:avLst/>
          </a:prstGeom>
          <a:noFill/>
        </p:spPr>
        <p:txBody>
          <a:bodyPr wrap="square" lIns="0" rIns="0" tIns="0" bIns="0">
            <a:spAutoFit/>
          </a:bodyPr>
          <a:lstStyle/>
          <a:p>
            <a:pPr>
              <a:lnSpc>
                <a:spcPct val="112000"/>
              </a:lnSpc>
              <a:spcAft>
                <a:spcPts val="1000"/>
              </a:spcAft>
            </a:pPr>
            <a:r>
              <a:rPr sz="1200" b="1" i="0">
                <a:solidFill>
                  <a:srgbClr val="0C62FB"/>
                </a:solidFill>
                <a:latin typeface="Avenir Next LT Pro"/>
              </a:rPr>
              <a:t>THE SIX WORKING PARTS.  </a:t>
            </a:r>
            <a:r>
              <a:rPr sz="1200" b="0" i="0">
                <a:solidFill>
                  <a:srgbClr val="000000"/>
                </a:solidFill>
                <a:latin typeface="Avenir Next LT Pro"/>
              </a:rPr>
              <a:t>Every usable definition of value across the field shares the same parts, and a benefit that fails any of them is a hope rather than value. It is measurable, in the organisation's own terms. It is baselined before the change starts, against real operating data. It is owned by a named person in the operating business, never the project team, because the project team disbands. It is time bound, with a date and a fixed schedule of checks after go live. It is tied to a strategic priority, so the investment drives the business as opposed to a single department. And it is an outcome rather than an output: a platform delivered is an output; claims handled at lower cost is an outcome.</a:t>
            </a:r>
          </a:p>
          <a:p>
            <a:pPr>
              <a:lnSpc>
                <a:spcPct val="112000"/>
              </a:lnSpc>
              <a:spcAft>
                <a:spcPts val="0"/>
              </a:spcAft>
            </a:pPr>
            <a:r>
              <a:rPr sz="1200" b="1" i="0">
                <a:solidFill>
                  <a:srgbClr val="0C62FB"/>
                </a:solidFill>
                <a:latin typeface="Avenir Next LT Pro"/>
              </a:rPr>
              <a:t>ON ROI.  </a:t>
            </a:r>
            <a:r>
              <a:rPr sz="1200" b="0" i="0">
                <a:solidFill>
                  <a:srgbClr val="000000"/>
                </a:solidFill>
                <a:latin typeface="Avenir Next LT Pro"/>
              </a:rPr>
              <a:t>ROI is a ratio, so it hides scale and says nothing about which outcome moved; a strong ROI against an outcome the business never cared about is still worthless. We measure the outcome first in its own units, then translate the defensible portion into financial value, and finance sees both, side by side.</a:t>
            </a:r>
          </a:p>
        </p:txBody>
      </p:sp>
      <p:sp>
        <p:nvSpPr>
          <p:cNvPr id="7" name="TextBox 6"/>
          <p:cNvSpPr txBox="1"/>
          <p:nvPr/>
        </p:nvSpPr>
        <p:spPr>
          <a:xfrm>
            <a:off x="7360920" y="2395728"/>
            <a:ext cx="4297680" cy="274320"/>
          </a:xfrm>
          <a:prstGeom prst="rect">
            <a:avLst/>
          </a:prstGeom>
          <a:noFill/>
        </p:spPr>
        <p:txBody>
          <a:bodyPr wrap="square" lIns="0" rIns="0" tIns="0" bIns="0">
            <a:spAutoFit/>
          </a:bodyPr>
          <a:lstStyle/>
          <a:p>
            <a:pPr>
              <a:lnSpc>
                <a:spcPct val="112000"/>
              </a:lnSpc>
              <a:spcAft>
                <a:spcPts val="0"/>
              </a:spcAft>
            </a:pPr>
            <a:r>
              <a:rPr sz="1100" b="1" i="0">
                <a:solidFill>
                  <a:srgbClr val="0C62FB"/>
                </a:solidFill>
                <a:latin typeface="Avenir Next LT Pro"/>
              </a:rPr>
              <a:t>ONE EXAMPLE, END TO END</a:t>
            </a:r>
          </a:p>
        </p:txBody>
      </p:sp>
      <p:sp>
        <p:nvSpPr>
          <p:cNvPr id="8" name="TextBox 7"/>
          <p:cNvSpPr txBox="1"/>
          <p:nvPr/>
        </p:nvSpPr>
        <p:spPr>
          <a:xfrm>
            <a:off x="7360920" y="2761488"/>
            <a:ext cx="4297680" cy="566928"/>
          </a:xfrm>
          <a:prstGeom prst="rect">
            <a:avLst/>
          </a:prstGeom>
          <a:noFill/>
        </p:spPr>
        <p:txBody>
          <a:bodyPr wrap="square" lIns="0" rIns="0" tIns="0" bIns="0">
            <a:spAutoFit/>
          </a:bodyPr>
          <a:lstStyle/>
          <a:p>
            <a:pPr>
              <a:lnSpc>
                <a:spcPct val="108000"/>
              </a:lnSpc>
              <a:spcAft>
                <a:spcPts val="0"/>
              </a:spcAft>
            </a:pPr>
            <a:r>
              <a:rPr sz="1150" b="1" i="0">
                <a:solidFill>
                  <a:srgbClr val="000000"/>
                </a:solidFill>
                <a:latin typeface="Avenir Next LT Pro"/>
              </a:rPr>
              <a:t>Outcome.  </a:t>
            </a:r>
            <a:r>
              <a:rPr sz="1150" b="0" i="0">
                <a:solidFill>
                  <a:srgbClr val="000000"/>
                </a:solidFill>
                <a:latin typeface="Avenir Next LT Pro"/>
              </a:rPr>
              <a:t>The cost of handling an insurance claim falls.</a:t>
            </a:r>
          </a:p>
        </p:txBody>
      </p:sp>
      <p:sp>
        <p:nvSpPr>
          <p:cNvPr id="9" name="Rectangle 8"/>
          <p:cNvSpPr/>
          <p:nvPr/>
        </p:nvSpPr>
        <p:spPr>
          <a:xfrm>
            <a:off x="7360920" y="3218688"/>
            <a:ext cx="4297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0920" y="3310128"/>
            <a:ext cx="4297680" cy="566928"/>
          </a:xfrm>
          <a:prstGeom prst="rect">
            <a:avLst/>
          </a:prstGeom>
          <a:noFill/>
        </p:spPr>
        <p:txBody>
          <a:bodyPr wrap="square" lIns="0" rIns="0" tIns="0" bIns="0">
            <a:spAutoFit/>
          </a:bodyPr>
          <a:lstStyle/>
          <a:p>
            <a:pPr>
              <a:lnSpc>
                <a:spcPct val="108000"/>
              </a:lnSpc>
              <a:spcAft>
                <a:spcPts val="0"/>
              </a:spcAft>
            </a:pPr>
            <a:r>
              <a:rPr sz="1150" b="1" i="0">
                <a:solidFill>
                  <a:srgbClr val="000000"/>
                </a:solidFill>
                <a:latin typeface="Avenir Next LT Pro"/>
              </a:rPr>
              <a:t>Baseline.  </a:t>
            </a:r>
            <a:r>
              <a:rPr sz="1150" b="0" i="0">
                <a:solidFill>
                  <a:srgbClr val="000000"/>
                </a:solidFill>
                <a:latin typeface="Avenir Next LT Pro"/>
              </a:rPr>
              <a:t>$82 per claim, measured with finance in June.</a:t>
            </a:r>
          </a:p>
        </p:txBody>
      </p:sp>
      <p:sp>
        <p:nvSpPr>
          <p:cNvPr id="11" name="Rectangle 10"/>
          <p:cNvSpPr/>
          <p:nvPr/>
        </p:nvSpPr>
        <p:spPr>
          <a:xfrm>
            <a:off x="7360920" y="3767328"/>
            <a:ext cx="4297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60920" y="3858768"/>
            <a:ext cx="4297680" cy="566928"/>
          </a:xfrm>
          <a:prstGeom prst="rect">
            <a:avLst/>
          </a:prstGeom>
          <a:noFill/>
        </p:spPr>
        <p:txBody>
          <a:bodyPr wrap="square" lIns="0" rIns="0" tIns="0" bIns="0">
            <a:spAutoFit/>
          </a:bodyPr>
          <a:lstStyle/>
          <a:p>
            <a:pPr>
              <a:lnSpc>
                <a:spcPct val="108000"/>
              </a:lnSpc>
              <a:spcAft>
                <a:spcPts val="0"/>
              </a:spcAft>
            </a:pPr>
            <a:r>
              <a:rPr sz="1150" b="1" i="0">
                <a:solidFill>
                  <a:srgbClr val="000000"/>
                </a:solidFill>
                <a:latin typeface="Avenir Next LT Pro"/>
              </a:rPr>
              <a:t>Target.  </a:t>
            </a:r>
            <a:r>
              <a:rPr sz="1150" b="0" i="0">
                <a:solidFill>
                  <a:srgbClr val="000000"/>
                </a:solidFill>
                <a:latin typeface="Avenir Next LT Pro"/>
              </a:rPr>
              <a:t>$61 per claim by December, held as a number.</a:t>
            </a:r>
          </a:p>
        </p:txBody>
      </p:sp>
      <p:sp>
        <p:nvSpPr>
          <p:cNvPr id="13" name="Rectangle 12"/>
          <p:cNvSpPr/>
          <p:nvPr/>
        </p:nvSpPr>
        <p:spPr>
          <a:xfrm>
            <a:off x="7360920" y="4114800"/>
            <a:ext cx="4297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4206240"/>
            <a:ext cx="4297680" cy="566928"/>
          </a:xfrm>
          <a:prstGeom prst="rect">
            <a:avLst/>
          </a:prstGeom>
          <a:noFill/>
        </p:spPr>
        <p:txBody>
          <a:bodyPr wrap="square" lIns="0" rIns="0" tIns="0" bIns="0">
            <a:spAutoFit/>
          </a:bodyPr>
          <a:lstStyle/>
          <a:p>
            <a:pPr>
              <a:lnSpc>
                <a:spcPct val="108000"/>
              </a:lnSpc>
              <a:spcAft>
                <a:spcPts val="0"/>
              </a:spcAft>
            </a:pPr>
            <a:r>
              <a:rPr sz="1150" b="1" i="0">
                <a:solidFill>
                  <a:srgbClr val="000000"/>
                </a:solidFill>
                <a:latin typeface="Avenir Next LT Pro"/>
              </a:rPr>
              <a:t>Owner.  </a:t>
            </a:r>
            <a:r>
              <a:rPr sz="1150" b="0" i="0">
                <a:solidFill>
                  <a:srgbClr val="000000"/>
                </a:solidFill>
                <a:latin typeface="Avenir Next LT Pro"/>
              </a:rPr>
              <a:t>The head of claims operations, never the project team.</a:t>
            </a:r>
          </a:p>
        </p:txBody>
      </p:sp>
      <p:sp>
        <p:nvSpPr>
          <p:cNvPr id="15" name="Rectangle 14"/>
          <p:cNvSpPr/>
          <p:nvPr/>
        </p:nvSpPr>
        <p:spPr>
          <a:xfrm>
            <a:off x="7360920" y="4663440"/>
            <a:ext cx="4297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60920" y="4754879"/>
            <a:ext cx="4297680" cy="566928"/>
          </a:xfrm>
          <a:prstGeom prst="rect">
            <a:avLst/>
          </a:prstGeom>
          <a:noFill/>
        </p:spPr>
        <p:txBody>
          <a:bodyPr wrap="square" lIns="0" rIns="0" tIns="0" bIns="0">
            <a:spAutoFit/>
          </a:bodyPr>
          <a:lstStyle/>
          <a:p>
            <a:pPr>
              <a:lnSpc>
                <a:spcPct val="108000"/>
              </a:lnSpc>
              <a:spcAft>
                <a:spcPts val="0"/>
              </a:spcAft>
            </a:pPr>
            <a:r>
              <a:rPr sz="1150" b="1" i="0">
                <a:solidFill>
                  <a:srgbClr val="000000"/>
                </a:solidFill>
                <a:latin typeface="Avenir Next LT Pro"/>
              </a:rPr>
              <a:t>Quality.  </a:t>
            </a:r>
            <a:r>
              <a:rPr sz="1150" b="0" i="0">
                <a:solidFill>
                  <a:srgbClr val="000000"/>
                </a:solidFill>
                <a:latin typeface="Avenir Next LT Pro"/>
              </a:rPr>
              <a:t>Decision quality is checked beside the cost, so speed never masks rework.</a:t>
            </a:r>
          </a:p>
        </p:txBody>
      </p:sp>
      <p:sp>
        <p:nvSpPr>
          <p:cNvPr id="17" name="Rectangle 16"/>
          <p:cNvSpPr/>
          <p:nvPr/>
        </p:nvSpPr>
        <p:spPr>
          <a:xfrm>
            <a:off x="7360920" y="5212079"/>
            <a:ext cx="4297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60920" y="5303519"/>
            <a:ext cx="4297680" cy="566928"/>
          </a:xfrm>
          <a:prstGeom prst="rect">
            <a:avLst/>
          </a:prstGeom>
          <a:noFill/>
        </p:spPr>
        <p:txBody>
          <a:bodyPr wrap="square" lIns="0" rIns="0" tIns="0" bIns="0">
            <a:spAutoFit/>
          </a:bodyPr>
          <a:lstStyle/>
          <a:p>
            <a:pPr>
              <a:lnSpc>
                <a:spcPct val="108000"/>
              </a:lnSpc>
              <a:spcAft>
                <a:spcPts val="0"/>
              </a:spcAft>
            </a:pPr>
            <a:r>
              <a:rPr sz="1150" b="1" i="0">
                <a:solidFill>
                  <a:srgbClr val="000000"/>
                </a:solidFill>
                <a:latin typeface="Avenir Next LT Pro"/>
              </a:rPr>
              <a:t>Proof.  </a:t>
            </a:r>
            <a:r>
              <a:rPr sz="1150" b="0" i="0">
                <a:solidFill>
                  <a:srgbClr val="000000"/>
                </a:solidFill>
                <a:latin typeface="Avenir Next LT Pro"/>
              </a:rPr>
              <a:t>Finance verifies the movement against the baseline monthly.</a:t>
            </a:r>
          </a:p>
        </p:txBody>
      </p:sp>
      <p:sp>
        <p:nvSpPr>
          <p:cNvPr id="19" name="Rectangle 18"/>
          <p:cNvSpPr/>
          <p:nvPr/>
        </p:nvSpPr>
        <p:spPr>
          <a:xfrm>
            <a:off x="7360920" y="5760719"/>
            <a:ext cx="4297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KPMG, November 2025. HM Treasury Green Book, 2026. Definitions reviewed across eleven firms and five disciplines in the practice research base, August 2026.</a:t>
            </a:r>
          </a:p>
        </p:txBody>
      </p:sp>
    </p:spTree>
    <p:extLst>
      <p:ext uri="{BB962C8B-B14F-4D97-AF65-F5344CB8AC3E}">
        <p14:creationId xmlns:p14="http://schemas.microsoft.com/office/powerpoint/2010/main" val="1188438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WHERE VALUE IS LOST</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Value is lost at the business case and after go live, the two points nobody manages.</a:t>
            </a:r>
          </a:p>
        </p:txBody>
      </p:sp>
      <p:sp>
        <p:nvSpPr>
          <p:cNvPr id="4" name="TextBox 3"/>
          <p:cNvSpPr txBox="1"/>
          <p:nvPr/>
        </p:nvSpPr>
        <p:spPr>
          <a:xfrm>
            <a:off x="502920" y="1700784"/>
            <a:ext cx="11155680" cy="566928"/>
          </a:xfrm>
          <a:prstGeom prst="rect">
            <a:avLst/>
          </a:prstGeom>
          <a:noFill/>
        </p:spPr>
        <p:txBody>
          <a:bodyPr wrap="square" lIns="0" rIns="0" tIns="0" bIns="0">
            <a:spAutoFit/>
          </a:bodyPr>
          <a:lstStyle/>
          <a:p>
            <a:pPr>
              <a:lnSpc>
                <a:spcPct val="110000"/>
              </a:lnSpc>
              <a:spcAft>
                <a:spcPts val="0"/>
              </a:spcAft>
            </a:pPr>
            <a:r>
              <a:rPr sz="1400" b="0" i="0">
                <a:solidFill>
                  <a:srgbClr val="000000"/>
                </a:solidFill>
                <a:latin typeface="Avenir Next LT Pro"/>
              </a:rPr>
              <a:t>Delivery discipline improved for decades while benefits discipline never did, so the loss concentrates where delivery measures cannot see it.</a:t>
            </a:r>
          </a:p>
        </p:txBody>
      </p:sp>
      <p:sp>
        <p:nvSpPr>
          <p:cNvPr id="5" name="TextBox 4"/>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04</a:t>
            </a:r>
          </a:p>
        </p:txBody>
      </p:sp>
      <p:sp>
        <p:nvSpPr>
          <p:cNvPr id="6" name="TextBox 5"/>
          <p:cNvSpPr txBox="1"/>
          <p:nvPr/>
        </p:nvSpPr>
        <p:spPr>
          <a:xfrm>
            <a:off x="502920" y="2395728"/>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AT THE CASE.  </a:t>
            </a:r>
            <a:r>
              <a:rPr sz="1200" b="0" i="0">
                <a:solidFill>
                  <a:srgbClr val="000000"/>
                </a:solidFill>
                <a:latin typeface="Avenir Next LT Pro"/>
              </a:rPr>
              <a:t>Business cases today are set up to get the dollars and then go nowhere. About a quarter of all transformation value is lost at the business case and target setting stage, before delivery even starts, because benefits are forecast without baselines, owners or an evidence plan. Governments formally inflate every case for optimism bias, which concedes that cases as written cannot be trusted.</a:t>
            </a:r>
          </a:p>
        </p:txBody>
      </p:sp>
      <p:sp>
        <p:nvSpPr>
          <p:cNvPr id="7" name="Rectangle 6"/>
          <p:cNvSpPr/>
          <p:nvPr/>
        </p:nvSpPr>
        <p:spPr>
          <a:xfrm>
            <a:off x="502920" y="3094329"/>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3176625"/>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IN DELIVERY.  </a:t>
            </a:r>
            <a:r>
              <a:rPr sz="1200" b="0" i="0">
                <a:solidFill>
                  <a:srgbClr val="000000"/>
                </a:solidFill>
                <a:latin typeface="Avenir Next LT Pro"/>
              </a:rPr>
              <a:t>Delivery reports activity while the outcome drifts. 88 per cent of transformations fail to reach their original ambition, and even the successful ones capture only 67 per cent of the value available. A transformation with a dedicated owner of the value captures 24 per cent more of it, which is the most repeated finding in the field: owned benefits arrive and unowned ones do not.</a:t>
            </a:r>
          </a:p>
        </p:txBody>
      </p:sp>
      <p:sp>
        <p:nvSpPr>
          <p:cNvPr id="9" name="Rectangle 8"/>
          <p:cNvSpPr/>
          <p:nvPr/>
        </p:nvSpPr>
        <p:spPr>
          <a:xfrm>
            <a:off x="502920" y="3875227"/>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957523"/>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AFTER GO LIVE.  </a:t>
            </a:r>
            <a:r>
              <a:rPr sz="1200" b="0" i="0">
                <a:solidFill>
                  <a:srgbClr val="000000"/>
                </a:solidFill>
                <a:latin typeface="Avenir Next LT Pro"/>
              </a:rPr>
              <a:t>The team disbands at go live and the benefit disbands with it. Only 42 per cent of organisations mostly or always deliver their full project benefits, 89 per cent of operations leaders say technology investments have not fully delivered what they expected, and the check of benefit realised against target is the single most skipped practice in the discipline.</a:t>
            </a:r>
          </a:p>
        </p:txBody>
      </p:sp>
      <p:sp>
        <p:nvSpPr>
          <p:cNvPr id="11" name="TextBox 10"/>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McKinsey, Losing from day one, 2021. Bain, April 2024. Wellingtone State of Project Management, 2026. PwC Digital Trends in Operations, 2026, 767 leaders. UK National Audit Office, 2021.</a:t>
            </a:r>
          </a:p>
        </p:txBody>
      </p:sp>
    </p:spTree>
    <p:extLst>
      <p:ext uri="{BB962C8B-B14F-4D97-AF65-F5344CB8AC3E}">
        <p14:creationId xmlns:p14="http://schemas.microsoft.com/office/powerpoint/2010/main" val="11884383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THE PROXY TRAP</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Activity, adoption, throughput and time saved get treated as value before the outcome has changed.</a:t>
            </a:r>
          </a:p>
        </p:txBody>
      </p:sp>
      <p:sp>
        <p:nvSpPr>
          <p:cNvPr id="4" name="TextBox 3"/>
          <p:cNvSpPr txBox="1"/>
          <p:nvPr/>
        </p:nvSpPr>
        <p:spPr>
          <a:xfrm>
            <a:off x="502920" y="1700784"/>
            <a:ext cx="11155680" cy="566928"/>
          </a:xfrm>
          <a:prstGeom prst="rect">
            <a:avLst/>
          </a:prstGeom>
          <a:noFill/>
        </p:spPr>
        <p:txBody>
          <a:bodyPr wrap="square" lIns="0" rIns="0" tIns="0" bIns="0">
            <a:spAutoFit/>
          </a:bodyPr>
          <a:lstStyle/>
          <a:p>
            <a:pPr>
              <a:lnSpc>
                <a:spcPct val="110000"/>
              </a:lnSpc>
              <a:spcAft>
                <a:spcPts val="0"/>
              </a:spcAft>
            </a:pPr>
            <a:r>
              <a:rPr sz="1400" b="0" i="0">
                <a:solidFill>
                  <a:srgbClr val="000000"/>
                </a:solidFill>
                <a:latin typeface="Avenir Next LT Pro"/>
              </a:rPr>
              <a:t>This is the question the market cannot answer on AI, and answering it is where we win. More output only becomes value when three tests pass.</a:t>
            </a:r>
          </a:p>
        </p:txBody>
      </p:sp>
      <p:sp>
        <p:nvSpPr>
          <p:cNvPr id="5" name="TextBox 4"/>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05</a:t>
            </a:r>
          </a:p>
        </p:txBody>
      </p:sp>
      <p:sp>
        <p:nvSpPr>
          <p:cNvPr id="6" name="TextBox 5"/>
          <p:cNvSpPr txBox="1"/>
          <p:nvPr/>
        </p:nvSpPr>
        <p:spPr>
          <a:xfrm>
            <a:off x="502920" y="2395728"/>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QUALITY HOLDS.  </a:t>
            </a:r>
            <a:r>
              <a:rPr sz="1200" b="0" i="0">
                <a:solidFill>
                  <a:srgbClr val="000000"/>
                </a:solidFill>
                <a:latin typeface="Avenir Next LT Pro"/>
              </a:rPr>
              <a:t>Every speed measure is paired with a quality counterweight on the same population, because output that fails downstream is a liability rather than value. Google's DORA research found rising AI adoption associated with falling delivery stability, and Klarna publicly walked back a forty million dollar AI case because cost was weighted in the evaluation and quality was not.</a:t>
            </a:r>
          </a:p>
        </p:txBody>
      </p:sp>
      <p:sp>
        <p:nvSpPr>
          <p:cNvPr id="7" name="Rectangle 6"/>
          <p:cNvSpPr/>
          <p:nvPr/>
        </p:nvSpPr>
        <p:spPr>
          <a:xfrm>
            <a:off x="502920" y="3094329"/>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3176625"/>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THE CAPACITY LANDS SOMEWHERE PRICED.  </a:t>
            </a:r>
            <a:r>
              <a:rPr sz="1200" b="0" i="0">
                <a:solidFill>
                  <a:srgbClr val="000000"/>
                </a:solidFill>
                <a:latin typeface="Avenir Next LT Pro"/>
              </a:rPr>
              <a:t>Time saved is only potential value. Around 40 per cent of it is immediately lost to correcting and reworking AI output, and the rest dissipates unless management decides where it goes. Saved time becomes earnings only when headcount, volume or price changes, so every use case names its conversion lever up front; the reinvestment decision is the value moment.</a:t>
            </a:r>
          </a:p>
        </p:txBody>
      </p:sp>
      <p:sp>
        <p:nvSpPr>
          <p:cNvPr id="9" name="Rectangle 8"/>
          <p:cNvSpPr/>
          <p:nvPr/>
        </p:nvSpPr>
        <p:spPr>
          <a:xfrm>
            <a:off x="502920" y="3875227"/>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957523"/>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FINANCE CAN SEE IT.  </a:t>
            </a:r>
            <a:r>
              <a:rPr sz="1200" b="0" i="0">
                <a:solidFill>
                  <a:srgbClr val="000000"/>
                </a:solidFill>
                <a:latin typeface="Avenir Next LT Pro"/>
              </a:rPr>
              <a:t>The claim is baselined before deployment, attributed under a rule agreed at the start, and booked by finance against the baseline. Roughly nine in ten executives report no measurable firm level impact from AI, and the reason is that this machinery was never built, as opposed to the value never existing.</a:t>
            </a:r>
          </a:p>
        </p:txBody>
      </p:sp>
      <p:sp>
        <p:nvSpPr>
          <p:cNvPr id="11" name="TextBox 10"/>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DORA State of DevOps, 2024. Workday and Hanover Research, 2025, 3,200 respondents. McKinsey State of AI, 2025. NBER working paper 34836, 2026, 6,000 executives. Bloomberg on Klarna, May 2025.</a:t>
            </a:r>
          </a:p>
        </p:txBody>
      </p:sp>
    </p:spTree>
    <p:extLst>
      <p:ext uri="{BB962C8B-B14F-4D97-AF65-F5344CB8AC3E}">
        <p14:creationId xmlns:p14="http://schemas.microsoft.com/office/powerpoint/2010/main" val="11884383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WHAT VALUE REALISATION IS</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Value architecture designs the value an investment must create; Value Realisation makes it arrive and proves it did.</a:t>
            </a:r>
          </a:p>
        </p:txBody>
      </p:sp>
      <p:sp>
        <p:nvSpPr>
          <p:cNvPr id="4" name="TextBox 3"/>
          <p:cNvSpPr txBox="1"/>
          <p:nvPr/>
        </p:nvSpPr>
        <p:spPr>
          <a:xfrm>
            <a:off x="502920" y="1883664"/>
            <a:ext cx="11155680" cy="566928"/>
          </a:xfrm>
          <a:prstGeom prst="rect">
            <a:avLst/>
          </a:prstGeom>
          <a:noFill/>
        </p:spPr>
        <p:txBody>
          <a:bodyPr wrap="square" lIns="0" rIns="0" tIns="0" bIns="0">
            <a:spAutoFit/>
          </a:bodyPr>
          <a:lstStyle/>
          <a:p>
            <a:pPr>
              <a:lnSpc>
                <a:spcPct val="110000"/>
              </a:lnSpc>
              <a:spcAft>
                <a:spcPts val="0"/>
              </a:spcAft>
            </a:pPr>
            <a:r>
              <a:rPr sz="1400" b="0" i="0">
                <a:solidFill>
                  <a:srgbClr val="000000"/>
                </a:solidFill>
                <a:latin typeface="Avenir Next LT Pro"/>
              </a:rPr>
              <a:t>One discipline with two halves, and it is not benefits reporting added at the end.</a:t>
            </a:r>
          </a:p>
        </p:txBody>
      </p:sp>
      <p:sp>
        <p:nvSpPr>
          <p:cNvPr id="5" name="TextBox 4"/>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06</a:t>
            </a:r>
          </a:p>
        </p:txBody>
      </p:sp>
      <p:sp>
        <p:nvSpPr>
          <p:cNvPr id="6" name="TextBox 5"/>
          <p:cNvSpPr txBox="1"/>
          <p:nvPr/>
        </p:nvSpPr>
        <p:spPr>
          <a:xfrm>
            <a:off x="502920" y="2487168"/>
            <a:ext cx="11155680" cy="1243584"/>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VALUE ARCHITECTURE, THE DESIGN HALF.  </a:t>
            </a:r>
            <a:r>
              <a:rPr sz="1200" b="0" i="0">
                <a:solidFill>
                  <a:srgbClr val="000000"/>
                </a:solidFill>
                <a:latin typeface="Avenir Next LT Pro"/>
              </a:rPr>
              <a:t>Done before and during the investment decision. It turns the business case into a value case: the outcomes the investment must move, in the board's own measures; a baseline for each, from real operating data; a named owner and a date for each; the value driver tree linking the investment to the strategic priorities it serves; the conditions that would kill it; and the measurement plan, designed before the money moves, so that proof is possible later. This is what makes the investment drive business value, more than just a department or the replacement of a burning legacy platform.</a:t>
            </a:r>
          </a:p>
        </p:txBody>
      </p:sp>
      <p:sp>
        <p:nvSpPr>
          <p:cNvPr id="7" name="Rectangle 6"/>
          <p:cNvSpPr/>
          <p:nvPr/>
        </p:nvSpPr>
        <p:spPr>
          <a:xfrm>
            <a:off x="502920" y="3403396"/>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3485692"/>
            <a:ext cx="11155680" cy="1554480"/>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VALUE REALISATION, THE OPERATING HALF.  </a:t>
            </a:r>
            <a:r>
              <a:rPr sz="1200" b="0" i="0">
                <a:solidFill>
                  <a:srgbClr val="000000"/>
                </a:solidFill>
                <a:latin typeface="Avenir Next LT Pro"/>
              </a:rPr>
              <a:t>Done through delivery and after go live. It changes how people work, because 70 per cent of AI value comes from redesigning people and process rather than from the technology. It tracks each outcome against its baseline on a fixed reporting cadence: weekly to remove barriers, monthly to decide go, hold, kill or accelerate, quarterly with executives. It rebaselines the case at every funding gate, releases funding in tranches against evidence, and verifies the result with finance monthly, which separates value that is real from value merely claimed. After go live the benefits transfer into the owners' everyday scorecards, so the discipline becomes the client's own.</a:t>
            </a:r>
          </a:p>
        </p:txBody>
      </p:sp>
      <p:sp>
        <p:nvSpPr>
          <p:cNvPr id="9" name="TextBox 8"/>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BCG ten twenty seventy research, 2025. Bain, 2024. Cranfield School of Management, benefits dependency research. Serra and Kunc, International Journal of Project Management, 2015, 331 practitioners.</a:t>
            </a:r>
          </a:p>
        </p:txBody>
      </p:sp>
    </p:spTree>
    <p:extLst>
      <p:ext uri="{BB962C8B-B14F-4D97-AF65-F5344CB8AC3E}">
        <p14:creationId xmlns:p14="http://schemas.microsoft.com/office/powerpoint/2010/main" val="1188438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HOW WE APPROACH IT</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We define the outcome, manage what must change and prove the value.</a:t>
            </a:r>
          </a:p>
        </p:txBody>
      </p:sp>
      <p:sp>
        <p:nvSpPr>
          <p:cNvPr id="4" name="TextBox 3"/>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07</a:t>
            </a:r>
          </a:p>
        </p:txBody>
      </p:sp>
      <p:sp>
        <p:nvSpPr>
          <p:cNvPr id="5" name="TextBox 4"/>
          <p:cNvSpPr txBox="1"/>
          <p:nvPr/>
        </p:nvSpPr>
        <p:spPr>
          <a:xfrm>
            <a:off x="502920" y="1920240"/>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DEFINE THE OUTCOME.  </a:t>
            </a:r>
            <a:r>
              <a:rPr sz="1200" b="0" i="0">
                <a:solidFill>
                  <a:srgbClr val="000000"/>
                </a:solidFill>
                <a:latin typeface="Avenir Next LT Pro"/>
              </a:rPr>
              <a:t>We take one investment and work with the executive who owns the strategic priority it serves. What must improve, for whom, by how much, by when and who owns it. We build the baseline from the client's own operating and platform data, set the target and the value drivers, and agree what evidence at what gate would stop the investment. The output is a value case a CFO can sign.</a:t>
            </a:r>
          </a:p>
        </p:txBody>
      </p:sp>
      <p:sp>
        <p:nvSpPr>
          <p:cNvPr id="6" name="Rectangle 5"/>
          <p:cNvSpPr/>
          <p:nvPr/>
        </p:nvSpPr>
        <p:spPr>
          <a:xfrm>
            <a:off x="502920" y="2618841"/>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701137"/>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MANAGE WHAT MUST CHANGE.  </a:t>
            </a:r>
            <a:r>
              <a:rPr sz="1200" b="0" i="0">
                <a:solidFill>
                  <a:srgbClr val="000000"/>
                </a:solidFill>
                <a:latin typeface="Avenir Next LT Pro"/>
              </a:rPr>
              <a:t>We name the capabilities, processes, behaviours and operating conditions the outcome depends on, and we manage those as the real delivery. Leading indicators, adoption, cycle time and quality, run ahead of the financial result; when they drift we intervene while the outcome can still be changed. Funding releases in tranches against evidence, the way venture funding works.</a:t>
            </a:r>
          </a:p>
        </p:txBody>
      </p:sp>
      <p:sp>
        <p:nvSpPr>
          <p:cNvPr id="8" name="Rectangle 7"/>
          <p:cNvSpPr/>
          <p:nvPr/>
        </p:nvSpPr>
        <p:spPr>
          <a:xfrm>
            <a:off x="502920" y="3399739"/>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3482035"/>
            <a:ext cx="11155680" cy="1243584"/>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PROVE THE VALUE.  </a:t>
            </a:r>
            <a:r>
              <a:rPr sz="1200" b="0" i="0">
                <a:solidFill>
                  <a:srgbClr val="000000"/>
                </a:solidFill>
                <a:latin typeface="Avenir Next LT Pro"/>
              </a:rPr>
              <a:t>Every claim passes six tests: baseline, counterfactual, ownership, attribution, net value and verification. Forecast, observed and booked value are never mixed, and finance books the result monthly against the baseline. Because we build on AWS, Salesforce, Snowflake and Databricks, the evidence comes from the platforms' own usage and cost data, which a firm outside the build cannot replicate and a vendor will not maintain after the sale.</a:t>
            </a:r>
          </a:p>
        </p:txBody>
      </p:sp>
      <p:sp>
        <p:nvSpPr>
          <p:cNvPr id="10" name="TextBox 9"/>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HM Treasury Green Book and Infrastructure and Projects Authority benefits guidance. New Zealand Treasury Better Business Cases. Brynjolfsson, Li and Raymond, Quarterly Journal of Economics, 2025.</a:t>
            </a:r>
          </a:p>
        </p:txBody>
      </p:sp>
    </p:spTree>
    <p:extLst>
      <p:ext uri="{BB962C8B-B14F-4D97-AF65-F5344CB8AC3E}">
        <p14:creationId xmlns:p14="http://schemas.microsoft.com/office/powerpoint/2010/main" val="11884383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WHAT WE SELL</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400" b="1" i="0">
                <a:solidFill>
                  <a:srgbClr val="000000"/>
                </a:solidFill>
                <a:latin typeface="Avenir Next LT Pro (Headings)"/>
              </a:rPr>
              <a:t>Four offers, entered through a ten day Value Case Review.</a:t>
            </a:r>
          </a:p>
        </p:txBody>
      </p:sp>
      <p:sp>
        <p:nvSpPr>
          <p:cNvPr id="4" name="TextBox 3"/>
          <p:cNvSpPr txBox="1"/>
          <p:nvPr/>
        </p:nvSpPr>
        <p:spPr>
          <a:xfrm>
            <a:off x="502920" y="1517904"/>
            <a:ext cx="11155680" cy="566928"/>
          </a:xfrm>
          <a:prstGeom prst="rect">
            <a:avLst/>
          </a:prstGeom>
          <a:noFill/>
        </p:spPr>
        <p:txBody>
          <a:bodyPr wrap="square" lIns="0" rIns="0" tIns="0" bIns="0">
            <a:spAutoFit/>
          </a:bodyPr>
          <a:lstStyle/>
          <a:p>
            <a:pPr>
              <a:lnSpc>
                <a:spcPct val="110000"/>
              </a:lnSpc>
              <a:spcAft>
                <a:spcPts val="0"/>
              </a:spcAft>
            </a:pPr>
            <a:r>
              <a:rPr sz="1400" b="0" i="0">
                <a:solidFill>
                  <a:srgbClr val="000000"/>
                </a:solidFill>
                <a:latin typeface="Avenir Next LT Pro"/>
              </a:rPr>
              <a:t>Each offer meets an investment at a different point in its life; the same definition of value and the same proof standard run through all of them.</a:t>
            </a:r>
          </a:p>
        </p:txBody>
      </p:sp>
      <p:sp>
        <p:nvSpPr>
          <p:cNvPr id="5" name="TextBox 4"/>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08</a:t>
            </a:r>
          </a:p>
        </p:txBody>
      </p:sp>
      <p:sp>
        <p:nvSpPr>
          <p:cNvPr id="6" name="TextBox 5"/>
          <p:cNvSpPr txBox="1"/>
          <p:nvPr/>
        </p:nvSpPr>
        <p:spPr>
          <a:xfrm>
            <a:off x="502920" y="2139696"/>
            <a:ext cx="11155680" cy="932688"/>
          </a:xfrm>
          <a:prstGeom prst="rect">
            <a:avLst/>
          </a:prstGeom>
          <a:noFill/>
        </p:spPr>
        <p:txBody>
          <a:bodyPr wrap="square" lIns="0" rIns="0" tIns="0" bIns="0">
            <a:spAutoFit/>
          </a:bodyPr>
          <a:lstStyle/>
          <a:p>
            <a:pPr>
              <a:lnSpc>
                <a:spcPct val="112000"/>
              </a:lnSpc>
              <a:spcAft>
                <a:spcPts val="0"/>
              </a:spcAft>
            </a:pPr>
            <a:r>
              <a:rPr sz="1150" b="1" i="0">
                <a:solidFill>
                  <a:srgbClr val="000000"/>
                </a:solidFill>
                <a:latin typeface="Avenir Next LT Pro"/>
              </a:rPr>
              <a:t>THE VALUE CASE REVIEW, THE ENTRY.  </a:t>
            </a:r>
            <a:r>
              <a:rPr sz="1150" b="0" i="0">
                <a:solidFill>
                  <a:srgbClr val="000000"/>
                </a:solidFill>
                <a:latin typeface="Avenir Next LT Pro"/>
              </a:rPr>
              <a:t>Ten business days, fixed fee, one live investment. We test the value logic, baseline, ownership, costs and evidence, and return where the case overclaims, which value pool is credible and material, what must change in the next ninety days, and whether to proceed, reshape, pause or recover. It expands into whichever offer the finding demands.</a:t>
            </a:r>
          </a:p>
        </p:txBody>
      </p:sp>
      <p:sp>
        <p:nvSpPr>
          <p:cNvPr id="7" name="Rectangle 6"/>
          <p:cNvSpPr/>
          <p:nvPr/>
        </p:nvSpPr>
        <p:spPr>
          <a:xfrm>
            <a:off x="502920" y="2829153"/>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902305"/>
            <a:ext cx="11155680" cy="621792"/>
          </a:xfrm>
          <a:prstGeom prst="rect">
            <a:avLst/>
          </a:prstGeom>
          <a:noFill/>
        </p:spPr>
        <p:txBody>
          <a:bodyPr wrap="square" lIns="0" rIns="0" tIns="0" bIns="0">
            <a:spAutoFit/>
          </a:bodyPr>
          <a:lstStyle/>
          <a:p>
            <a:pPr>
              <a:lnSpc>
                <a:spcPct val="112000"/>
              </a:lnSpc>
              <a:spcAft>
                <a:spcPts val="0"/>
              </a:spcAft>
            </a:pPr>
            <a:r>
              <a:rPr sz="1150" b="1" i="0">
                <a:solidFill>
                  <a:srgbClr val="000000"/>
                </a:solidFill>
                <a:latin typeface="Avenir Next LT Pro"/>
              </a:rPr>
              <a:t>THE VALUE CASE, BEFORE THE MONEY.  </a:t>
            </a:r>
            <a:r>
              <a:rPr sz="1150" b="0" i="0">
                <a:solidFill>
                  <a:srgbClr val="000000"/>
                </a:solidFill>
                <a:latin typeface="Avenir Next LT Pro"/>
              </a:rPr>
              <a:t>We build or reset the case before funding or a major gate: outcomes, baselines, owners, dates, kill conditions and the measurement plan, so business value is realised beyond implementation rather than promised at approval.</a:t>
            </a:r>
          </a:p>
        </p:txBody>
      </p:sp>
      <p:sp>
        <p:nvSpPr>
          <p:cNvPr id="9" name="Rectangle 8"/>
          <p:cNvSpPr/>
          <p:nvPr/>
        </p:nvSpPr>
        <p:spPr>
          <a:xfrm>
            <a:off x="502920" y="3374136"/>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447288"/>
            <a:ext cx="11155680" cy="932688"/>
          </a:xfrm>
          <a:prstGeom prst="rect">
            <a:avLst/>
          </a:prstGeom>
          <a:noFill/>
        </p:spPr>
        <p:txBody>
          <a:bodyPr wrap="square" lIns="0" rIns="0" tIns="0" bIns="0">
            <a:spAutoFit/>
          </a:bodyPr>
          <a:lstStyle/>
          <a:p>
            <a:pPr>
              <a:lnSpc>
                <a:spcPct val="112000"/>
              </a:lnSpc>
              <a:spcAft>
                <a:spcPts val="0"/>
              </a:spcAft>
            </a:pPr>
            <a:r>
              <a:rPr sz="1150" b="1" i="0">
                <a:solidFill>
                  <a:srgbClr val="000000"/>
                </a:solidFill>
                <a:latin typeface="Avenir Next LT Pro"/>
              </a:rPr>
              <a:t>VALUE TRACKING AND THE VALUE REALISATION OFFICE, DURING DELIVERY.  </a:t>
            </a:r>
            <a:r>
              <a:rPr sz="1150" b="0" i="0">
                <a:solidFill>
                  <a:srgbClr val="000000"/>
                </a:solidFill>
                <a:latin typeface="Avenir Next LT Pro"/>
              </a:rPr>
              <a:t>We stand up value tracking with a reporting cadence and governance while delivery runs. For clients ready to own the discipline we build the value realisation office with them, run it together and hand it over, anchored to the CFO with impact verified monthly. An office the client can run alone becomes a reference; one they cannot becomes a liability.</a:t>
            </a:r>
          </a:p>
        </p:txBody>
      </p:sp>
      <p:sp>
        <p:nvSpPr>
          <p:cNvPr id="11" name="Rectangle 10"/>
          <p:cNvSpPr/>
          <p:nvPr/>
        </p:nvSpPr>
        <p:spPr>
          <a:xfrm>
            <a:off x="502920" y="4136745"/>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209897"/>
            <a:ext cx="11155680" cy="932688"/>
          </a:xfrm>
          <a:prstGeom prst="rect">
            <a:avLst/>
          </a:prstGeom>
          <a:noFill/>
        </p:spPr>
        <p:txBody>
          <a:bodyPr wrap="square" lIns="0" rIns="0" tIns="0" bIns="0">
            <a:spAutoFit/>
          </a:bodyPr>
          <a:lstStyle/>
          <a:p>
            <a:pPr>
              <a:lnSpc>
                <a:spcPct val="112000"/>
              </a:lnSpc>
              <a:spcAft>
                <a:spcPts val="0"/>
              </a:spcAft>
            </a:pPr>
            <a:r>
              <a:rPr sz="1150" b="1" i="0">
                <a:solidFill>
                  <a:srgbClr val="000000"/>
                </a:solidFill>
                <a:latin typeface="Avenir Next LT Pro"/>
              </a:rPr>
              <a:t>VALUE RECOVERY, FOR WHAT THEY ALREADY OWN.  </a:t>
            </a:r>
            <a:r>
              <a:rPr sz="1150" b="0" i="0">
                <a:solidFill>
                  <a:srgbClr val="000000"/>
                </a:solidFill>
                <a:latin typeface="Avenir Next LT Pro"/>
              </a:rPr>
              <a:t>We unlock value locked in platforms clients already own without paying millions to upgrade, reconciling what was contracted against what was deployed against what is actually used. 46 per cent of software licences sit unused and cloud waste rose to 29 per cent of spend in 2026, so the recovery pool is real, provable and fundable through the vendors' own partner programs.</a:t>
            </a:r>
          </a:p>
        </p:txBody>
      </p:sp>
      <p:sp>
        <p:nvSpPr>
          <p:cNvPr id="13" name="Rectangle 12"/>
          <p:cNvSpPr/>
          <p:nvPr/>
        </p:nvSpPr>
        <p:spPr>
          <a:xfrm>
            <a:off x="502920" y="4899355"/>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4972507"/>
            <a:ext cx="11155680" cy="621792"/>
          </a:xfrm>
          <a:prstGeom prst="rect">
            <a:avLst/>
          </a:prstGeom>
          <a:noFill/>
        </p:spPr>
        <p:txBody>
          <a:bodyPr wrap="square" lIns="0" rIns="0" tIns="0" bIns="0">
            <a:spAutoFit/>
          </a:bodyPr>
          <a:lstStyle/>
          <a:p>
            <a:pPr>
              <a:lnSpc>
                <a:spcPct val="112000"/>
              </a:lnSpc>
              <a:spcAft>
                <a:spcPts val="0"/>
              </a:spcAft>
            </a:pPr>
            <a:r>
              <a:rPr sz="1150" b="1" i="0">
                <a:solidFill>
                  <a:srgbClr val="000000"/>
                </a:solidFill>
                <a:latin typeface="Avenir Next LT Pro"/>
              </a:rPr>
              <a:t>WHERE THE DEMAND IS.  </a:t>
            </a:r>
            <a:r>
              <a:rPr sz="1150" b="0" i="0">
                <a:solidFill>
                  <a:srgbClr val="000000"/>
                </a:solidFill>
                <a:latin typeface="Avenir Next LT Pro"/>
              </a:rPr>
              <a:t>AI investments under board pressure for proof, platforms already owned, post merger value and speed to value, and major transformations. The offers stay the same; the arena chooses the door, the urgency and the funding line.</a:t>
            </a:r>
          </a:p>
        </p:txBody>
      </p:sp>
      <p:sp>
        <p:nvSpPr>
          <p:cNvPr id="15" name="TextBox 14"/>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Zylo SaaS Management Index, 2026. Flexera State of the Cloud, 2026. Bain and McKinsey synergy research. PwC M&amp;A Integration Survey, 2023.</a:t>
            </a:r>
          </a:p>
        </p:txBody>
      </p:sp>
    </p:spTree>
    <p:extLst>
      <p:ext uri="{BB962C8B-B14F-4D97-AF65-F5344CB8AC3E}">
        <p14:creationId xmlns:p14="http://schemas.microsoft.com/office/powerpoint/2010/main" val="11884383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HOW WE CHANGE THE CONVERSATION</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Value becomes the first question, and each answer brings the next executive into the room.</a:t>
            </a:r>
          </a:p>
        </p:txBody>
      </p:sp>
      <p:sp>
        <p:nvSpPr>
          <p:cNvPr id="4" name="TextBox 3"/>
          <p:cNvSpPr txBox="1"/>
          <p:nvPr/>
        </p:nvSpPr>
        <p:spPr>
          <a:xfrm>
            <a:off x="502920" y="1700784"/>
            <a:ext cx="11155680" cy="566928"/>
          </a:xfrm>
          <a:prstGeom prst="rect">
            <a:avLst/>
          </a:prstGeom>
          <a:noFill/>
        </p:spPr>
        <p:txBody>
          <a:bodyPr wrap="square" lIns="0" rIns="0" tIns="0" bIns="0">
            <a:spAutoFit/>
          </a:bodyPr>
          <a:lstStyle/>
          <a:p>
            <a:pPr>
              <a:lnSpc>
                <a:spcPct val="110000"/>
              </a:lnSpc>
              <a:spcAft>
                <a:spcPts val="0"/>
              </a:spcAft>
            </a:pPr>
            <a:r>
              <a:rPr sz="1400" b="0" i="0">
                <a:solidFill>
                  <a:srgbClr val="000000"/>
                </a:solidFill>
                <a:latin typeface="Avenir Next LT Pro"/>
              </a:rPr>
              <a:t>Our relationships today live with technology leaders while the outcomes live with the CEO, the CFO and the COO; the method itself opens those doors.</a:t>
            </a:r>
          </a:p>
        </p:txBody>
      </p:sp>
      <p:sp>
        <p:nvSpPr>
          <p:cNvPr id="5" name="TextBox 4"/>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09</a:t>
            </a:r>
          </a:p>
        </p:txBody>
      </p:sp>
      <p:sp>
        <p:nvSpPr>
          <p:cNvPr id="6" name="TextBox 5"/>
          <p:cNvSpPr txBox="1"/>
          <p:nvPr/>
        </p:nvSpPr>
        <p:spPr>
          <a:xfrm>
            <a:off x="502920" y="2395728"/>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THE OPENING.  </a:t>
            </a:r>
            <a:r>
              <a:rPr sz="1200" b="0" i="0">
                <a:solidFill>
                  <a:srgbClr val="000000"/>
                </a:solidFill>
                <a:latin typeface="Avenir Next LT Pro"/>
              </a:rPr>
              <a:t>The conversation opens with the anchor question: what business outcome is this investment truly driving, what must change to achieve it, and how will we prove it occurred? It replaces the question a technology engagement usually answers, which is what the platform will deliver, by when and for how much.</a:t>
            </a:r>
          </a:p>
        </p:txBody>
      </p:sp>
      <p:sp>
        <p:nvSpPr>
          <p:cNvPr id="7" name="Rectangle 6"/>
          <p:cNvSpPr/>
          <p:nvPr/>
        </p:nvSpPr>
        <p:spPr>
          <a:xfrm>
            <a:off x="502920" y="3094329"/>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3176625"/>
            <a:ext cx="11155680" cy="1243584"/>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THE THREE WORKING QUESTIONS, AND WHO EACH ONE NAMES.  </a:t>
            </a:r>
            <a:r>
              <a:rPr sz="1200" b="0" i="0">
                <a:solidFill>
                  <a:srgbClr val="000000"/>
                </a:solidFill>
                <a:latin typeface="Avenir Next LT Pro"/>
              </a:rPr>
              <a:t>Which outcome must change, and what is its baseline; whoever owns that number, usually a COO or a business unit leader, has to be in the room to answer it. Would finance sign that baseline; the CFO's team joins to co author the verification rules, which makes finance a stakeholder in the machinery rather than an audience for a pitch. Who owns the outcome after go live; that owner is a standing relationship the engagement itself creates.</a:t>
            </a:r>
          </a:p>
        </p:txBody>
      </p:sp>
      <p:sp>
        <p:nvSpPr>
          <p:cNvPr id="9" name="Rectangle 8"/>
          <p:cNvSpPr/>
          <p:nvPr/>
        </p:nvSpPr>
        <p:spPr>
          <a:xfrm>
            <a:off x="502920" y="4092854"/>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4175150"/>
            <a:ext cx="11155680" cy="1243584"/>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WHY THE CTO RELATIONSHIP IS THE DOOR RATHER THAN THE OBSTACLE.  </a:t>
            </a:r>
            <a:r>
              <a:rPr sz="1200" b="0" i="0">
                <a:solidFill>
                  <a:srgbClr val="000000"/>
                </a:solidFill>
                <a:latin typeface="Avenir Next LT Pro"/>
              </a:rPr>
              <a:t>74 per cent of CIOs believe their role is at risk within two years if they cannot demonstrate measurable gains from AI, and 59 per cent of CFOs and 61 per cent of CIOs each claim primary responsibility for the same technology investment decisions. Helping the technology leader build a value story finance will sign is the fastest route into the rest of the executive team, and it protects the funding for the work we already deliver.</a:t>
            </a:r>
          </a:p>
        </p:txBody>
      </p:sp>
      <p:sp>
        <p:nvSpPr>
          <p:cNvPr id="11" name="TextBox 10"/>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Dataiku and Harris Poll, 600 CIOs, 2025. KPMG on CFO and CIO investment accountability. Gartner CFO research, 2025 to 2026.</a:t>
            </a:r>
          </a:p>
        </p:txBody>
      </p:sp>
    </p:spTree>
    <p:extLst>
      <p:ext uri="{BB962C8B-B14F-4D97-AF65-F5344CB8AC3E}">
        <p14:creationId xmlns:p14="http://schemas.microsoft.com/office/powerpoint/2010/main" val="1188438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3A78"/>
        </a:solidFill>
        <a:effectLst/>
      </p:bgPr>
    </p:bg>
    <p:spTree>
      <p:nvGrpSpPr>
        <p:cNvPr id="1" name=""/>
        <p:cNvGrpSpPr/>
        <p:nvPr/>
      </p:nvGrpSpPr>
      <p:grpSpPr>
        <a:xfrm>
          <a:off x="0" y="0"/>
          <a:ext cx="0" cy="0"/>
          <a:chOff x="0" y="0"/>
          <a:chExt cx="0" cy="0"/>
        </a:xfrm>
      </p:grpSpPr>
      <p:sp>
        <p:nvSpPr>
          <p:cNvPr id="2" name="TextBox 1"/>
          <p:cNvSpPr txBox="1"/>
          <p:nvPr/>
        </p:nvSpPr>
        <p:spPr>
          <a:xfrm>
            <a:off x="502920" y="365760"/>
            <a:ext cx="11155680" cy="292608"/>
          </a:xfrm>
          <a:prstGeom prst="rect">
            <a:avLst/>
          </a:prstGeom>
          <a:noFill/>
        </p:spPr>
        <p:txBody>
          <a:bodyPr wrap="square" lIns="0" rIns="0" tIns="0" bIns="0">
            <a:spAutoFit/>
          </a:bodyPr>
          <a:lstStyle/>
          <a:p>
            <a:pPr>
              <a:lnSpc>
                <a:spcPct val="112000"/>
              </a:lnSpc>
              <a:spcAft>
                <a:spcPts val="0"/>
              </a:spcAft>
            </a:pPr>
            <a:r>
              <a:rPr sz="1200" b="1" i="0">
                <a:solidFill>
                  <a:srgbClr val="0C62FB"/>
                </a:solidFill>
                <a:latin typeface="Avenir Next LT Pro"/>
              </a:rPr>
              <a:t>HOW WE TAKE IT TO MARKET</a:t>
            </a:r>
          </a:p>
        </p:txBody>
      </p:sp>
      <p:sp>
        <p:nvSpPr>
          <p:cNvPr id="3" name="TextBox 2"/>
          <p:cNvSpPr txBox="1"/>
          <p:nvPr/>
        </p:nvSpPr>
        <p:spPr>
          <a:xfrm>
            <a:off x="502920" y="676656"/>
            <a:ext cx="11155680" cy="1097280"/>
          </a:xfrm>
          <a:prstGeom prst="rect">
            <a:avLst/>
          </a:prstGeom>
          <a:noFill/>
        </p:spPr>
        <p:txBody>
          <a:bodyPr wrap="square" lIns="0" rIns="0" tIns="0" bIns="0">
            <a:spAutoFit/>
          </a:bodyPr>
          <a:lstStyle/>
          <a:p>
            <a:pPr>
              <a:lnSpc>
                <a:spcPct val="104000"/>
              </a:lnSpc>
              <a:spcAft>
                <a:spcPts val="0"/>
              </a:spcAft>
            </a:pPr>
            <a:r>
              <a:rPr sz="2500" b="1" i="0">
                <a:solidFill>
                  <a:srgbClr val="000000"/>
                </a:solidFill>
                <a:latin typeface="Avenir Next LT Pro (Headings)"/>
              </a:rPr>
              <a:t>Start where we already deliver, prove it in three lighthouse accounts, then productise what repeats.</a:t>
            </a:r>
          </a:p>
        </p:txBody>
      </p:sp>
      <p:sp>
        <p:nvSpPr>
          <p:cNvPr id="4" name="TextBox 3"/>
          <p:cNvSpPr txBox="1"/>
          <p:nvPr/>
        </p:nvSpPr>
        <p:spPr>
          <a:xfrm>
            <a:off x="11292840" y="6492240"/>
            <a:ext cx="411480" cy="274320"/>
          </a:xfrm>
          <a:prstGeom prst="rect">
            <a:avLst/>
          </a:prstGeom>
          <a:noFill/>
        </p:spPr>
        <p:txBody>
          <a:bodyPr wrap="square" lIns="0" rIns="0" tIns="0" bIns="0">
            <a:spAutoFit/>
          </a:bodyPr>
          <a:lstStyle/>
          <a:p>
            <a:pPr>
              <a:lnSpc>
                <a:spcPct val="112000"/>
              </a:lnSpc>
              <a:spcAft>
                <a:spcPts val="0"/>
              </a:spcAft>
            </a:pPr>
            <a:r>
              <a:rPr sz="1000" b="0" i="0">
                <a:solidFill>
                  <a:srgbClr val="666666"/>
                </a:solidFill>
                <a:latin typeface="Avenir Next LT Pro"/>
              </a:rPr>
              <a:t>10</a:t>
            </a:r>
          </a:p>
        </p:txBody>
      </p:sp>
      <p:sp>
        <p:nvSpPr>
          <p:cNvPr id="5" name="TextBox 4"/>
          <p:cNvSpPr txBox="1"/>
          <p:nvPr/>
        </p:nvSpPr>
        <p:spPr>
          <a:xfrm>
            <a:off x="502920" y="1920240"/>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START WHERE WE ALREADY DELIVER.  </a:t>
            </a:r>
            <a:r>
              <a:rPr sz="1200" b="0" i="0">
                <a:solidFill>
                  <a:srgbClr val="000000"/>
                </a:solidFill>
                <a:latin typeface="Avenir Next LT Pro"/>
              </a:rPr>
              <a:t>Every platform proposal carries a value case option; every programme at a gate is a tracking and governance conversation; every renewal or visibly underused platform is a recovery conversation. The entry criterion is one live investment where the client cannot confidently explain the intended outcome, or whether it is being realised.</a:t>
            </a:r>
          </a:p>
        </p:txBody>
      </p:sp>
      <p:sp>
        <p:nvSpPr>
          <p:cNvPr id="6" name="Rectangle 5"/>
          <p:cNvSpPr/>
          <p:nvPr/>
        </p:nvSpPr>
        <p:spPr>
          <a:xfrm>
            <a:off x="502920" y="2618841"/>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701137"/>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PROVE IT IN THREE LIGHTHOUSE ACCOUNTS.  </a:t>
            </a:r>
            <a:r>
              <a:rPr sz="1200" b="0" i="0">
                <a:solidFill>
                  <a:srgbClr val="000000"/>
                </a:solidFill>
                <a:latin typeface="Avenir Next LT Pro"/>
              </a:rPr>
              <a:t>We pick three accounts with a live investment decision, a trusted sponsor and accessible delivery evidence, run the Value Case Review in each, and deliver on charter terms with contractual reference rights, so the results become the practice's proof rather than an anecdote.</a:t>
            </a:r>
          </a:p>
        </p:txBody>
      </p:sp>
      <p:sp>
        <p:nvSpPr>
          <p:cNvPr id="8" name="Rectangle 7"/>
          <p:cNvSpPr/>
          <p:nvPr/>
        </p:nvSpPr>
        <p:spPr>
          <a:xfrm>
            <a:off x="502920" y="3399739"/>
            <a:ext cx="11155680" cy="1143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3482035"/>
            <a:ext cx="11155680" cy="932688"/>
          </a:xfrm>
          <a:prstGeom prst="rect">
            <a:avLst/>
          </a:prstGeom>
          <a:noFill/>
        </p:spPr>
        <p:txBody>
          <a:bodyPr wrap="square" lIns="0" rIns="0" tIns="0" bIns="0">
            <a:spAutoFit/>
          </a:bodyPr>
          <a:lstStyle/>
          <a:p>
            <a:pPr>
              <a:lnSpc>
                <a:spcPct val="112000"/>
              </a:lnSpc>
              <a:spcAft>
                <a:spcPts val="0"/>
              </a:spcAft>
            </a:pPr>
            <a:r>
              <a:rPr sz="1200" b="1" i="0">
                <a:solidFill>
                  <a:srgbClr val="000000"/>
                </a:solidFill>
                <a:latin typeface="Avenir Next LT Pro"/>
              </a:rPr>
              <a:t>HOLD OURSELVES TO THE STANDARD WE SELL.  </a:t>
            </a:r>
            <a:r>
              <a:rPr sz="1200" b="0" i="0">
                <a:solidFill>
                  <a:srgbClr val="000000"/>
                </a:solidFill>
                <a:latin typeface="Avenir Next LT Pro"/>
              </a:rPr>
              <a:t>The practice runs on its own method from day one: its own value case with baselines, owners and dates, reviewed monthly, going, holding, killing or accelerating its own initiatives on the same cadence we sell to clients. What repeats gets productised; what does not gets killed, and we say so.</a:t>
            </a:r>
          </a:p>
        </p:txBody>
      </p:sp>
      <p:sp>
        <p:nvSpPr>
          <p:cNvPr id="10" name="TextBox 9"/>
          <p:cNvSpPr txBox="1"/>
          <p:nvPr/>
        </p:nvSpPr>
        <p:spPr>
          <a:xfrm>
            <a:off x="502920" y="6199632"/>
            <a:ext cx="10607040" cy="320040"/>
          </a:xfrm>
          <a:prstGeom prst="rect">
            <a:avLst/>
          </a:prstGeom>
          <a:noFill/>
        </p:spPr>
        <p:txBody>
          <a:bodyPr wrap="square" lIns="0" rIns="0" tIns="0" bIns="0">
            <a:spAutoFit/>
          </a:bodyPr>
          <a:lstStyle/>
          <a:p>
            <a:pPr>
              <a:lnSpc>
                <a:spcPct val="112000"/>
              </a:lnSpc>
              <a:spcAft>
                <a:spcPts val="0"/>
              </a:spcAft>
            </a:pPr>
            <a:r>
              <a:rPr sz="850" b="1" i="0">
                <a:solidFill>
                  <a:srgbClr val="666666"/>
                </a:solidFill>
                <a:latin typeface="Avenir Next LT Pro"/>
              </a:rPr>
              <a:t>SOURCES  </a:t>
            </a:r>
            <a:r>
              <a:rPr sz="850" b="0" i="0">
                <a:solidFill>
                  <a:srgbClr val="666666"/>
                </a:solidFill>
                <a:latin typeface="Avenir Next LT Pro"/>
              </a:rPr>
              <a:t>Practice design and full research base: value-practice-gtm, August 2026, including the verified evidence bank with confidence flags behind every figure in this document.</a:t>
            </a:r>
          </a:p>
        </p:txBody>
      </p:sp>
    </p:spTree>
    <p:extLst>
      <p:ext uri="{BB962C8B-B14F-4D97-AF65-F5344CB8AC3E}">
        <p14:creationId xmlns:p14="http://schemas.microsoft.com/office/powerpoint/2010/main" val="1188438333"/>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5124</Words>
  <Application>Microsoft Office PowerPoint</Application>
  <DocSecurity>0</DocSecurity>
  <PresentationFormat>Widescreen</PresentationFormat>
  <Paragraphs>642</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Calibri</vt:lpstr>
      <vt:lpstr>Helvetica Neue</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Leewaine Scott</cp:lastModifiedBy>
  <cp:revision>1</cp:revision>
  <dcterms:created xsi:type="dcterms:W3CDTF">2026-08-20T04:05:11Z</dcterms:created>
  <dcterms:modified xsi:type="dcterms:W3CDTF">2026-08-20T06:15:39Z</dcterms:modified>
</cp:coreProperties>
</file>