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IN">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5943600" cy="274320"/>
          </a:xfrm>
          <a:prstGeom prst="rect">
            <a:avLst/>
          </a:prstGeom>
          <a:noFill/>
          <a:ln/>
        </p:spPr>
        <p:txBody>
          <a:bodyPr wrap="square" lIns="0" tIns="0" rIns="0" bIns="0" rtlCol="0" anchor="ctr"/>
          <a:lstStyle/>
          <a:p>
            <a:pPr indent="0" marL="0">
              <a:buNone/>
            </a:pPr>
            <a:r>
              <a:rPr lang="en-US" sz="800" dirty="0">
                <a:solidFill>
                  <a:srgbClr val="666666"/>
                </a:solidFill>
                <a:latin typeface="Avenir Next LT Pro" pitchFamily="34" charset="0"/>
                <a:ea typeface="Avenir Next LT Pro" pitchFamily="34" charset="-122"/>
                <a:cs typeface="Avenir Next LT Pro" pitchFamily="34" charset="-120"/>
              </a:rPr>
              <a:t>2026 Slalom. All Rights Reserved. Proprietary and Confidential.</a:t>
            </a:r>
            <a:endParaRPr lang="en-US" sz="800" dirty="0"/>
          </a:p>
        </p:txBody>
      </p:sp>
      <p:sp>
        <p:nvSpPr>
          <p:cNvPr id="25" name="Slide Number Placeholder 0"/>
          <p:cNvSpPr>
            <a:spLocks noGrp="1"/>
          </p:cNvSpPr>
          <p:nvPr>
            <p:ph type="sldNum" sz="quarter" idx="4294967295"/>
          </p:nvPr>
        </p:nvSpPr>
        <p:spPr>
          <a:xfrm>
            <a:off x="11475720" y="6473952"/>
            <a:ext cx="365760" cy="274320"/>
          </a:xfrm>
          <a:prstGeom prst="rect">
            <a:avLst/>
          </a:prstGeom>
          <a:extLst>
            <a:ext uri="{C572A759-6A51-4108-AA02-DFA0A04FC94B}">
              <ma14:wrappingTextBoxFlag xmlns:ma14="http://schemas.microsoft.com/office/mac/drawingml/2011/main" val="0"/>
            </a:ext>
          </a:extLst>
        </p:spPr>
        <p:txBody>
          <a:bodyPr/>
          <a:lstStyle>
            <a:lvl1pPr>
              <a:defRPr sz="800">
                <a:solidFill>
                  <a:srgbClr val="666666"/>
                </a:solidFill>
                <a:latin typeface="Avenir Next LT Pro"/>
                <a:ea typeface="Avenir Next LT Pro"/>
                <a:cs typeface="Avenir Next LT Pro"/>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75720" y="6473952"/>
            <a:ext cx="365760" cy="274320"/>
          </a:xfrm>
          <a:prstGeom prst="rect">
            <a:avLst/>
          </a:prstGeom>
          <a:extLst>
            <a:ext uri="{C572A759-6A51-4108-AA02-DFA0A04FC94B}">
              <ma14:wrappingTextBoxFlag xmlns:ma14="http://schemas.microsoft.com/office/mac/drawingml/2011/main" val="0"/>
            </a:ext>
          </a:extLst>
        </p:spPr>
        <p:txBody>
          <a:bodyPr/>
          <a:lstStyle>
            <a:lvl1pPr>
              <a:defRPr sz="800">
                <a:solidFill>
                  <a:srgbClr val="666666"/>
                </a:solidFill>
                <a:latin typeface="Avenir Next LT Pro"/>
                <a:ea typeface="Avenir Next LT Pro"/>
                <a:cs typeface="Avenir Next LT Pro"/>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548640" y="457200"/>
            <a:ext cx="5486400" cy="274320"/>
          </a:xfrm>
          <a:prstGeom prst="rect">
            <a:avLst/>
          </a:prstGeom>
          <a:noFill/>
          <a:ln/>
        </p:spPr>
        <p:txBody>
          <a:bodyPr wrap="square" lIns="0" tIns="0" rIns="0" bIns="0" rtlCol="0" anchor="ctr"/>
          <a:lstStyle/>
          <a:p>
            <a:pPr indent="0" marL="0">
              <a:buNone/>
            </a:pPr>
            <a:r>
              <a:rPr lang="en-US" sz="1200" b="1" spc="150" kern="0" dirty="0">
                <a:solidFill>
                  <a:srgbClr val="0C62FB"/>
                </a:solidFill>
                <a:latin typeface="Avenir Next LT Pro" pitchFamily="34" charset="0"/>
                <a:ea typeface="Avenir Next LT Pro" pitchFamily="34" charset="-122"/>
                <a:cs typeface="Avenir Next LT Pro" pitchFamily="34" charset="-120"/>
              </a:rPr>
              <a:t>SLALOM AUSTRALIA</a:t>
            </a:r>
            <a:endParaRPr lang="en-US" sz="1200" dirty="0"/>
          </a:p>
        </p:txBody>
      </p:sp>
      <p:sp>
        <p:nvSpPr>
          <p:cNvPr id="3" name="Text 1"/>
          <p:cNvSpPr/>
          <p:nvPr/>
        </p:nvSpPr>
        <p:spPr>
          <a:xfrm>
            <a:off x="548640" y="2148840"/>
            <a:ext cx="6766560" cy="914400"/>
          </a:xfrm>
          <a:prstGeom prst="rect">
            <a:avLst/>
          </a:prstGeom>
          <a:noFill/>
          <a:ln/>
        </p:spPr>
        <p:txBody>
          <a:bodyPr wrap="square" lIns="0" tIns="0" rIns="0" bIns="0" rtlCol="0" anchor="ctr"/>
          <a:lstStyle/>
          <a:p>
            <a:pPr indent="0" marL="0">
              <a:buNone/>
            </a:pPr>
            <a:r>
              <a:rPr lang="en-US" sz="4800" b="1" dirty="0">
                <a:solidFill>
                  <a:srgbClr val="000000"/>
                </a:solidFill>
                <a:latin typeface="Avenir Next LT Pro (Headings)" pitchFamily="34" charset="0"/>
                <a:ea typeface="Avenir Next LT Pro (Headings)" pitchFamily="34" charset="-122"/>
                <a:cs typeface="Avenir Next LT Pro (Headings)" pitchFamily="34" charset="-120"/>
              </a:rPr>
              <a:t>Value Realisation</a:t>
            </a:r>
            <a:endParaRPr lang="en-US" sz="4800" dirty="0"/>
          </a:p>
        </p:txBody>
      </p:sp>
      <p:sp>
        <p:nvSpPr>
          <p:cNvPr id="4" name="Text 2"/>
          <p:cNvSpPr/>
          <p:nvPr/>
        </p:nvSpPr>
        <p:spPr>
          <a:xfrm>
            <a:off x="548640" y="3200400"/>
            <a:ext cx="6309360" cy="868680"/>
          </a:xfrm>
          <a:prstGeom prst="rect">
            <a:avLst/>
          </a:prstGeom>
          <a:noFill/>
          <a:ln/>
        </p:spPr>
        <p:txBody>
          <a:bodyPr wrap="square" lIns="0" tIns="0" rIns="0" bIns="0" rtlCol="0" anchor="ctr"/>
          <a:lstStyle/>
          <a:p>
            <a:pPr indent="0" marL="0">
              <a:lnSpc>
                <a:spcPct val="110000"/>
              </a:lnSpc>
              <a:buNone/>
            </a:pPr>
            <a:r>
              <a:rPr lang="en-US" sz="1900" dirty="0">
                <a:solidFill>
                  <a:srgbClr val="000000"/>
                </a:solidFill>
                <a:latin typeface="Avenir Next LT Pro" pitchFamily="34" charset="0"/>
                <a:ea typeface="Avenir Next LT Pro" pitchFamily="34" charset="-122"/>
                <a:cs typeface="Avenir Next LT Pro" pitchFamily="34" charset="-120"/>
              </a:rPr>
              <a:t>Turning technology investment into measurable business outcomes.</a:t>
            </a:r>
            <a:endParaRPr lang="en-US" sz="1900" dirty="0"/>
          </a:p>
        </p:txBody>
      </p:sp>
      <p:sp>
        <p:nvSpPr>
          <p:cNvPr id="5" name="Text 3"/>
          <p:cNvSpPr/>
          <p:nvPr/>
        </p:nvSpPr>
        <p:spPr>
          <a:xfrm>
            <a:off x="548640" y="5669280"/>
            <a:ext cx="3657600" cy="274320"/>
          </a:xfrm>
          <a:prstGeom prst="rect">
            <a:avLst/>
          </a:prstGeom>
          <a:noFill/>
          <a:ln/>
        </p:spPr>
        <p:txBody>
          <a:bodyPr wrap="square" lIns="0" tIns="0" rIns="0" bIns="0" rtlCol="0" anchor="ctr"/>
          <a:lstStyle/>
          <a:p>
            <a:pPr indent="0" marL="0">
              <a:buNone/>
            </a:pPr>
            <a:r>
              <a:rPr lang="en-US" sz="1100" b="1" spc="150" kern="0" dirty="0">
                <a:solidFill>
                  <a:srgbClr val="666666"/>
                </a:solidFill>
                <a:latin typeface="Avenir Next LT Pro" pitchFamily="34" charset="0"/>
                <a:ea typeface="Avenir Next LT Pro" pitchFamily="34" charset="-122"/>
                <a:cs typeface="Avenir Next LT Pro" pitchFamily="34" charset="-120"/>
              </a:rPr>
              <a:t>AUGUST 2026</a:t>
            </a:r>
            <a:endParaRPr lang="en-US" sz="1100" dirty="0"/>
          </a:p>
        </p:txBody>
      </p:sp>
      <p:sp>
        <p:nvSpPr>
          <p:cNvPr id="6" name="Shape 4"/>
          <p:cNvSpPr/>
          <p:nvPr/>
        </p:nvSpPr>
        <p:spPr>
          <a:xfrm>
            <a:off x="7589520" y="0"/>
            <a:ext cx="4599432" cy="6858000"/>
          </a:xfrm>
          <a:prstGeom prst="rect">
            <a:avLst/>
          </a:prstGeom>
          <a:solidFill>
            <a:srgbClr val="002FAF"/>
          </a:solidFill>
          <a:ln/>
        </p:spPr>
      </p:sp>
      <p:sp>
        <p:nvSpPr>
          <p:cNvPr id="7" name="Text 5"/>
          <p:cNvSpPr/>
          <p:nvPr/>
        </p:nvSpPr>
        <p:spPr>
          <a:xfrm>
            <a:off x="8001000" y="1828800"/>
            <a:ext cx="3794760" cy="274320"/>
          </a:xfrm>
          <a:prstGeom prst="rect">
            <a:avLst/>
          </a:prstGeom>
          <a:noFill/>
          <a:ln/>
        </p:spPr>
        <p:txBody>
          <a:bodyPr wrap="square" lIns="0" tIns="0" rIns="0" bIns="0" rtlCol="0" anchor="ctr"/>
          <a:lstStyle/>
          <a:p>
            <a:pPr indent="0" marL="0">
              <a:buNone/>
            </a:pPr>
            <a:r>
              <a:rPr lang="en-US" sz="1100" b="1" spc="150" kern="0" dirty="0">
                <a:solidFill>
                  <a:srgbClr val="FFFFFF"/>
                </a:solidFill>
                <a:latin typeface="Avenir Next LT Pro" pitchFamily="34" charset="0"/>
                <a:ea typeface="Avenir Next LT Pro" pitchFamily="34" charset="-122"/>
                <a:cs typeface="Avenir Next LT Pro" pitchFamily="34" charset="-120"/>
              </a:rPr>
              <a:t>THE QUESTION WE BRING</a:t>
            </a:r>
            <a:endParaRPr lang="en-US" sz="1100" dirty="0"/>
          </a:p>
        </p:txBody>
      </p:sp>
      <p:sp>
        <p:nvSpPr>
          <p:cNvPr id="8" name="Text 6"/>
          <p:cNvSpPr/>
          <p:nvPr/>
        </p:nvSpPr>
        <p:spPr>
          <a:xfrm>
            <a:off x="8001000" y="2240280"/>
            <a:ext cx="3794760" cy="2377440"/>
          </a:xfrm>
          <a:prstGeom prst="rect">
            <a:avLst/>
          </a:prstGeom>
          <a:noFill/>
          <a:ln/>
        </p:spPr>
        <p:txBody>
          <a:bodyPr wrap="square" lIns="0" tIns="0" rIns="0" bIns="0" rtlCol="0" anchor="t"/>
          <a:lstStyle/>
          <a:p>
            <a:pPr indent="0" marL="0">
              <a:lnSpc>
                <a:spcPct val="120000"/>
              </a:lnSpc>
              <a:buNone/>
            </a:pPr>
            <a:r>
              <a:rPr lang="en-US" sz="1800" i="1" dirty="0">
                <a:solidFill>
                  <a:srgbClr val="FFFFFF"/>
                </a:solidFill>
                <a:latin typeface="Avenir Next LT Pro" pitchFamily="34" charset="0"/>
                <a:ea typeface="Avenir Next LT Pro" pitchFamily="34" charset="-122"/>
                <a:cs typeface="Avenir Next LT Pro" pitchFamily="34" charset="-120"/>
              </a:rPr>
              <a:t>What business outcome is this investment truly driving, what must change to achieve it, and how will we prove it occurred?</a:t>
            </a:r>
            <a:endParaRPr lang="en-US" sz="1800" dirty="0"/>
          </a:p>
        </p:txBody>
      </p:sp>
      <p:sp>
        <p:nvSpPr>
          <p:cNvPr id="25" name="Slide Number Placeholder 0"/>
          <p:cNvSpPr>
            <a:spLocks noGrp="1"/>
          </p:cNvSpPr>
          <p:nvPr>
            <p:ph type="sldNum" sz="quarter" idx="4294967295"/>
          </p:nvPr>
        </p:nvSpPr>
        <p:spPr>
          <a:xfrm>
            <a:off x="11475720" y="6473952"/>
            <a:ext cx="365760" cy="274320"/>
          </a:xfrm>
          <a:prstGeom prst="rect">
            <a:avLst/>
          </a:prstGeom>
          <a:extLst>
            <a:ext uri="{C572A759-6A51-4108-AA02-DFA0A04FC94B}">
              <ma14:wrappingTextBoxFlag xmlns:ma14="http://schemas.microsoft.com/office/mac/drawingml/2011/main" val="0"/>
            </a:ext>
          </a:extLst>
        </p:spPr>
        <p:txBody>
          <a:bodyPr/>
          <a:lstStyle>
            <a:lvl1pPr>
              <a:defRPr sz="800">
                <a:solidFill>
                  <a:srgbClr val="666666"/>
                </a:solidFill>
                <a:latin typeface="Avenir Next LT Pro"/>
                <a:ea typeface="Avenir Next LT Pro"/>
                <a:cs typeface="Avenir Next LT Pro"/>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indent="0" marL="0">
              <a:buNone/>
            </a:pPr>
            <a:r>
              <a:rPr lang="en-US" sz="1200" b="1" spc="150" kern="0" dirty="0">
                <a:solidFill>
                  <a:srgbClr val="0C62FB"/>
                </a:solidFill>
                <a:latin typeface="Avenir Next LT Pro" pitchFamily="34" charset="0"/>
                <a:ea typeface="Avenir Next LT Pro" pitchFamily="34" charset="-122"/>
                <a:cs typeface="Avenir Next LT Pro" pitchFamily="34" charset="-120"/>
              </a:rPr>
              <a:t>WHY THIS MATTERS</a:t>
            </a:r>
            <a:endParaRPr lang="en-US" sz="1200" dirty="0"/>
          </a:p>
        </p:txBody>
      </p:sp>
      <p:sp>
        <p:nvSpPr>
          <p:cNvPr id="3" name="Text 1"/>
          <p:cNvSpPr/>
          <p:nvPr/>
        </p:nvSpPr>
        <p:spPr>
          <a:xfrm>
            <a:off x="548640" y="713232"/>
            <a:ext cx="11064240" cy="1234440"/>
          </a:xfrm>
          <a:prstGeom prst="rect">
            <a:avLst/>
          </a:prstGeom>
          <a:noFill/>
          <a:ln/>
        </p:spPr>
        <p:txBody>
          <a:bodyPr wrap="square" lIns="0" tIns="0" rIns="0" bIns="0" rtlCol="0" anchor="t"/>
          <a:lstStyle/>
          <a:p>
            <a:pPr indent="0" marL="0">
              <a:lnSpc>
                <a:spcPct val="105000"/>
              </a:lnSpc>
              <a:buNone/>
            </a:pPr>
            <a:r>
              <a:rPr lang="en-US" sz="2600" b="1" dirty="0">
                <a:solidFill>
                  <a:srgbClr val="000000"/>
                </a:solidFill>
                <a:latin typeface="Avenir Next LT Pro (Headings)" pitchFamily="34" charset="0"/>
                <a:ea typeface="Avenir Next LT Pro (Headings)" pitchFamily="34" charset="-122"/>
                <a:cs typeface="Avenir Next LT Pro (Headings)" pitchFamily="34" charset="-120"/>
              </a:rPr>
              <a:t>Clients manage technology investments around delivery, while the outcomes they invested for go unmanaged.</a:t>
            </a:r>
            <a:endParaRPr lang="en-US" sz="2600" dirty="0"/>
          </a:p>
        </p:txBody>
      </p:sp>
      <p:sp>
        <p:nvSpPr>
          <p:cNvPr id="4" name="Text 2"/>
          <p:cNvSpPr/>
          <p:nvPr/>
        </p:nvSpPr>
        <p:spPr>
          <a:xfrm>
            <a:off x="548640" y="2203704"/>
            <a:ext cx="1828800" cy="365760"/>
          </a:xfrm>
          <a:prstGeom prst="rect">
            <a:avLst/>
          </a:prstGeom>
          <a:noFill/>
          <a:ln/>
        </p:spPr>
        <p:txBody>
          <a:bodyPr wrap="square" lIns="0" tIns="0" rIns="0" bIns="0" rtlCol="0" anchor="ctr"/>
          <a:lstStyle/>
          <a:p>
            <a:pPr indent="0" marL="0">
              <a:buNone/>
            </a:pPr>
            <a:r>
              <a:rPr lang="en-US" sz="1100" b="1" spc="120" kern="0" dirty="0">
                <a:solidFill>
                  <a:srgbClr val="0C62FB"/>
                </a:solidFill>
                <a:latin typeface="Avenir Next LT Pro" pitchFamily="34" charset="0"/>
                <a:ea typeface="Avenir Next LT Pro" pitchFamily="34" charset="-122"/>
                <a:cs typeface="Avenir Next LT Pro" pitchFamily="34" charset="-120"/>
              </a:rPr>
              <a:t>THE QUESTION</a:t>
            </a:r>
            <a:endParaRPr lang="en-US" sz="1100" dirty="0"/>
          </a:p>
        </p:txBody>
      </p:sp>
      <p:sp>
        <p:nvSpPr>
          <p:cNvPr id="5" name="Text 3"/>
          <p:cNvSpPr/>
          <p:nvPr/>
        </p:nvSpPr>
        <p:spPr>
          <a:xfrm>
            <a:off x="2560320" y="2148840"/>
            <a:ext cx="9052560" cy="868680"/>
          </a:xfrm>
          <a:prstGeom prst="rect">
            <a:avLst/>
          </a:prstGeom>
          <a:noFill/>
          <a:ln/>
        </p:spPr>
        <p:txBody>
          <a:bodyPr wrap="square" lIns="0" tIns="0" rIns="0" bIns="0" rtlCol="0" anchor="t"/>
          <a:lstStyle/>
          <a:p>
            <a:pPr indent="0" marL="0">
              <a:lnSpc>
                <a:spcPct val="112000"/>
              </a:lnSpc>
              <a:buNone/>
            </a:pPr>
            <a:r>
              <a:rPr lang="en-US" sz="1400" dirty="0">
                <a:solidFill>
                  <a:srgbClr val="000000"/>
                </a:solidFill>
                <a:latin typeface="Avenir Next LT Pro" pitchFamily="34" charset="0"/>
                <a:ea typeface="Avenir Next LT Pro" pitchFamily="34" charset="-122"/>
                <a:cs typeface="Avenir Next LT Pro" pitchFamily="34" charset="-120"/>
              </a:rPr>
              <a:t>What business outcome is this investment truly driving, and what must change for that outcome to be realised?</a:t>
            </a:r>
            <a:endParaRPr lang="en-US" sz="1400" dirty="0"/>
          </a:p>
        </p:txBody>
      </p:sp>
      <p:sp>
        <p:nvSpPr>
          <p:cNvPr id="6" name="Shape 4"/>
          <p:cNvSpPr/>
          <p:nvPr/>
        </p:nvSpPr>
        <p:spPr>
          <a:xfrm>
            <a:off x="548640" y="3063240"/>
            <a:ext cx="11064240" cy="0"/>
          </a:xfrm>
          <a:prstGeom prst="line">
            <a:avLst/>
          </a:prstGeom>
          <a:noFill/>
          <a:ln w="9525">
            <a:solidFill>
              <a:srgbClr val="E6E6E6"/>
            </a:solidFill>
            <a:prstDash val="solid"/>
          </a:ln>
        </p:spPr>
      </p:sp>
      <p:sp>
        <p:nvSpPr>
          <p:cNvPr id="7" name="Text 5"/>
          <p:cNvSpPr/>
          <p:nvPr/>
        </p:nvSpPr>
        <p:spPr>
          <a:xfrm>
            <a:off x="548640" y="3227832"/>
            <a:ext cx="1828800" cy="365760"/>
          </a:xfrm>
          <a:prstGeom prst="rect">
            <a:avLst/>
          </a:prstGeom>
          <a:noFill/>
          <a:ln/>
        </p:spPr>
        <p:txBody>
          <a:bodyPr wrap="square" lIns="0" tIns="0" rIns="0" bIns="0" rtlCol="0" anchor="ctr"/>
          <a:lstStyle/>
          <a:p>
            <a:pPr indent="0" marL="0">
              <a:buNone/>
            </a:pPr>
            <a:r>
              <a:rPr lang="en-US" sz="1100" b="1" spc="120" kern="0" dirty="0">
                <a:solidFill>
                  <a:srgbClr val="0C62FB"/>
                </a:solidFill>
                <a:latin typeface="Avenir Next LT Pro" pitchFamily="34" charset="0"/>
                <a:ea typeface="Avenir Next LT Pro" pitchFamily="34" charset="-122"/>
                <a:cs typeface="Avenir Next LT Pro" pitchFamily="34" charset="-120"/>
              </a:rPr>
              <a:t>THE PROBLEM</a:t>
            </a:r>
            <a:endParaRPr lang="en-US" sz="1100" dirty="0"/>
          </a:p>
        </p:txBody>
      </p:sp>
      <p:sp>
        <p:nvSpPr>
          <p:cNvPr id="8" name="Text 6"/>
          <p:cNvSpPr/>
          <p:nvPr/>
        </p:nvSpPr>
        <p:spPr>
          <a:xfrm>
            <a:off x="2560320" y="3172968"/>
            <a:ext cx="9052560" cy="868680"/>
          </a:xfrm>
          <a:prstGeom prst="rect">
            <a:avLst/>
          </a:prstGeom>
          <a:noFill/>
          <a:ln/>
        </p:spPr>
        <p:txBody>
          <a:bodyPr wrap="square" lIns="0" tIns="0" rIns="0" bIns="0" rtlCol="0" anchor="t"/>
          <a:lstStyle/>
          <a:p>
            <a:pPr indent="0" marL="0">
              <a:lnSpc>
                <a:spcPct val="112000"/>
              </a:lnSpc>
              <a:buNone/>
            </a:pPr>
            <a:r>
              <a:rPr lang="en-US" sz="1400" dirty="0">
                <a:solidFill>
                  <a:srgbClr val="000000"/>
                </a:solidFill>
                <a:latin typeface="Avenir Next LT Pro" pitchFamily="34" charset="0"/>
                <a:ea typeface="Avenir Next LT Pro" pitchFamily="34" charset="-122"/>
                <a:cs typeface="Avenir Next LT Pro" pitchFamily="34" charset="-120"/>
              </a:rPr>
              <a:t>Clients invest to improve business performance, but manage the investment around delivery rather than whether the intended outcomes occur.</a:t>
            </a:r>
            <a:endParaRPr lang="en-US" sz="1400" dirty="0"/>
          </a:p>
        </p:txBody>
      </p:sp>
      <p:sp>
        <p:nvSpPr>
          <p:cNvPr id="9" name="Shape 7"/>
          <p:cNvSpPr/>
          <p:nvPr/>
        </p:nvSpPr>
        <p:spPr>
          <a:xfrm>
            <a:off x="548640" y="4087368"/>
            <a:ext cx="11064240" cy="0"/>
          </a:xfrm>
          <a:prstGeom prst="line">
            <a:avLst/>
          </a:prstGeom>
          <a:noFill/>
          <a:ln w="9525">
            <a:solidFill>
              <a:srgbClr val="E6E6E6"/>
            </a:solidFill>
            <a:prstDash val="solid"/>
          </a:ln>
        </p:spPr>
      </p:sp>
      <p:sp>
        <p:nvSpPr>
          <p:cNvPr id="10" name="Text 8"/>
          <p:cNvSpPr/>
          <p:nvPr/>
        </p:nvSpPr>
        <p:spPr>
          <a:xfrm>
            <a:off x="548640" y="4251960"/>
            <a:ext cx="1828800" cy="365760"/>
          </a:xfrm>
          <a:prstGeom prst="rect">
            <a:avLst/>
          </a:prstGeom>
          <a:noFill/>
          <a:ln/>
        </p:spPr>
        <p:txBody>
          <a:bodyPr wrap="square" lIns="0" tIns="0" rIns="0" bIns="0" rtlCol="0" anchor="ctr"/>
          <a:lstStyle/>
          <a:p>
            <a:pPr indent="0" marL="0">
              <a:buNone/>
            </a:pPr>
            <a:r>
              <a:rPr lang="en-US" sz="1100" b="1" spc="120" kern="0" dirty="0">
                <a:solidFill>
                  <a:srgbClr val="0C62FB"/>
                </a:solidFill>
                <a:latin typeface="Avenir Next LT Pro" pitchFamily="34" charset="0"/>
                <a:ea typeface="Avenir Next LT Pro" pitchFamily="34" charset="-122"/>
                <a:cs typeface="Avenir Next LT Pro" pitchFamily="34" charset="-120"/>
              </a:rPr>
              <a:t>THE ANSWER</a:t>
            </a:r>
            <a:endParaRPr lang="en-US" sz="1100" dirty="0"/>
          </a:p>
        </p:txBody>
      </p:sp>
      <p:sp>
        <p:nvSpPr>
          <p:cNvPr id="11" name="Text 9"/>
          <p:cNvSpPr/>
          <p:nvPr/>
        </p:nvSpPr>
        <p:spPr>
          <a:xfrm>
            <a:off x="2560320" y="4197096"/>
            <a:ext cx="9052560" cy="868680"/>
          </a:xfrm>
          <a:prstGeom prst="rect">
            <a:avLst/>
          </a:prstGeom>
          <a:noFill/>
          <a:ln/>
        </p:spPr>
        <p:txBody>
          <a:bodyPr wrap="square" lIns="0" tIns="0" rIns="0" bIns="0" rtlCol="0" anchor="t"/>
          <a:lstStyle/>
          <a:p>
            <a:pPr indent="0" marL="0">
              <a:lnSpc>
                <a:spcPct val="112000"/>
              </a:lnSpc>
              <a:buNone/>
            </a:pPr>
            <a:r>
              <a:rPr lang="en-US" sz="1400" dirty="0">
                <a:solidFill>
                  <a:srgbClr val="000000"/>
                </a:solidFill>
                <a:latin typeface="Avenir Next LT Pro" pitchFamily="34" charset="0"/>
                <a:ea typeface="Avenir Next LT Pro" pitchFamily="34" charset="-122"/>
                <a:cs typeface="Avenir Next LT Pro" pitchFamily="34" charset="-120"/>
              </a:rPr>
              <a:t>Value Realisation closes the gap by defining the outcomes, managing what must change and proving what the investment delivered.</a:t>
            </a:r>
            <a:endParaRPr lang="en-US" sz="1400" dirty="0"/>
          </a:p>
        </p:txBody>
      </p:sp>
      <p:sp>
        <p:nvSpPr>
          <p:cNvPr id="12" name="Shape 10"/>
          <p:cNvSpPr/>
          <p:nvPr/>
        </p:nvSpPr>
        <p:spPr>
          <a:xfrm>
            <a:off x="548640" y="5111496"/>
            <a:ext cx="11064240" cy="0"/>
          </a:xfrm>
          <a:prstGeom prst="line">
            <a:avLst/>
          </a:prstGeom>
          <a:noFill/>
          <a:ln w="9525">
            <a:solidFill>
              <a:srgbClr val="E6E6E6"/>
            </a:solidFill>
            <a:prstDash val="solid"/>
          </a:ln>
        </p:spPr>
      </p:sp>
      <p:sp>
        <p:nvSpPr>
          <p:cNvPr id="13" name="Text 11"/>
          <p:cNvSpPr/>
          <p:nvPr/>
        </p:nvSpPr>
        <p:spPr>
          <a:xfrm>
            <a:off x="548640" y="5276088"/>
            <a:ext cx="1828800" cy="365760"/>
          </a:xfrm>
          <a:prstGeom prst="rect">
            <a:avLst/>
          </a:prstGeom>
          <a:noFill/>
          <a:ln/>
        </p:spPr>
        <p:txBody>
          <a:bodyPr wrap="square" lIns="0" tIns="0" rIns="0" bIns="0" rtlCol="0" anchor="ctr"/>
          <a:lstStyle/>
          <a:p>
            <a:pPr indent="0" marL="0">
              <a:buNone/>
            </a:pPr>
            <a:r>
              <a:rPr lang="en-US" sz="1100" b="1" spc="120" kern="0" dirty="0">
                <a:solidFill>
                  <a:srgbClr val="0C62FB"/>
                </a:solidFill>
                <a:latin typeface="Avenir Next LT Pro" pitchFamily="34" charset="0"/>
                <a:ea typeface="Avenir Next LT Pro" pitchFamily="34" charset="-122"/>
                <a:cs typeface="Avenir Next LT Pro" pitchFamily="34" charset="-120"/>
              </a:rPr>
              <a:t>THE METHOD</a:t>
            </a:r>
            <a:endParaRPr lang="en-US" sz="1100" dirty="0"/>
          </a:p>
        </p:txBody>
      </p:sp>
      <p:sp>
        <p:nvSpPr>
          <p:cNvPr id="14" name="Text 12"/>
          <p:cNvSpPr/>
          <p:nvPr/>
        </p:nvSpPr>
        <p:spPr>
          <a:xfrm>
            <a:off x="2560320" y="5221224"/>
            <a:ext cx="9052560" cy="868680"/>
          </a:xfrm>
          <a:prstGeom prst="rect">
            <a:avLst/>
          </a:prstGeom>
          <a:noFill/>
          <a:ln/>
        </p:spPr>
        <p:txBody>
          <a:bodyPr wrap="square" lIns="0" tIns="0" rIns="0" bIns="0" rtlCol="0" anchor="t"/>
          <a:lstStyle/>
          <a:p>
            <a:pPr indent="0" marL="0">
              <a:lnSpc>
                <a:spcPct val="112000"/>
              </a:lnSpc>
              <a:buNone/>
            </a:pPr>
            <a:r>
              <a:rPr lang="en-US" sz="1400" b="1" dirty="0">
                <a:solidFill>
                  <a:srgbClr val="000000"/>
                </a:solidFill>
                <a:latin typeface="Avenir Next LT Pro" pitchFamily="34" charset="0"/>
                <a:ea typeface="Avenir Next LT Pro" pitchFamily="34" charset="-122"/>
                <a:cs typeface="Avenir Next LT Pro" pitchFamily="34" charset="-120"/>
              </a:rPr>
              <a:t>Define the outcome. Manage what must change. Prove the value.</a:t>
            </a:r>
            <a:endParaRPr lang="en-US" sz="1400" dirty="0"/>
          </a:p>
        </p:txBody>
      </p:sp>
      <p:sp>
        <p:nvSpPr>
          <p:cNvPr id="25" name="Slide Number Placeholder 0"/>
          <p:cNvSpPr>
            <a:spLocks noGrp="1"/>
          </p:cNvSpPr>
          <p:nvPr>
            <p:ph type="sldNum" sz="quarter" idx="4294967295"/>
          </p:nvPr>
        </p:nvSpPr>
        <p:spPr>
          <a:xfrm>
            <a:off x="11475720" y="6473952"/>
            <a:ext cx="365760" cy="274320"/>
          </a:xfrm>
          <a:prstGeom prst="rect">
            <a:avLst/>
          </a:prstGeom>
          <a:extLst>
            <a:ext uri="{C572A759-6A51-4108-AA02-DFA0A04FC94B}">
              <ma14:wrappingTextBoxFlag xmlns:ma14="http://schemas.microsoft.com/office/mac/drawingml/2011/main" val="0"/>
            </a:ext>
          </a:extLst>
        </p:spPr>
        <p:txBody>
          <a:bodyPr/>
          <a:lstStyle>
            <a:lvl1pPr>
              <a:defRPr sz="800">
                <a:solidFill>
                  <a:srgbClr val="666666"/>
                </a:solidFill>
                <a:latin typeface="Avenir Next LT Pro"/>
                <a:ea typeface="Avenir Next LT Pro"/>
                <a:cs typeface="Avenir Next LT Pro"/>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indent="0" marL="0">
              <a:buNone/>
            </a:pPr>
            <a:r>
              <a:rPr lang="en-US" sz="1200" b="1" spc="150" kern="0" dirty="0">
                <a:solidFill>
                  <a:srgbClr val="0C62FB"/>
                </a:solidFill>
                <a:latin typeface="Avenir Next LT Pro" pitchFamily="34" charset="0"/>
                <a:ea typeface="Avenir Next LT Pro" pitchFamily="34" charset="-122"/>
                <a:cs typeface="Avenir Next LT Pro" pitchFamily="34" charset="-120"/>
              </a:rPr>
              <a:t>WHAT VALUE MEANS</a:t>
            </a:r>
            <a:endParaRPr lang="en-US" sz="1200" dirty="0"/>
          </a:p>
        </p:txBody>
      </p:sp>
      <p:sp>
        <p:nvSpPr>
          <p:cNvPr id="3" name="Text 1"/>
          <p:cNvSpPr/>
          <p:nvPr/>
        </p:nvSpPr>
        <p:spPr>
          <a:xfrm>
            <a:off x="548640" y="713232"/>
            <a:ext cx="11064240" cy="640080"/>
          </a:xfrm>
          <a:prstGeom prst="rect">
            <a:avLst/>
          </a:prstGeom>
          <a:noFill/>
          <a:ln/>
        </p:spPr>
        <p:txBody>
          <a:bodyPr wrap="square" lIns="0" tIns="0" rIns="0" bIns="0" rtlCol="0" anchor="t"/>
          <a:lstStyle/>
          <a:p>
            <a:pPr indent="0" marL="0">
              <a:lnSpc>
                <a:spcPct val="105000"/>
              </a:lnSpc>
              <a:buNone/>
            </a:pPr>
            <a:r>
              <a:rPr lang="en-US" sz="2600" b="1" dirty="0">
                <a:solidFill>
                  <a:srgbClr val="000000"/>
                </a:solidFill>
                <a:latin typeface="Avenir Next LT Pro (Headings)" pitchFamily="34" charset="0"/>
                <a:ea typeface="Avenir Next LT Pro (Headings)" pitchFamily="34" charset="-122"/>
                <a:cs typeface="Avenir Next LT Pro (Headings)" pitchFamily="34" charset="-120"/>
              </a:rPr>
              <a:t>Value is measurable improvement in a business outcome.</a:t>
            </a:r>
            <a:endParaRPr lang="en-US" sz="2600" dirty="0"/>
          </a:p>
        </p:txBody>
      </p:sp>
      <p:sp>
        <p:nvSpPr>
          <p:cNvPr id="4" name="Text 2"/>
          <p:cNvSpPr/>
          <p:nvPr/>
        </p:nvSpPr>
        <p:spPr>
          <a:xfrm>
            <a:off x="548640" y="1554480"/>
            <a:ext cx="5760720" cy="1371600"/>
          </a:xfrm>
          <a:prstGeom prst="rect">
            <a:avLst/>
          </a:prstGeom>
          <a:noFill/>
          <a:ln/>
        </p:spPr>
        <p:txBody>
          <a:bodyPr wrap="square" lIns="0" tIns="0" rIns="0" bIns="0" rtlCol="0" anchor="t"/>
          <a:lstStyle/>
          <a:p>
            <a:pPr indent="0" marL="0">
              <a:lnSpc>
                <a:spcPct val="115000"/>
              </a:lnSpc>
              <a:buNone/>
            </a:pPr>
            <a:r>
              <a:rPr lang="en-US" sz="1300" dirty="0">
                <a:solidFill>
                  <a:srgbClr val="000000"/>
                </a:solidFill>
                <a:latin typeface="Avenir Next LT Pro" pitchFamily="34" charset="0"/>
                <a:ea typeface="Avenir Next LT Pro" pitchFamily="34" charset="-122"/>
                <a:cs typeface="Avenir Next LT Pro" pitchFamily="34" charset="-120"/>
              </a:rPr>
              <a:t>Every investment must start by defining what must materially improve, for whom, by how much, by when and who owns it. The baseline, the target and the value drivers are set before the money moves, so measurement is designed in from the start.</a:t>
            </a:r>
            <a:endParaRPr lang="en-US" sz="1300" dirty="0"/>
          </a:p>
        </p:txBody>
      </p:sp>
      <p:sp>
        <p:nvSpPr>
          <p:cNvPr id="5" name="Shape 3"/>
          <p:cNvSpPr/>
          <p:nvPr/>
        </p:nvSpPr>
        <p:spPr>
          <a:xfrm>
            <a:off x="566928" y="3136392"/>
            <a:ext cx="128016" cy="128016"/>
          </a:xfrm>
          <a:prstGeom prst="rect">
            <a:avLst/>
          </a:prstGeom>
          <a:solidFill>
            <a:srgbClr val="0C62FB"/>
          </a:solidFill>
          <a:ln/>
        </p:spPr>
      </p:sp>
      <p:sp>
        <p:nvSpPr>
          <p:cNvPr id="6" name="Text 4"/>
          <p:cNvSpPr/>
          <p:nvPr/>
        </p:nvSpPr>
        <p:spPr>
          <a:xfrm>
            <a:off x="868680" y="3017520"/>
            <a:ext cx="5394960" cy="365760"/>
          </a:xfrm>
          <a:prstGeom prst="rect">
            <a:avLst/>
          </a:prstGeom>
          <a:noFill/>
          <a:ln/>
        </p:spPr>
        <p:txBody>
          <a:bodyPr wrap="square" lIns="0" tIns="0" rIns="0" bIns="0" rtlCol="0" anchor="ctr"/>
          <a:lstStyle/>
          <a:p>
            <a:pPr indent="0" marL="0">
              <a:buNone/>
            </a:pPr>
            <a:r>
              <a:rPr lang="en-US" sz="1350" b="1" dirty="0">
                <a:solidFill>
                  <a:srgbClr val="000000"/>
                </a:solidFill>
                <a:latin typeface="Avenir Next LT Pro" pitchFamily="34" charset="0"/>
                <a:ea typeface="Avenir Next LT Pro" pitchFamily="34" charset="-122"/>
                <a:cs typeface="Avenir Next LT Pro" pitchFamily="34" charset="-120"/>
              </a:rPr>
              <a:t>What must improve?</a:t>
            </a:r>
            <a:endParaRPr lang="en-US" sz="1350" dirty="0"/>
          </a:p>
        </p:txBody>
      </p:sp>
      <p:sp>
        <p:nvSpPr>
          <p:cNvPr id="7" name="Shape 5"/>
          <p:cNvSpPr/>
          <p:nvPr/>
        </p:nvSpPr>
        <p:spPr>
          <a:xfrm>
            <a:off x="566928" y="3611880"/>
            <a:ext cx="128016" cy="128016"/>
          </a:xfrm>
          <a:prstGeom prst="rect">
            <a:avLst/>
          </a:prstGeom>
          <a:solidFill>
            <a:srgbClr val="0C62FB"/>
          </a:solidFill>
          <a:ln/>
        </p:spPr>
      </p:sp>
      <p:sp>
        <p:nvSpPr>
          <p:cNvPr id="8" name="Text 6"/>
          <p:cNvSpPr/>
          <p:nvPr/>
        </p:nvSpPr>
        <p:spPr>
          <a:xfrm>
            <a:off x="868680" y="3493008"/>
            <a:ext cx="5394960" cy="365760"/>
          </a:xfrm>
          <a:prstGeom prst="rect">
            <a:avLst/>
          </a:prstGeom>
          <a:noFill/>
          <a:ln/>
        </p:spPr>
        <p:txBody>
          <a:bodyPr wrap="square" lIns="0" tIns="0" rIns="0" bIns="0" rtlCol="0" anchor="ctr"/>
          <a:lstStyle/>
          <a:p>
            <a:pPr indent="0" marL="0">
              <a:buNone/>
            </a:pPr>
            <a:r>
              <a:rPr lang="en-US" sz="1350" b="1" dirty="0">
                <a:solidFill>
                  <a:srgbClr val="000000"/>
                </a:solidFill>
                <a:latin typeface="Avenir Next LT Pro" pitchFamily="34" charset="0"/>
                <a:ea typeface="Avenir Next LT Pro" pitchFamily="34" charset="-122"/>
                <a:cs typeface="Avenir Next LT Pro" pitchFamily="34" charset="-120"/>
              </a:rPr>
              <a:t>For whom?</a:t>
            </a:r>
            <a:endParaRPr lang="en-US" sz="1350" dirty="0"/>
          </a:p>
        </p:txBody>
      </p:sp>
      <p:sp>
        <p:nvSpPr>
          <p:cNvPr id="9" name="Shape 7"/>
          <p:cNvSpPr/>
          <p:nvPr/>
        </p:nvSpPr>
        <p:spPr>
          <a:xfrm>
            <a:off x="566928" y="4087368"/>
            <a:ext cx="128016" cy="128016"/>
          </a:xfrm>
          <a:prstGeom prst="rect">
            <a:avLst/>
          </a:prstGeom>
          <a:solidFill>
            <a:srgbClr val="0C62FB"/>
          </a:solidFill>
          <a:ln/>
        </p:spPr>
      </p:sp>
      <p:sp>
        <p:nvSpPr>
          <p:cNvPr id="10" name="Text 8"/>
          <p:cNvSpPr/>
          <p:nvPr/>
        </p:nvSpPr>
        <p:spPr>
          <a:xfrm>
            <a:off x="868680" y="3968496"/>
            <a:ext cx="5394960" cy="365760"/>
          </a:xfrm>
          <a:prstGeom prst="rect">
            <a:avLst/>
          </a:prstGeom>
          <a:noFill/>
          <a:ln/>
        </p:spPr>
        <p:txBody>
          <a:bodyPr wrap="square" lIns="0" tIns="0" rIns="0" bIns="0" rtlCol="0" anchor="ctr"/>
          <a:lstStyle/>
          <a:p>
            <a:pPr indent="0" marL="0">
              <a:buNone/>
            </a:pPr>
            <a:r>
              <a:rPr lang="en-US" sz="1350" b="1" dirty="0">
                <a:solidFill>
                  <a:srgbClr val="000000"/>
                </a:solidFill>
                <a:latin typeface="Avenir Next LT Pro" pitchFamily="34" charset="0"/>
                <a:ea typeface="Avenir Next LT Pro" pitchFamily="34" charset="-122"/>
                <a:cs typeface="Avenir Next LT Pro" pitchFamily="34" charset="-120"/>
              </a:rPr>
              <a:t>By how much, from what baseline?</a:t>
            </a:r>
            <a:endParaRPr lang="en-US" sz="1350" dirty="0"/>
          </a:p>
        </p:txBody>
      </p:sp>
      <p:sp>
        <p:nvSpPr>
          <p:cNvPr id="11" name="Shape 9"/>
          <p:cNvSpPr/>
          <p:nvPr/>
        </p:nvSpPr>
        <p:spPr>
          <a:xfrm>
            <a:off x="566928" y="4562856"/>
            <a:ext cx="128016" cy="128016"/>
          </a:xfrm>
          <a:prstGeom prst="rect">
            <a:avLst/>
          </a:prstGeom>
          <a:solidFill>
            <a:srgbClr val="0C62FB"/>
          </a:solidFill>
          <a:ln/>
        </p:spPr>
      </p:sp>
      <p:sp>
        <p:nvSpPr>
          <p:cNvPr id="12" name="Text 10"/>
          <p:cNvSpPr/>
          <p:nvPr/>
        </p:nvSpPr>
        <p:spPr>
          <a:xfrm>
            <a:off x="868680" y="4443984"/>
            <a:ext cx="5394960" cy="365760"/>
          </a:xfrm>
          <a:prstGeom prst="rect">
            <a:avLst/>
          </a:prstGeom>
          <a:noFill/>
          <a:ln/>
        </p:spPr>
        <p:txBody>
          <a:bodyPr wrap="square" lIns="0" tIns="0" rIns="0" bIns="0" rtlCol="0" anchor="ctr"/>
          <a:lstStyle/>
          <a:p>
            <a:pPr indent="0" marL="0">
              <a:buNone/>
            </a:pPr>
            <a:r>
              <a:rPr lang="en-US" sz="1350" b="1" dirty="0">
                <a:solidFill>
                  <a:srgbClr val="000000"/>
                </a:solidFill>
                <a:latin typeface="Avenir Next LT Pro" pitchFamily="34" charset="0"/>
                <a:ea typeface="Avenir Next LT Pro" pitchFamily="34" charset="-122"/>
                <a:cs typeface="Avenir Next LT Pro" pitchFamily="34" charset="-120"/>
              </a:rPr>
              <a:t>By when?</a:t>
            </a:r>
            <a:endParaRPr lang="en-US" sz="1350" dirty="0"/>
          </a:p>
        </p:txBody>
      </p:sp>
      <p:sp>
        <p:nvSpPr>
          <p:cNvPr id="13" name="Shape 11"/>
          <p:cNvSpPr/>
          <p:nvPr/>
        </p:nvSpPr>
        <p:spPr>
          <a:xfrm>
            <a:off x="566928" y="5038344"/>
            <a:ext cx="128016" cy="128016"/>
          </a:xfrm>
          <a:prstGeom prst="rect">
            <a:avLst/>
          </a:prstGeom>
          <a:solidFill>
            <a:srgbClr val="0C62FB"/>
          </a:solidFill>
          <a:ln/>
        </p:spPr>
      </p:sp>
      <p:sp>
        <p:nvSpPr>
          <p:cNvPr id="14" name="Text 12"/>
          <p:cNvSpPr/>
          <p:nvPr/>
        </p:nvSpPr>
        <p:spPr>
          <a:xfrm>
            <a:off x="868680" y="4919472"/>
            <a:ext cx="5394960" cy="365760"/>
          </a:xfrm>
          <a:prstGeom prst="rect">
            <a:avLst/>
          </a:prstGeom>
          <a:noFill/>
          <a:ln/>
        </p:spPr>
        <p:txBody>
          <a:bodyPr wrap="square" lIns="0" tIns="0" rIns="0" bIns="0" rtlCol="0" anchor="ctr"/>
          <a:lstStyle/>
          <a:p>
            <a:pPr indent="0" marL="0">
              <a:buNone/>
            </a:pPr>
            <a:r>
              <a:rPr lang="en-US" sz="1350" b="1" dirty="0">
                <a:solidFill>
                  <a:srgbClr val="000000"/>
                </a:solidFill>
                <a:latin typeface="Avenir Next LT Pro" pitchFamily="34" charset="0"/>
                <a:ea typeface="Avenir Next LT Pro" pitchFamily="34" charset="-122"/>
                <a:cs typeface="Avenir Next LT Pro" pitchFamily="34" charset="-120"/>
              </a:rPr>
              <a:t>Who owns it in the business?</a:t>
            </a:r>
            <a:endParaRPr lang="en-US" sz="1350" dirty="0"/>
          </a:p>
        </p:txBody>
      </p:sp>
      <p:sp>
        <p:nvSpPr>
          <p:cNvPr id="15" name="Text 13"/>
          <p:cNvSpPr/>
          <p:nvPr/>
        </p:nvSpPr>
        <p:spPr>
          <a:xfrm>
            <a:off x="548640" y="5623560"/>
            <a:ext cx="5760720" cy="411480"/>
          </a:xfrm>
          <a:prstGeom prst="rect">
            <a:avLst/>
          </a:prstGeom>
          <a:noFill/>
          <a:ln/>
        </p:spPr>
        <p:txBody>
          <a:bodyPr wrap="square" lIns="0" tIns="0" rIns="0" bIns="0" rtlCol="0" anchor="ctr"/>
          <a:lstStyle/>
          <a:p>
            <a:pPr indent="0" marL="0">
              <a:buNone/>
            </a:pPr>
            <a:r>
              <a:rPr lang="en-US" sz="1150" i="1" dirty="0">
                <a:solidFill>
                  <a:srgbClr val="666666"/>
                </a:solidFill>
                <a:latin typeface="Avenir Next LT Pro" pitchFamily="34" charset="0"/>
                <a:ea typeface="Avenir Next LT Pro" pitchFamily="34" charset="-122"/>
                <a:cs typeface="Avenir Next LT Pro" pitchFamily="34" charset="-120"/>
              </a:rPr>
              <a:t>ROI is one expression of the improvement; the outcome always comes first.</a:t>
            </a:r>
            <a:endParaRPr lang="en-US" sz="1150" dirty="0"/>
          </a:p>
        </p:txBody>
      </p:sp>
      <p:sp>
        <p:nvSpPr>
          <p:cNvPr id="16" name="Shape 14"/>
          <p:cNvSpPr/>
          <p:nvPr/>
        </p:nvSpPr>
        <p:spPr>
          <a:xfrm>
            <a:off x="6675120" y="1554480"/>
            <a:ext cx="4937760" cy="4297680"/>
          </a:xfrm>
          <a:prstGeom prst="roundRect">
            <a:avLst>
              <a:gd name="adj" fmla="val 1277"/>
            </a:avLst>
          </a:prstGeom>
          <a:solidFill>
            <a:srgbClr val="E6E6E6"/>
          </a:solidFill>
          <a:ln/>
        </p:spPr>
      </p:sp>
      <p:sp>
        <p:nvSpPr>
          <p:cNvPr id="17" name="Text 15"/>
          <p:cNvSpPr/>
          <p:nvPr/>
        </p:nvSpPr>
        <p:spPr>
          <a:xfrm>
            <a:off x="6995160" y="1810512"/>
            <a:ext cx="4389120" cy="274320"/>
          </a:xfrm>
          <a:prstGeom prst="rect">
            <a:avLst/>
          </a:prstGeom>
          <a:noFill/>
          <a:ln/>
        </p:spPr>
        <p:txBody>
          <a:bodyPr wrap="square" lIns="0" tIns="0" rIns="0" bIns="0" rtlCol="0" anchor="ctr"/>
          <a:lstStyle/>
          <a:p>
            <a:pPr indent="0" marL="0">
              <a:buNone/>
            </a:pPr>
            <a:r>
              <a:rPr lang="en-US" sz="1100" b="1" spc="120" kern="0" dirty="0">
                <a:solidFill>
                  <a:srgbClr val="0C62FB"/>
                </a:solidFill>
                <a:latin typeface="Avenir Next LT Pro" pitchFamily="34" charset="0"/>
                <a:ea typeface="Avenir Next LT Pro" pitchFamily="34" charset="-122"/>
                <a:cs typeface="Avenir Next LT Pro" pitchFamily="34" charset="-120"/>
              </a:rPr>
              <a:t>ONE EXAMPLE, END TO END</a:t>
            </a:r>
            <a:endParaRPr lang="en-US" sz="1100" dirty="0"/>
          </a:p>
        </p:txBody>
      </p:sp>
      <p:sp>
        <p:nvSpPr>
          <p:cNvPr id="18" name="Text 16"/>
          <p:cNvSpPr/>
          <p:nvPr/>
        </p:nvSpPr>
        <p:spPr>
          <a:xfrm>
            <a:off x="6995160" y="2212848"/>
            <a:ext cx="4343400" cy="658368"/>
          </a:xfrm>
          <a:prstGeom prst="rect">
            <a:avLst/>
          </a:prstGeom>
          <a:noFill/>
          <a:ln/>
        </p:spPr>
        <p:txBody>
          <a:bodyPr wrap="square" lIns="0" tIns="0" rIns="0" bIns="0" rtlCol="0" anchor="t"/>
          <a:lstStyle/>
          <a:p>
            <a:pPr indent="0" marL="0">
              <a:lnSpc>
                <a:spcPct val="108000"/>
              </a:lnSpc>
              <a:buNone/>
            </a:pPr>
            <a:r>
              <a:rPr lang="en-US" sz="1200" b="1" dirty="0">
                <a:solidFill>
                  <a:srgbClr val="000000"/>
                </a:solidFill>
                <a:latin typeface="Avenir Next LT Pro" pitchFamily="34" charset="0"/>
                <a:ea typeface="Avenir Next LT Pro" pitchFamily="34" charset="-122"/>
                <a:cs typeface="Avenir Next LT Pro" pitchFamily="34" charset="-120"/>
              </a:rPr>
              <a:t>Outcome.  </a:t>
            </a:r>
            <a:pPr indent="0" marL="0">
              <a:lnSpc>
                <a:spcPct val="108000"/>
              </a:lnSpc>
              <a:buNone/>
            </a:pPr>
            <a:r>
              <a:rPr lang="en-US" sz="1200" dirty="0">
                <a:solidFill>
                  <a:srgbClr val="000000"/>
                </a:solidFill>
                <a:latin typeface="Avenir Next LT Pro" pitchFamily="34" charset="0"/>
                <a:ea typeface="Avenir Next LT Pro" pitchFamily="34" charset="-122"/>
                <a:cs typeface="Avenir Next LT Pro" pitchFamily="34" charset="-120"/>
              </a:rPr>
              <a:t>The cost of handling an insurance claim falls.</a:t>
            </a:r>
            <a:endParaRPr lang="en-US" sz="1200" dirty="0"/>
          </a:p>
        </p:txBody>
      </p:sp>
      <p:sp>
        <p:nvSpPr>
          <p:cNvPr id="19" name="Text 17"/>
          <p:cNvSpPr/>
          <p:nvPr/>
        </p:nvSpPr>
        <p:spPr>
          <a:xfrm>
            <a:off x="6995160" y="2907792"/>
            <a:ext cx="4343400" cy="658368"/>
          </a:xfrm>
          <a:prstGeom prst="rect">
            <a:avLst/>
          </a:prstGeom>
          <a:noFill/>
          <a:ln/>
        </p:spPr>
        <p:txBody>
          <a:bodyPr wrap="square" lIns="0" tIns="0" rIns="0" bIns="0" rtlCol="0" anchor="t"/>
          <a:lstStyle/>
          <a:p>
            <a:pPr indent="0" marL="0">
              <a:lnSpc>
                <a:spcPct val="108000"/>
              </a:lnSpc>
              <a:buNone/>
            </a:pPr>
            <a:r>
              <a:rPr lang="en-US" sz="1200" b="1" dirty="0">
                <a:solidFill>
                  <a:srgbClr val="000000"/>
                </a:solidFill>
                <a:latin typeface="Avenir Next LT Pro" pitchFamily="34" charset="0"/>
                <a:ea typeface="Avenir Next LT Pro" pitchFamily="34" charset="-122"/>
                <a:cs typeface="Avenir Next LT Pro" pitchFamily="34" charset="-120"/>
              </a:rPr>
              <a:t>Baseline.  </a:t>
            </a:r>
            <a:pPr indent="0" marL="0">
              <a:lnSpc>
                <a:spcPct val="108000"/>
              </a:lnSpc>
              <a:buNone/>
            </a:pPr>
            <a:r>
              <a:rPr lang="en-US" sz="1200" dirty="0">
                <a:solidFill>
                  <a:srgbClr val="000000"/>
                </a:solidFill>
                <a:latin typeface="Avenir Next LT Pro" pitchFamily="34" charset="0"/>
                <a:ea typeface="Avenir Next LT Pro" pitchFamily="34" charset="-122"/>
                <a:cs typeface="Avenir Next LT Pro" pitchFamily="34" charset="-120"/>
              </a:rPr>
              <a:t>$82 per claim, measured and agreed with finance in June.</a:t>
            </a:r>
            <a:endParaRPr lang="en-US" sz="1200" dirty="0"/>
          </a:p>
        </p:txBody>
      </p:sp>
      <p:sp>
        <p:nvSpPr>
          <p:cNvPr id="20" name="Text 18"/>
          <p:cNvSpPr/>
          <p:nvPr/>
        </p:nvSpPr>
        <p:spPr>
          <a:xfrm>
            <a:off x="6995160" y="3602736"/>
            <a:ext cx="4343400" cy="658368"/>
          </a:xfrm>
          <a:prstGeom prst="rect">
            <a:avLst/>
          </a:prstGeom>
          <a:noFill/>
          <a:ln/>
        </p:spPr>
        <p:txBody>
          <a:bodyPr wrap="square" lIns="0" tIns="0" rIns="0" bIns="0" rtlCol="0" anchor="t"/>
          <a:lstStyle/>
          <a:p>
            <a:pPr indent="0" marL="0">
              <a:lnSpc>
                <a:spcPct val="108000"/>
              </a:lnSpc>
              <a:buNone/>
            </a:pPr>
            <a:r>
              <a:rPr lang="en-US" sz="1200" b="1" dirty="0">
                <a:solidFill>
                  <a:srgbClr val="000000"/>
                </a:solidFill>
                <a:latin typeface="Avenir Next LT Pro" pitchFamily="34" charset="0"/>
                <a:ea typeface="Avenir Next LT Pro" pitchFamily="34" charset="-122"/>
                <a:cs typeface="Avenir Next LT Pro" pitchFamily="34" charset="-120"/>
              </a:rPr>
              <a:t>Target.  </a:t>
            </a:r>
            <a:pPr indent="0" marL="0">
              <a:lnSpc>
                <a:spcPct val="108000"/>
              </a:lnSpc>
              <a:buNone/>
            </a:pPr>
            <a:r>
              <a:rPr lang="en-US" sz="1200" dirty="0">
                <a:solidFill>
                  <a:srgbClr val="000000"/>
                </a:solidFill>
                <a:latin typeface="Avenir Next LT Pro" pitchFamily="34" charset="0"/>
                <a:ea typeface="Avenir Next LT Pro" pitchFamily="34" charset="-122"/>
                <a:cs typeface="Avenir Next LT Pro" pitchFamily="34" charset="-120"/>
              </a:rPr>
              <a:t>$61 per claim by December, owned as a number.</a:t>
            </a:r>
            <a:endParaRPr lang="en-US" sz="1200" dirty="0"/>
          </a:p>
        </p:txBody>
      </p:sp>
      <p:sp>
        <p:nvSpPr>
          <p:cNvPr id="21" name="Text 19"/>
          <p:cNvSpPr/>
          <p:nvPr/>
        </p:nvSpPr>
        <p:spPr>
          <a:xfrm>
            <a:off x="6995160" y="4297680"/>
            <a:ext cx="4343400" cy="658368"/>
          </a:xfrm>
          <a:prstGeom prst="rect">
            <a:avLst/>
          </a:prstGeom>
          <a:noFill/>
          <a:ln/>
        </p:spPr>
        <p:txBody>
          <a:bodyPr wrap="square" lIns="0" tIns="0" rIns="0" bIns="0" rtlCol="0" anchor="t"/>
          <a:lstStyle/>
          <a:p>
            <a:pPr indent="0" marL="0">
              <a:lnSpc>
                <a:spcPct val="108000"/>
              </a:lnSpc>
              <a:buNone/>
            </a:pPr>
            <a:r>
              <a:rPr lang="en-US" sz="1200" b="1" dirty="0">
                <a:solidFill>
                  <a:srgbClr val="000000"/>
                </a:solidFill>
                <a:latin typeface="Avenir Next LT Pro" pitchFamily="34" charset="0"/>
                <a:ea typeface="Avenir Next LT Pro" pitchFamily="34" charset="-122"/>
                <a:cs typeface="Avenir Next LT Pro" pitchFamily="34" charset="-120"/>
              </a:rPr>
              <a:t>Owner.  </a:t>
            </a:r>
            <a:pPr indent="0" marL="0">
              <a:lnSpc>
                <a:spcPct val="108000"/>
              </a:lnSpc>
              <a:buNone/>
            </a:pPr>
            <a:r>
              <a:rPr lang="en-US" sz="1200" dirty="0">
                <a:solidFill>
                  <a:srgbClr val="000000"/>
                </a:solidFill>
                <a:latin typeface="Avenir Next LT Pro" pitchFamily="34" charset="0"/>
                <a:ea typeface="Avenir Next LT Pro" pitchFamily="34" charset="-122"/>
                <a:cs typeface="Avenir Next LT Pro" pitchFamily="34" charset="-120"/>
              </a:rPr>
              <a:t>The head of claims operations, and never the project team.</a:t>
            </a:r>
            <a:endParaRPr lang="en-US" sz="1200" dirty="0"/>
          </a:p>
        </p:txBody>
      </p:sp>
      <p:sp>
        <p:nvSpPr>
          <p:cNvPr id="22" name="Text 20"/>
          <p:cNvSpPr/>
          <p:nvPr/>
        </p:nvSpPr>
        <p:spPr>
          <a:xfrm>
            <a:off x="6995160" y="4992624"/>
            <a:ext cx="4343400" cy="658368"/>
          </a:xfrm>
          <a:prstGeom prst="rect">
            <a:avLst/>
          </a:prstGeom>
          <a:noFill/>
          <a:ln/>
        </p:spPr>
        <p:txBody>
          <a:bodyPr wrap="square" lIns="0" tIns="0" rIns="0" bIns="0" rtlCol="0" anchor="t"/>
          <a:lstStyle/>
          <a:p>
            <a:pPr indent="0" marL="0">
              <a:lnSpc>
                <a:spcPct val="108000"/>
              </a:lnSpc>
              <a:buNone/>
            </a:pPr>
            <a:r>
              <a:rPr lang="en-US" sz="1200" b="1" dirty="0">
                <a:solidFill>
                  <a:srgbClr val="000000"/>
                </a:solidFill>
                <a:latin typeface="Avenir Next LT Pro" pitchFamily="34" charset="0"/>
                <a:ea typeface="Avenir Next LT Pro" pitchFamily="34" charset="-122"/>
                <a:cs typeface="Avenir Next LT Pro" pitchFamily="34" charset="-120"/>
              </a:rPr>
              <a:t>Proof.  </a:t>
            </a:r>
            <a:pPr indent="0" marL="0">
              <a:lnSpc>
                <a:spcPct val="108000"/>
              </a:lnSpc>
              <a:buNone/>
            </a:pPr>
            <a:r>
              <a:rPr lang="en-US" sz="1200" dirty="0">
                <a:solidFill>
                  <a:srgbClr val="000000"/>
                </a:solidFill>
                <a:latin typeface="Avenir Next LT Pro" pitchFamily="34" charset="0"/>
                <a:ea typeface="Avenir Next LT Pro" pitchFamily="34" charset="-122"/>
                <a:cs typeface="Avenir Next LT Pro" pitchFamily="34" charset="-120"/>
              </a:rPr>
              <a:t>Finance verifies the movement against the baseline every month.</a:t>
            </a:r>
            <a:endParaRPr lang="en-US" sz="1200" dirty="0"/>
          </a:p>
        </p:txBody>
      </p:sp>
      <p:sp>
        <p:nvSpPr>
          <p:cNvPr id="25" name="Slide Number Placeholder 0"/>
          <p:cNvSpPr>
            <a:spLocks noGrp="1"/>
          </p:cNvSpPr>
          <p:nvPr>
            <p:ph type="sldNum" sz="quarter" idx="4294967295"/>
          </p:nvPr>
        </p:nvSpPr>
        <p:spPr>
          <a:xfrm>
            <a:off x="11475720" y="6473952"/>
            <a:ext cx="365760" cy="274320"/>
          </a:xfrm>
          <a:prstGeom prst="rect">
            <a:avLst/>
          </a:prstGeom>
          <a:extLst>
            <a:ext uri="{C572A759-6A51-4108-AA02-DFA0A04FC94B}">
              <ma14:wrappingTextBoxFlag xmlns:ma14="http://schemas.microsoft.com/office/mac/drawingml/2011/main" val="0"/>
            </a:ext>
          </a:extLst>
        </p:spPr>
        <p:txBody>
          <a:bodyPr/>
          <a:lstStyle>
            <a:lvl1pPr>
              <a:defRPr sz="800">
                <a:solidFill>
                  <a:srgbClr val="666666"/>
                </a:solidFill>
                <a:latin typeface="Avenir Next LT Pro"/>
                <a:ea typeface="Avenir Next LT Pro"/>
                <a:cs typeface="Avenir Next LT Pro"/>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indent="0" marL="0">
              <a:buNone/>
            </a:pPr>
            <a:r>
              <a:rPr lang="en-US" sz="1200" b="1" spc="150" kern="0" dirty="0">
                <a:solidFill>
                  <a:srgbClr val="0C62FB"/>
                </a:solidFill>
                <a:latin typeface="Avenir Next LT Pro" pitchFamily="34" charset="0"/>
                <a:ea typeface="Avenir Next LT Pro" pitchFamily="34" charset="-122"/>
                <a:cs typeface="Avenir Next LT Pro" pitchFamily="34" charset="-120"/>
              </a:rPr>
              <a:t>WHERE CLIENTS FALL SHORT</a:t>
            </a:r>
            <a:endParaRPr lang="en-US" sz="1200" dirty="0"/>
          </a:p>
        </p:txBody>
      </p:sp>
      <p:sp>
        <p:nvSpPr>
          <p:cNvPr id="3" name="Text 1"/>
          <p:cNvSpPr/>
          <p:nvPr/>
        </p:nvSpPr>
        <p:spPr>
          <a:xfrm>
            <a:off x="548640" y="713232"/>
            <a:ext cx="11064240" cy="640080"/>
          </a:xfrm>
          <a:prstGeom prst="rect">
            <a:avLst/>
          </a:prstGeom>
          <a:noFill/>
          <a:ln/>
        </p:spPr>
        <p:txBody>
          <a:bodyPr wrap="square" lIns="0" tIns="0" rIns="0" bIns="0" rtlCol="0" anchor="t"/>
          <a:lstStyle/>
          <a:p>
            <a:pPr indent="0" marL="0">
              <a:lnSpc>
                <a:spcPct val="105000"/>
              </a:lnSpc>
              <a:buNone/>
            </a:pPr>
            <a:r>
              <a:rPr lang="en-US" sz="2600" b="1" dirty="0">
                <a:solidFill>
                  <a:srgbClr val="000000"/>
                </a:solidFill>
                <a:latin typeface="Avenir Next LT Pro (Headings)" pitchFamily="34" charset="0"/>
                <a:ea typeface="Avenir Next LT Pro (Headings)" pitchFamily="34" charset="-122"/>
                <a:cs typeface="Avenir Next LT Pro (Headings)" pitchFamily="34" charset="-120"/>
              </a:rPr>
              <a:t>Funding, delivery and value run as three disconnected conversations.</a:t>
            </a:r>
            <a:endParaRPr lang="en-US" sz="2600" dirty="0"/>
          </a:p>
        </p:txBody>
      </p:sp>
      <p:sp>
        <p:nvSpPr>
          <p:cNvPr id="4" name="Shape 2"/>
          <p:cNvSpPr/>
          <p:nvPr/>
        </p:nvSpPr>
        <p:spPr>
          <a:xfrm>
            <a:off x="548640" y="1828800"/>
            <a:ext cx="3474720" cy="1417320"/>
          </a:xfrm>
          <a:prstGeom prst="roundRect">
            <a:avLst>
              <a:gd name="adj" fmla="val 3226"/>
            </a:avLst>
          </a:prstGeom>
          <a:solidFill>
            <a:srgbClr val="E6E6E6"/>
          </a:solidFill>
          <a:ln/>
        </p:spPr>
      </p:sp>
      <p:sp>
        <p:nvSpPr>
          <p:cNvPr id="5" name="Text 3"/>
          <p:cNvSpPr/>
          <p:nvPr/>
        </p:nvSpPr>
        <p:spPr>
          <a:xfrm>
            <a:off x="777240" y="2011680"/>
            <a:ext cx="3017520" cy="274320"/>
          </a:xfrm>
          <a:prstGeom prst="rect">
            <a:avLst/>
          </a:prstGeom>
          <a:noFill/>
          <a:ln/>
        </p:spPr>
        <p:txBody>
          <a:bodyPr wrap="square" lIns="0" tIns="0" rIns="0" bIns="0" rtlCol="0" anchor="ctr"/>
          <a:lstStyle/>
          <a:p>
            <a:pPr indent="0" marL="0">
              <a:buNone/>
            </a:pPr>
            <a:r>
              <a:rPr lang="en-US" sz="1050" b="1" spc="120" kern="0" dirty="0">
                <a:solidFill>
                  <a:srgbClr val="666666"/>
                </a:solidFill>
                <a:latin typeface="Avenir Next LT Pro" pitchFamily="34" charset="0"/>
                <a:ea typeface="Avenir Next LT Pro" pitchFamily="34" charset="-122"/>
                <a:cs typeface="Avenir Next LT Pro" pitchFamily="34" charset="-120"/>
              </a:rPr>
              <a:t>FUNDING</a:t>
            </a:r>
            <a:endParaRPr lang="en-US" sz="1050" dirty="0"/>
          </a:p>
        </p:txBody>
      </p:sp>
      <p:sp>
        <p:nvSpPr>
          <p:cNvPr id="6" name="Text 4"/>
          <p:cNvSpPr/>
          <p:nvPr/>
        </p:nvSpPr>
        <p:spPr>
          <a:xfrm>
            <a:off x="777240" y="2331720"/>
            <a:ext cx="3017520" cy="822960"/>
          </a:xfrm>
          <a:prstGeom prst="rect">
            <a:avLst/>
          </a:prstGeom>
          <a:noFill/>
          <a:ln/>
        </p:spPr>
        <p:txBody>
          <a:bodyPr wrap="square" lIns="0" tIns="0" rIns="0" bIns="0" rtlCol="0" anchor="t"/>
          <a:lstStyle/>
          <a:p>
            <a:pPr indent="0" marL="0">
              <a:lnSpc>
                <a:spcPct val="110000"/>
              </a:lnSpc>
              <a:buNone/>
            </a:pPr>
            <a:r>
              <a:rPr lang="en-US" sz="1300" b="1" dirty="0">
                <a:solidFill>
                  <a:srgbClr val="000000"/>
                </a:solidFill>
                <a:latin typeface="Avenir Next LT Pro" pitchFamily="34" charset="0"/>
                <a:ea typeface="Avenir Next LT Pro" pitchFamily="34" charset="-122"/>
                <a:cs typeface="Avenir Next LT Pro" pitchFamily="34" charset="-120"/>
              </a:rPr>
              <a:t>The business case secures the funding, then goes in a drawer.</a:t>
            </a:r>
            <a:endParaRPr lang="en-US" sz="1300" dirty="0"/>
          </a:p>
        </p:txBody>
      </p:sp>
      <p:sp>
        <p:nvSpPr>
          <p:cNvPr id="7" name="Text 5"/>
          <p:cNvSpPr/>
          <p:nvPr/>
        </p:nvSpPr>
        <p:spPr>
          <a:xfrm>
            <a:off x="4041648" y="2331720"/>
            <a:ext cx="384048" cy="411480"/>
          </a:xfrm>
          <a:prstGeom prst="rect">
            <a:avLst/>
          </a:prstGeom>
          <a:noFill/>
          <a:ln/>
        </p:spPr>
        <p:txBody>
          <a:bodyPr wrap="square" lIns="0" tIns="0" rIns="0" bIns="0" rtlCol="0" anchor="ctr"/>
          <a:lstStyle/>
          <a:p>
            <a:pPr algn="ctr" indent="0" marL="0">
              <a:buNone/>
            </a:pPr>
            <a:r>
              <a:rPr lang="en-US" sz="2000" dirty="0">
                <a:solidFill>
                  <a:srgbClr val="666666"/>
                </a:solidFill>
                <a:latin typeface="Avenir Next LT Pro" pitchFamily="34" charset="0"/>
                <a:ea typeface="Avenir Next LT Pro" pitchFamily="34" charset="-122"/>
                <a:cs typeface="Avenir Next LT Pro" pitchFamily="34" charset="-120"/>
              </a:rPr>
              <a:t>→</a:t>
            </a:r>
            <a:endParaRPr lang="en-US" sz="2000" dirty="0"/>
          </a:p>
        </p:txBody>
      </p:sp>
      <p:sp>
        <p:nvSpPr>
          <p:cNvPr id="8" name="Shape 6"/>
          <p:cNvSpPr/>
          <p:nvPr/>
        </p:nvSpPr>
        <p:spPr>
          <a:xfrm>
            <a:off x="4434840" y="1828800"/>
            <a:ext cx="3474720" cy="1417320"/>
          </a:xfrm>
          <a:prstGeom prst="roundRect">
            <a:avLst>
              <a:gd name="adj" fmla="val 3226"/>
            </a:avLst>
          </a:prstGeom>
          <a:solidFill>
            <a:srgbClr val="E6E6E6"/>
          </a:solidFill>
          <a:ln/>
        </p:spPr>
      </p:sp>
      <p:sp>
        <p:nvSpPr>
          <p:cNvPr id="9" name="Text 7"/>
          <p:cNvSpPr/>
          <p:nvPr/>
        </p:nvSpPr>
        <p:spPr>
          <a:xfrm>
            <a:off x="4663440" y="2011680"/>
            <a:ext cx="3017520" cy="274320"/>
          </a:xfrm>
          <a:prstGeom prst="rect">
            <a:avLst/>
          </a:prstGeom>
          <a:noFill/>
          <a:ln/>
        </p:spPr>
        <p:txBody>
          <a:bodyPr wrap="square" lIns="0" tIns="0" rIns="0" bIns="0" rtlCol="0" anchor="ctr"/>
          <a:lstStyle/>
          <a:p>
            <a:pPr indent="0" marL="0">
              <a:buNone/>
            </a:pPr>
            <a:r>
              <a:rPr lang="en-US" sz="1050" b="1" spc="120" kern="0" dirty="0">
                <a:solidFill>
                  <a:srgbClr val="666666"/>
                </a:solidFill>
                <a:latin typeface="Avenir Next LT Pro" pitchFamily="34" charset="0"/>
                <a:ea typeface="Avenir Next LT Pro" pitchFamily="34" charset="-122"/>
                <a:cs typeface="Avenir Next LT Pro" pitchFamily="34" charset="-120"/>
              </a:rPr>
              <a:t>DELIVERY</a:t>
            </a:r>
            <a:endParaRPr lang="en-US" sz="1050" dirty="0"/>
          </a:p>
        </p:txBody>
      </p:sp>
      <p:sp>
        <p:nvSpPr>
          <p:cNvPr id="10" name="Text 8"/>
          <p:cNvSpPr/>
          <p:nvPr/>
        </p:nvSpPr>
        <p:spPr>
          <a:xfrm>
            <a:off x="4663440" y="2331720"/>
            <a:ext cx="3017520" cy="822960"/>
          </a:xfrm>
          <a:prstGeom prst="rect">
            <a:avLst/>
          </a:prstGeom>
          <a:noFill/>
          <a:ln/>
        </p:spPr>
        <p:txBody>
          <a:bodyPr wrap="square" lIns="0" tIns="0" rIns="0" bIns="0" rtlCol="0" anchor="t"/>
          <a:lstStyle/>
          <a:p>
            <a:pPr indent="0" marL="0">
              <a:lnSpc>
                <a:spcPct val="110000"/>
              </a:lnSpc>
              <a:buNone/>
            </a:pPr>
            <a:r>
              <a:rPr lang="en-US" sz="1300" b="1" dirty="0">
                <a:solidFill>
                  <a:srgbClr val="000000"/>
                </a:solidFill>
                <a:latin typeface="Avenir Next LT Pro" pitchFamily="34" charset="0"/>
                <a:ea typeface="Avenir Next LT Pro" pitchFamily="34" charset="-122"/>
                <a:cs typeface="Avenir Next LT Pro" pitchFamily="34" charset="-120"/>
              </a:rPr>
              <a:t>Project measures manage the delivery: scope, schedule and budget.</a:t>
            </a:r>
            <a:endParaRPr lang="en-US" sz="1300" dirty="0"/>
          </a:p>
        </p:txBody>
      </p:sp>
      <p:sp>
        <p:nvSpPr>
          <p:cNvPr id="11" name="Text 9"/>
          <p:cNvSpPr/>
          <p:nvPr/>
        </p:nvSpPr>
        <p:spPr>
          <a:xfrm>
            <a:off x="7927848" y="2331720"/>
            <a:ext cx="384048" cy="411480"/>
          </a:xfrm>
          <a:prstGeom prst="rect">
            <a:avLst/>
          </a:prstGeom>
          <a:noFill/>
          <a:ln/>
        </p:spPr>
        <p:txBody>
          <a:bodyPr wrap="square" lIns="0" tIns="0" rIns="0" bIns="0" rtlCol="0" anchor="ctr"/>
          <a:lstStyle/>
          <a:p>
            <a:pPr algn="ctr" indent="0" marL="0">
              <a:buNone/>
            </a:pPr>
            <a:r>
              <a:rPr lang="en-US" sz="2000" dirty="0">
                <a:solidFill>
                  <a:srgbClr val="666666"/>
                </a:solidFill>
                <a:latin typeface="Avenir Next LT Pro" pitchFamily="34" charset="0"/>
                <a:ea typeface="Avenir Next LT Pro" pitchFamily="34" charset="-122"/>
                <a:cs typeface="Avenir Next LT Pro" pitchFamily="34" charset="-120"/>
              </a:rPr>
              <a:t>→</a:t>
            </a:r>
            <a:endParaRPr lang="en-US" sz="2000" dirty="0"/>
          </a:p>
        </p:txBody>
      </p:sp>
      <p:sp>
        <p:nvSpPr>
          <p:cNvPr id="12" name="Shape 10"/>
          <p:cNvSpPr/>
          <p:nvPr/>
        </p:nvSpPr>
        <p:spPr>
          <a:xfrm>
            <a:off x="8321040" y="1828800"/>
            <a:ext cx="3474720" cy="1417320"/>
          </a:xfrm>
          <a:prstGeom prst="roundRect">
            <a:avLst>
              <a:gd name="adj" fmla="val 3226"/>
            </a:avLst>
          </a:prstGeom>
          <a:solidFill>
            <a:srgbClr val="E6E6E6"/>
          </a:solidFill>
          <a:ln/>
        </p:spPr>
      </p:sp>
      <p:sp>
        <p:nvSpPr>
          <p:cNvPr id="13" name="Text 11"/>
          <p:cNvSpPr/>
          <p:nvPr/>
        </p:nvSpPr>
        <p:spPr>
          <a:xfrm>
            <a:off x="8549640" y="2011680"/>
            <a:ext cx="3017520" cy="274320"/>
          </a:xfrm>
          <a:prstGeom prst="rect">
            <a:avLst/>
          </a:prstGeom>
          <a:noFill/>
          <a:ln/>
        </p:spPr>
        <p:txBody>
          <a:bodyPr wrap="square" lIns="0" tIns="0" rIns="0" bIns="0" rtlCol="0" anchor="ctr"/>
          <a:lstStyle/>
          <a:p>
            <a:pPr indent="0" marL="0">
              <a:buNone/>
            </a:pPr>
            <a:r>
              <a:rPr lang="en-US" sz="1050" b="1" spc="120" kern="0" dirty="0">
                <a:solidFill>
                  <a:srgbClr val="666666"/>
                </a:solidFill>
                <a:latin typeface="Avenir Next LT Pro" pitchFamily="34" charset="0"/>
                <a:ea typeface="Avenir Next LT Pro" pitchFamily="34" charset="-122"/>
                <a:cs typeface="Avenir Next LT Pro" pitchFamily="34" charset="-120"/>
              </a:rPr>
              <a:t>AFTER GO LIVE</a:t>
            </a:r>
            <a:endParaRPr lang="en-US" sz="1050" dirty="0"/>
          </a:p>
        </p:txBody>
      </p:sp>
      <p:sp>
        <p:nvSpPr>
          <p:cNvPr id="14" name="Text 12"/>
          <p:cNvSpPr/>
          <p:nvPr/>
        </p:nvSpPr>
        <p:spPr>
          <a:xfrm>
            <a:off x="8549640" y="2331720"/>
            <a:ext cx="3017520" cy="822960"/>
          </a:xfrm>
          <a:prstGeom prst="rect">
            <a:avLst/>
          </a:prstGeom>
          <a:noFill/>
          <a:ln/>
        </p:spPr>
        <p:txBody>
          <a:bodyPr wrap="square" lIns="0" tIns="0" rIns="0" bIns="0" rtlCol="0" anchor="t"/>
          <a:lstStyle/>
          <a:p>
            <a:pPr indent="0" marL="0">
              <a:lnSpc>
                <a:spcPct val="110000"/>
              </a:lnSpc>
              <a:buNone/>
            </a:pPr>
            <a:r>
              <a:rPr lang="en-US" sz="1300" b="1" dirty="0">
                <a:solidFill>
                  <a:srgbClr val="000000"/>
                </a:solidFill>
                <a:latin typeface="Avenir Next LT Pro" pitchFamily="34" charset="0"/>
                <a:ea typeface="Avenir Next LT Pro" pitchFamily="34" charset="-122"/>
                <a:cs typeface="Avenir Next LT Pro" pitchFamily="34" charset="-120"/>
              </a:rPr>
              <a:t>Value is tested last, if it is tested at all.</a:t>
            </a:r>
            <a:endParaRPr lang="en-US" sz="1300" dirty="0"/>
          </a:p>
        </p:txBody>
      </p:sp>
      <p:sp>
        <p:nvSpPr>
          <p:cNvPr id="15" name="Text 13"/>
          <p:cNvSpPr/>
          <p:nvPr/>
        </p:nvSpPr>
        <p:spPr>
          <a:xfrm>
            <a:off x="548640" y="3429000"/>
            <a:ext cx="11064240" cy="365760"/>
          </a:xfrm>
          <a:prstGeom prst="rect">
            <a:avLst/>
          </a:prstGeom>
          <a:noFill/>
          <a:ln/>
        </p:spPr>
        <p:txBody>
          <a:bodyPr wrap="square" lIns="0" tIns="0" rIns="0" bIns="0" rtlCol="0" anchor="ctr"/>
          <a:lstStyle/>
          <a:p>
            <a:pPr indent="0" marL="0">
              <a:buNone/>
            </a:pPr>
            <a:r>
              <a:rPr lang="en-US" sz="1200" i="1" dirty="0">
                <a:solidFill>
                  <a:srgbClr val="666666"/>
                </a:solidFill>
                <a:latin typeface="Avenir Next LT Pro" pitchFamily="34" charset="0"/>
                <a:ea typeface="Avenir Next LT Pro" pitchFamily="34" charset="-122"/>
                <a:cs typeface="Avenir Next LT Pro" pitchFamily="34" charset="-120"/>
              </a:rPr>
              <a:t>By the time value is tested, the window to change the outcome has closed.</a:t>
            </a:r>
            <a:endParaRPr lang="en-US" sz="1200" dirty="0"/>
          </a:p>
        </p:txBody>
      </p:sp>
      <p:sp>
        <p:nvSpPr>
          <p:cNvPr id="16" name="Shape 14"/>
          <p:cNvSpPr/>
          <p:nvPr/>
        </p:nvSpPr>
        <p:spPr>
          <a:xfrm>
            <a:off x="548640" y="4069080"/>
            <a:ext cx="11064240" cy="1325880"/>
          </a:xfrm>
          <a:prstGeom prst="roundRect">
            <a:avLst>
              <a:gd name="adj" fmla="val 3448"/>
            </a:avLst>
          </a:prstGeom>
          <a:solidFill>
            <a:srgbClr val="002FAF"/>
          </a:solidFill>
          <a:ln/>
        </p:spPr>
      </p:sp>
      <p:sp>
        <p:nvSpPr>
          <p:cNvPr id="17" name="Text 15"/>
          <p:cNvSpPr/>
          <p:nvPr/>
        </p:nvSpPr>
        <p:spPr>
          <a:xfrm>
            <a:off x="868680" y="4279392"/>
            <a:ext cx="10424160" cy="914400"/>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venir Next LT Pro" pitchFamily="34" charset="0"/>
                <a:ea typeface="Avenir Next LT Pro" pitchFamily="34" charset="-122"/>
                <a:cs typeface="Avenir Next LT Pro" pitchFamily="34" charset="-120"/>
              </a:rPr>
              <a:t>The proxy trap.  </a:t>
            </a:r>
            <a:pPr indent="0" marL="0">
              <a:lnSpc>
                <a:spcPct val="115000"/>
              </a:lnSpc>
              <a:buNone/>
            </a:pPr>
            <a:r>
              <a:rPr lang="en-US" sz="1350" dirty="0">
                <a:solidFill>
                  <a:srgbClr val="FFFFFF"/>
                </a:solidFill>
                <a:latin typeface="Avenir Next LT Pro" pitchFamily="34" charset="0"/>
                <a:ea typeface="Avenir Next LT Pro" pitchFamily="34" charset="-122"/>
                <a:cs typeface="Avenir Next LT Pro" pitchFamily="34" charset="-120"/>
              </a:rPr>
              <a:t>Activity, adoption, throughput and time saved get treated as value before the business outcome has changed. They are progress signals on the way to value; none of them is the outcome.</a:t>
            </a:r>
            <a:endParaRPr lang="en-US" sz="1350" dirty="0"/>
          </a:p>
        </p:txBody>
      </p:sp>
      <p:sp>
        <p:nvSpPr>
          <p:cNvPr id="18" name="Text 16"/>
          <p:cNvSpPr/>
          <p:nvPr/>
        </p:nvSpPr>
        <p:spPr>
          <a:xfrm>
            <a:off x="548640" y="5715000"/>
            <a:ext cx="11064240" cy="457200"/>
          </a:xfrm>
          <a:prstGeom prst="rect">
            <a:avLst/>
          </a:prstGeom>
          <a:noFill/>
          <a:ln/>
        </p:spPr>
        <p:txBody>
          <a:bodyPr wrap="square" lIns="0" tIns="0" rIns="0" bIns="0" rtlCol="0" anchor="ctr"/>
          <a:lstStyle/>
          <a:p>
            <a:pPr indent="0" marL="0">
              <a:buNone/>
            </a:pPr>
            <a:r>
              <a:rPr lang="en-US" sz="950" dirty="0">
                <a:solidFill>
                  <a:srgbClr val="666666"/>
                </a:solidFill>
                <a:latin typeface="Avenir Next LT Pro" pitchFamily="34" charset="0"/>
                <a:ea typeface="Avenir Next LT Pro" pitchFamily="34" charset="-122"/>
                <a:cs typeface="Avenir Next LT Pro" pitchFamily="34" charset="-120"/>
              </a:rPr>
              <a:t>88 per cent of transformations miss their original ambition (Bain, 2024).  Two thirds of boards now make further AI funding conditional on proof of return (CloudZero, 2026).</a:t>
            </a:r>
            <a:endParaRPr lang="en-US" sz="950" dirty="0"/>
          </a:p>
        </p:txBody>
      </p:sp>
      <p:sp>
        <p:nvSpPr>
          <p:cNvPr id="25" name="Slide Number Placeholder 0"/>
          <p:cNvSpPr>
            <a:spLocks noGrp="1"/>
          </p:cNvSpPr>
          <p:nvPr>
            <p:ph type="sldNum" sz="quarter" idx="4294967295"/>
          </p:nvPr>
        </p:nvSpPr>
        <p:spPr>
          <a:xfrm>
            <a:off x="11475720" y="6473952"/>
            <a:ext cx="365760" cy="274320"/>
          </a:xfrm>
          <a:prstGeom prst="rect">
            <a:avLst/>
          </a:prstGeom>
          <a:extLst>
            <a:ext uri="{C572A759-6A51-4108-AA02-DFA0A04FC94B}">
              <ma14:wrappingTextBoxFlag xmlns:ma14="http://schemas.microsoft.com/office/mac/drawingml/2011/main" val="0"/>
            </a:ext>
          </a:extLst>
        </p:spPr>
        <p:txBody>
          <a:bodyPr/>
          <a:lstStyle>
            <a:lvl1pPr>
              <a:defRPr sz="800">
                <a:solidFill>
                  <a:srgbClr val="666666"/>
                </a:solidFill>
                <a:latin typeface="Avenir Next LT Pro"/>
                <a:ea typeface="Avenir Next LT Pro"/>
                <a:cs typeface="Avenir Next LT Pro"/>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indent="0" marL="0">
              <a:buNone/>
            </a:pPr>
            <a:r>
              <a:rPr lang="en-US" sz="1200" b="1" spc="150" kern="0" dirty="0">
                <a:solidFill>
                  <a:srgbClr val="0C62FB"/>
                </a:solidFill>
                <a:latin typeface="Avenir Next LT Pro" pitchFamily="34" charset="0"/>
                <a:ea typeface="Avenir Next LT Pro" pitchFamily="34" charset="-122"/>
                <a:cs typeface="Avenir Next LT Pro" pitchFamily="34" charset="-120"/>
              </a:rPr>
              <a:t>WHAT VALUE REALISATION IS</a:t>
            </a:r>
            <a:endParaRPr lang="en-US" sz="1200" dirty="0"/>
          </a:p>
        </p:txBody>
      </p:sp>
      <p:sp>
        <p:nvSpPr>
          <p:cNvPr id="3" name="Text 1"/>
          <p:cNvSpPr/>
          <p:nvPr/>
        </p:nvSpPr>
        <p:spPr>
          <a:xfrm>
            <a:off x="548640" y="713232"/>
            <a:ext cx="11064240" cy="1234440"/>
          </a:xfrm>
          <a:prstGeom prst="rect">
            <a:avLst/>
          </a:prstGeom>
          <a:noFill/>
          <a:ln/>
        </p:spPr>
        <p:txBody>
          <a:bodyPr wrap="square" lIns="0" tIns="0" rIns="0" bIns="0" rtlCol="0" anchor="t"/>
          <a:lstStyle/>
          <a:p>
            <a:pPr indent="0" marL="0">
              <a:lnSpc>
                <a:spcPct val="105000"/>
              </a:lnSpc>
              <a:buNone/>
            </a:pPr>
            <a:r>
              <a:rPr lang="en-US" sz="2600" b="1" dirty="0">
                <a:solidFill>
                  <a:srgbClr val="000000"/>
                </a:solidFill>
                <a:latin typeface="Avenir Next LT Pro (Headings)" pitchFamily="34" charset="0"/>
                <a:ea typeface="Avenir Next LT Pro (Headings)" pitchFamily="34" charset="-122"/>
                <a:cs typeface="Avenir Next LT Pro (Headings)" pitchFamily="34" charset="-120"/>
              </a:rPr>
              <a:t>Value Realisation keeps the intended outcomes at the centre of how an investment is shaped, delivered and managed.</a:t>
            </a:r>
            <a:endParaRPr lang="en-US" sz="2600" dirty="0"/>
          </a:p>
        </p:txBody>
      </p:sp>
      <p:sp>
        <p:nvSpPr>
          <p:cNvPr id="4" name="Text 2"/>
          <p:cNvSpPr/>
          <p:nvPr/>
        </p:nvSpPr>
        <p:spPr>
          <a:xfrm>
            <a:off x="548640" y="2121408"/>
            <a:ext cx="11064240" cy="411480"/>
          </a:xfrm>
          <a:prstGeom prst="rect">
            <a:avLst/>
          </a:prstGeom>
          <a:noFill/>
          <a:ln/>
        </p:spPr>
        <p:txBody>
          <a:bodyPr wrap="square" lIns="0" tIns="0" rIns="0" bIns="0" rtlCol="0" anchor="ctr"/>
          <a:lstStyle/>
          <a:p>
            <a:pPr indent="0" marL="0">
              <a:buNone/>
            </a:pPr>
            <a:r>
              <a:rPr lang="en-US" sz="1300" dirty="0">
                <a:solidFill>
                  <a:srgbClr val="000000"/>
                </a:solidFill>
                <a:latin typeface="Avenir Next LT Pro" pitchFamily="34" charset="0"/>
                <a:ea typeface="Avenir Next LT Pro" pitchFamily="34" charset="-122"/>
                <a:cs typeface="Avenir Next LT Pro" pitchFamily="34" charset="-120"/>
              </a:rPr>
              <a:t>It is a working discipline that runs for the life of the investment; it is not benefits reporting added at the end.</a:t>
            </a:r>
            <a:endParaRPr lang="en-US" sz="1300" dirty="0"/>
          </a:p>
        </p:txBody>
      </p:sp>
      <p:sp>
        <p:nvSpPr>
          <p:cNvPr id="5" name="Shape 3"/>
          <p:cNvSpPr/>
          <p:nvPr/>
        </p:nvSpPr>
        <p:spPr>
          <a:xfrm>
            <a:off x="548640" y="2788920"/>
            <a:ext cx="2606040" cy="1691640"/>
          </a:xfrm>
          <a:prstGeom prst="roundRect">
            <a:avLst>
              <a:gd name="adj" fmla="val 2703"/>
            </a:avLst>
          </a:prstGeom>
          <a:solidFill>
            <a:srgbClr val="E6E6E6"/>
          </a:solidFill>
          <a:ln/>
        </p:spPr>
      </p:sp>
      <p:sp>
        <p:nvSpPr>
          <p:cNvPr id="6" name="Text 4"/>
          <p:cNvSpPr/>
          <p:nvPr/>
        </p:nvSpPr>
        <p:spPr>
          <a:xfrm>
            <a:off x="731520" y="2971800"/>
            <a:ext cx="2240280" cy="594360"/>
          </a:xfrm>
          <a:prstGeom prst="rect">
            <a:avLst/>
          </a:prstGeom>
          <a:noFill/>
          <a:ln/>
        </p:spPr>
        <p:txBody>
          <a:bodyPr wrap="square" lIns="0" tIns="0" rIns="0" bIns="0" rtlCol="0" anchor="t"/>
          <a:lstStyle/>
          <a:p>
            <a:pPr indent="0" marL="0">
              <a:lnSpc>
                <a:spcPct val="105000"/>
              </a:lnSpc>
              <a:buNone/>
            </a:pPr>
            <a:r>
              <a:rPr lang="en-US" sz="1350" b="1" dirty="0">
                <a:solidFill>
                  <a:srgbClr val="000000"/>
                </a:solidFill>
                <a:latin typeface="Avenir Next LT Pro" pitchFamily="34" charset="0"/>
                <a:ea typeface="Avenir Next LT Pro" pitchFamily="34" charset="-122"/>
                <a:cs typeface="Avenir Next LT Pro" pitchFamily="34" charset="-120"/>
              </a:rPr>
              <a:t>Business outcome</a:t>
            </a:r>
            <a:endParaRPr lang="en-US" sz="1350" dirty="0"/>
          </a:p>
        </p:txBody>
      </p:sp>
      <p:sp>
        <p:nvSpPr>
          <p:cNvPr id="7" name="Text 5"/>
          <p:cNvSpPr/>
          <p:nvPr/>
        </p:nvSpPr>
        <p:spPr>
          <a:xfrm>
            <a:off x="731520" y="3611880"/>
            <a:ext cx="2240280" cy="777240"/>
          </a:xfrm>
          <a:prstGeom prst="rect">
            <a:avLst/>
          </a:prstGeom>
          <a:noFill/>
          <a:ln/>
        </p:spPr>
        <p:txBody>
          <a:bodyPr wrap="square" lIns="0" tIns="0" rIns="0" bIns="0" rtlCol="0" anchor="t"/>
          <a:lstStyle/>
          <a:p>
            <a:pPr indent="0" marL="0">
              <a:lnSpc>
                <a:spcPct val="110000"/>
              </a:lnSpc>
              <a:buNone/>
            </a:pPr>
            <a:r>
              <a:rPr lang="en-US" sz="1100" dirty="0">
                <a:solidFill>
                  <a:srgbClr val="000000"/>
                </a:solidFill>
                <a:latin typeface="Avenir Next LT Pro" pitchFamily="34" charset="0"/>
                <a:ea typeface="Avenir Next LT Pro" pitchFamily="34" charset="-122"/>
                <a:cs typeface="Avenir Next LT Pro" pitchFamily="34" charset="-120"/>
              </a:rPr>
              <a:t>What must materially improve, and for whom.</a:t>
            </a:r>
            <a:endParaRPr lang="en-US" sz="1100" dirty="0"/>
          </a:p>
        </p:txBody>
      </p:sp>
      <p:sp>
        <p:nvSpPr>
          <p:cNvPr id="8" name="Text 6"/>
          <p:cNvSpPr/>
          <p:nvPr/>
        </p:nvSpPr>
        <p:spPr>
          <a:xfrm>
            <a:off x="3136392" y="3337560"/>
            <a:ext cx="338328" cy="411480"/>
          </a:xfrm>
          <a:prstGeom prst="rect">
            <a:avLst/>
          </a:prstGeom>
          <a:noFill/>
          <a:ln/>
        </p:spPr>
        <p:txBody>
          <a:bodyPr wrap="square" lIns="0" tIns="0" rIns="0" bIns="0" rtlCol="0" anchor="ctr"/>
          <a:lstStyle/>
          <a:p>
            <a:pPr algn="ctr" indent="0" marL="0">
              <a:buNone/>
            </a:pPr>
            <a:r>
              <a:rPr lang="en-US" sz="1800" dirty="0">
                <a:solidFill>
                  <a:srgbClr val="666666"/>
                </a:solidFill>
                <a:latin typeface="Avenir Next LT Pro" pitchFamily="34" charset="0"/>
                <a:ea typeface="Avenir Next LT Pro" pitchFamily="34" charset="-122"/>
                <a:cs typeface="Avenir Next LT Pro" pitchFamily="34" charset="-120"/>
              </a:rPr>
              <a:t>→</a:t>
            </a:r>
            <a:endParaRPr lang="en-US" sz="1800" dirty="0"/>
          </a:p>
        </p:txBody>
      </p:sp>
      <p:sp>
        <p:nvSpPr>
          <p:cNvPr id="9" name="Shape 7"/>
          <p:cNvSpPr/>
          <p:nvPr/>
        </p:nvSpPr>
        <p:spPr>
          <a:xfrm>
            <a:off x="3456432" y="2788920"/>
            <a:ext cx="2606040" cy="1691640"/>
          </a:xfrm>
          <a:prstGeom prst="roundRect">
            <a:avLst>
              <a:gd name="adj" fmla="val 2703"/>
            </a:avLst>
          </a:prstGeom>
          <a:solidFill>
            <a:srgbClr val="E6E6E6"/>
          </a:solidFill>
          <a:ln/>
        </p:spPr>
      </p:sp>
      <p:sp>
        <p:nvSpPr>
          <p:cNvPr id="10" name="Text 8"/>
          <p:cNvSpPr/>
          <p:nvPr/>
        </p:nvSpPr>
        <p:spPr>
          <a:xfrm>
            <a:off x="3639312" y="2971800"/>
            <a:ext cx="2240280" cy="594360"/>
          </a:xfrm>
          <a:prstGeom prst="rect">
            <a:avLst/>
          </a:prstGeom>
          <a:noFill/>
          <a:ln/>
        </p:spPr>
        <p:txBody>
          <a:bodyPr wrap="square" lIns="0" tIns="0" rIns="0" bIns="0" rtlCol="0" anchor="t"/>
          <a:lstStyle/>
          <a:p>
            <a:pPr indent="0" marL="0">
              <a:lnSpc>
                <a:spcPct val="105000"/>
              </a:lnSpc>
              <a:buNone/>
            </a:pPr>
            <a:r>
              <a:rPr lang="en-US" sz="1350" b="1" dirty="0">
                <a:solidFill>
                  <a:srgbClr val="000000"/>
                </a:solidFill>
                <a:latin typeface="Avenir Next LT Pro" pitchFamily="34" charset="0"/>
                <a:ea typeface="Avenir Next LT Pro" pitchFamily="34" charset="-122"/>
                <a:cs typeface="Avenir Next LT Pro" pitchFamily="34" charset="-120"/>
              </a:rPr>
              <a:t>Required changes</a:t>
            </a:r>
            <a:endParaRPr lang="en-US" sz="1350" dirty="0"/>
          </a:p>
        </p:txBody>
      </p:sp>
      <p:sp>
        <p:nvSpPr>
          <p:cNvPr id="11" name="Text 9"/>
          <p:cNvSpPr/>
          <p:nvPr/>
        </p:nvSpPr>
        <p:spPr>
          <a:xfrm>
            <a:off x="3639312" y="3611880"/>
            <a:ext cx="2240280" cy="777240"/>
          </a:xfrm>
          <a:prstGeom prst="rect">
            <a:avLst/>
          </a:prstGeom>
          <a:noFill/>
          <a:ln/>
        </p:spPr>
        <p:txBody>
          <a:bodyPr wrap="square" lIns="0" tIns="0" rIns="0" bIns="0" rtlCol="0" anchor="t"/>
          <a:lstStyle/>
          <a:p>
            <a:pPr indent="0" marL="0">
              <a:lnSpc>
                <a:spcPct val="110000"/>
              </a:lnSpc>
              <a:buNone/>
            </a:pPr>
            <a:r>
              <a:rPr lang="en-US" sz="1100" dirty="0">
                <a:solidFill>
                  <a:srgbClr val="000000"/>
                </a:solidFill>
                <a:latin typeface="Avenir Next LT Pro" pitchFamily="34" charset="0"/>
                <a:ea typeface="Avenir Next LT Pro" pitchFamily="34" charset="-122"/>
                <a:cs typeface="Avenir Next LT Pro" pitchFamily="34" charset="-120"/>
              </a:rPr>
              <a:t>The capabilities, processes and behaviours that move it.</a:t>
            </a:r>
            <a:endParaRPr lang="en-US" sz="1100" dirty="0"/>
          </a:p>
        </p:txBody>
      </p:sp>
      <p:sp>
        <p:nvSpPr>
          <p:cNvPr id="12" name="Text 10"/>
          <p:cNvSpPr/>
          <p:nvPr/>
        </p:nvSpPr>
        <p:spPr>
          <a:xfrm>
            <a:off x="6044184" y="3337560"/>
            <a:ext cx="338328" cy="411480"/>
          </a:xfrm>
          <a:prstGeom prst="rect">
            <a:avLst/>
          </a:prstGeom>
          <a:noFill/>
          <a:ln/>
        </p:spPr>
        <p:txBody>
          <a:bodyPr wrap="square" lIns="0" tIns="0" rIns="0" bIns="0" rtlCol="0" anchor="ctr"/>
          <a:lstStyle/>
          <a:p>
            <a:pPr algn="ctr" indent="0" marL="0">
              <a:buNone/>
            </a:pPr>
            <a:r>
              <a:rPr lang="en-US" sz="1800" dirty="0">
                <a:solidFill>
                  <a:srgbClr val="666666"/>
                </a:solidFill>
                <a:latin typeface="Avenir Next LT Pro" pitchFamily="34" charset="0"/>
                <a:ea typeface="Avenir Next LT Pro" pitchFamily="34" charset="-122"/>
                <a:cs typeface="Avenir Next LT Pro" pitchFamily="34" charset="-120"/>
              </a:rPr>
              <a:t>→</a:t>
            </a:r>
            <a:endParaRPr lang="en-US" sz="1800" dirty="0"/>
          </a:p>
        </p:txBody>
      </p:sp>
      <p:sp>
        <p:nvSpPr>
          <p:cNvPr id="13" name="Shape 11"/>
          <p:cNvSpPr/>
          <p:nvPr/>
        </p:nvSpPr>
        <p:spPr>
          <a:xfrm>
            <a:off x="6364224" y="2788920"/>
            <a:ext cx="2606040" cy="1691640"/>
          </a:xfrm>
          <a:prstGeom prst="roundRect">
            <a:avLst>
              <a:gd name="adj" fmla="val 2703"/>
            </a:avLst>
          </a:prstGeom>
          <a:solidFill>
            <a:srgbClr val="E6E6E6"/>
          </a:solidFill>
          <a:ln/>
        </p:spPr>
      </p:sp>
      <p:sp>
        <p:nvSpPr>
          <p:cNvPr id="14" name="Text 12"/>
          <p:cNvSpPr/>
          <p:nvPr/>
        </p:nvSpPr>
        <p:spPr>
          <a:xfrm>
            <a:off x="6547104" y="2971800"/>
            <a:ext cx="2240280" cy="594360"/>
          </a:xfrm>
          <a:prstGeom prst="rect">
            <a:avLst/>
          </a:prstGeom>
          <a:noFill/>
          <a:ln/>
        </p:spPr>
        <p:txBody>
          <a:bodyPr wrap="square" lIns="0" tIns="0" rIns="0" bIns="0" rtlCol="0" anchor="t"/>
          <a:lstStyle/>
          <a:p>
            <a:pPr indent="0" marL="0">
              <a:lnSpc>
                <a:spcPct val="105000"/>
              </a:lnSpc>
              <a:buNone/>
            </a:pPr>
            <a:r>
              <a:rPr lang="en-US" sz="1350" b="1" dirty="0">
                <a:solidFill>
                  <a:srgbClr val="000000"/>
                </a:solidFill>
                <a:latin typeface="Avenir Next LT Pro" pitchFamily="34" charset="0"/>
                <a:ea typeface="Avenir Next LT Pro" pitchFamily="34" charset="-122"/>
                <a:cs typeface="Avenir Next LT Pro" pitchFamily="34" charset="-120"/>
              </a:rPr>
              <a:t>Evidence and intervention</a:t>
            </a:r>
            <a:endParaRPr lang="en-US" sz="1350" dirty="0"/>
          </a:p>
        </p:txBody>
      </p:sp>
      <p:sp>
        <p:nvSpPr>
          <p:cNvPr id="15" name="Text 13"/>
          <p:cNvSpPr/>
          <p:nvPr/>
        </p:nvSpPr>
        <p:spPr>
          <a:xfrm>
            <a:off x="6547104" y="3611880"/>
            <a:ext cx="2240280" cy="777240"/>
          </a:xfrm>
          <a:prstGeom prst="rect">
            <a:avLst/>
          </a:prstGeom>
          <a:noFill/>
          <a:ln/>
        </p:spPr>
        <p:txBody>
          <a:bodyPr wrap="square" lIns="0" tIns="0" rIns="0" bIns="0" rtlCol="0" anchor="t"/>
          <a:lstStyle/>
          <a:p>
            <a:pPr indent="0" marL="0">
              <a:lnSpc>
                <a:spcPct val="110000"/>
              </a:lnSpc>
              <a:buNone/>
            </a:pPr>
            <a:r>
              <a:rPr lang="en-US" sz="1100" dirty="0">
                <a:solidFill>
                  <a:srgbClr val="000000"/>
                </a:solidFill>
                <a:latin typeface="Avenir Next LT Pro" pitchFamily="34" charset="0"/>
                <a:ea typeface="Avenir Next LT Pro" pitchFamily="34" charset="-122"/>
                <a:cs typeface="Avenir Next LT Pro" pitchFamily="34" charset="-120"/>
              </a:rPr>
              <a:t>Leading indicators watched; action taken when off track.</a:t>
            </a:r>
            <a:endParaRPr lang="en-US" sz="1100" dirty="0"/>
          </a:p>
        </p:txBody>
      </p:sp>
      <p:sp>
        <p:nvSpPr>
          <p:cNvPr id="16" name="Text 14"/>
          <p:cNvSpPr/>
          <p:nvPr/>
        </p:nvSpPr>
        <p:spPr>
          <a:xfrm>
            <a:off x="8951976" y="3337560"/>
            <a:ext cx="338328" cy="411480"/>
          </a:xfrm>
          <a:prstGeom prst="rect">
            <a:avLst/>
          </a:prstGeom>
          <a:noFill/>
          <a:ln/>
        </p:spPr>
        <p:txBody>
          <a:bodyPr wrap="square" lIns="0" tIns="0" rIns="0" bIns="0" rtlCol="0" anchor="ctr"/>
          <a:lstStyle/>
          <a:p>
            <a:pPr algn="ctr" indent="0" marL="0">
              <a:buNone/>
            </a:pPr>
            <a:r>
              <a:rPr lang="en-US" sz="1800" dirty="0">
                <a:solidFill>
                  <a:srgbClr val="666666"/>
                </a:solidFill>
                <a:latin typeface="Avenir Next LT Pro" pitchFamily="34" charset="0"/>
                <a:ea typeface="Avenir Next LT Pro" pitchFamily="34" charset="-122"/>
                <a:cs typeface="Avenir Next LT Pro" pitchFamily="34" charset="-120"/>
              </a:rPr>
              <a:t>→</a:t>
            </a:r>
            <a:endParaRPr lang="en-US" sz="1800" dirty="0"/>
          </a:p>
        </p:txBody>
      </p:sp>
      <p:sp>
        <p:nvSpPr>
          <p:cNvPr id="17" name="Shape 15"/>
          <p:cNvSpPr/>
          <p:nvPr/>
        </p:nvSpPr>
        <p:spPr>
          <a:xfrm>
            <a:off x="9272016" y="2788920"/>
            <a:ext cx="2606040" cy="1691640"/>
          </a:xfrm>
          <a:prstGeom prst="roundRect">
            <a:avLst>
              <a:gd name="adj" fmla="val 2703"/>
            </a:avLst>
          </a:prstGeom>
          <a:solidFill>
            <a:srgbClr val="002FAF"/>
          </a:solidFill>
          <a:ln/>
        </p:spPr>
      </p:sp>
      <p:sp>
        <p:nvSpPr>
          <p:cNvPr id="18" name="Text 16"/>
          <p:cNvSpPr/>
          <p:nvPr/>
        </p:nvSpPr>
        <p:spPr>
          <a:xfrm>
            <a:off x="9454896" y="2971800"/>
            <a:ext cx="2240280" cy="594360"/>
          </a:xfrm>
          <a:prstGeom prst="rect">
            <a:avLst/>
          </a:prstGeom>
          <a:noFill/>
          <a:ln/>
        </p:spPr>
        <p:txBody>
          <a:bodyPr wrap="square" lIns="0" tIns="0" rIns="0" bIns="0" rtlCol="0" anchor="t"/>
          <a:lstStyle/>
          <a:p>
            <a:pPr indent="0" marL="0">
              <a:lnSpc>
                <a:spcPct val="105000"/>
              </a:lnSpc>
              <a:buNone/>
            </a:pPr>
            <a:r>
              <a:rPr lang="en-US" sz="1350" b="1" dirty="0">
                <a:solidFill>
                  <a:srgbClr val="FFFFFF"/>
                </a:solidFill>
                <a:latin typeface="Avenir Next LT Pro" pitchFamily="34" charset="0"/>
                <a:ea typeface="Avenir Next LT Pro" pitchFamily="34" charset="-122"/>
                <a:cs typeface="Avenir Next LT Pro" pitchFamily="34" charset="-120"/>
              </a:rPr>
              <a:t>Realised value</a:t>
            </a:r>
            <a:endParaRPr lang="en-US" sz="1350" dirty="0"/>
          </a:p>
        </p:txBody>
      </p:sp>
      <p:sp>
        <p:nvSpPr>
          <p:cNvPr id="19" name="Text 17"/>
          <p:cNvSpPr/>
          <p:nvPr/>
        </p:nvSpPr>
        <p:spPr>
          <a:xfrm>
            <a:off x="9454896" y="3611880"/>
            <a:ext cx="2240280" cy="777240"/>
          </a:xfrm>
          <a:prstGeom prst="rect">
            <a:avLst/>
          </a:prstGeom>
          <a:noFill/>
          <a:ln/>
        </p:spPr>
        <p:txBody>
          <a:bodyPr wrap="square" lIns="0" tIns="0" rIns="0" bIns="0" rtlCol="0" anchor="t"/>
          <a:lstStyle/>
          <a:p>
            <a:pPr indent="0" marL="0">
              <a:lnSpc>
                <a:spcPct val="110000"/>
              </a:lnSpc>
              <a:buNone/>
            </a:pPr>
            <a:r>
              <a:rPr lang="en-US" sz="1100" dirty="0">
                <a:solidFill>
                  <a:srgbClr val="FFFFFF"/>
                </a:solidFill>
                <a:latin typeface="Avenir Next LT Pro" pitchFamily="34" charset="0"/>
                <a:ea typeface="Avenir Next LT Pro" pitchFamily="34" charset="-122"/>
                <a:cs typeface="Avenir Next LT Pro" pitchFamily="34" charset="-120"/>
              </a:rPr>
              <a:t>The improvement lands, is attributed and is accepted.</a:t>
            </a:r>
            <a:endParaRPr lang="en-US" sz="1100" dirty="0"/>
          </a:p>
        </p:txBody>
      </p:sp>
      <p:sp>
        <p:nvSpPr>
          <p:cNvPr id="20" name="Shape 18"/>
          <p:cNvSpPr/>
          <p:nvPr/>
        </p:nvSpPr>
        <p:spPr>
          <a:xfrm>
            <a:off x="548640" y="4983480"/>
            <a:ext cx="11064240" cy="1051560"/>
          </a:xfrm>
          <a:prstGeom prst="roundRect">
            <a:avLst>
              <a:gd name="adj" fmla="val 4348"/>
            </a:avLst>
          </a:prstGeom>
          <a:solidFill>
            <a:srgbClr val="E6E6E6"/>
          </a:solidFill>
          <a:ln/>
        </p:spPr>
      </p:sp>
      <p:sp>
        <p:nvSpPr>
          <p:cNvPr id="21" name="Text 19"/>
          <p:cNvSpPr/>
          <p:nvPr/>
        </p:nvSpPr>
        <p:spPr>
          <a:xfrm>
            <a:off x="868680" y="5166360"/>
            <a:ext cx="10424160" cy="731520"/>
          </a:xfrm>
          <a:prstGeom prst="rect">
            <a:avLst/>
          </a:prstGeom>
          <a:noFill/>
          <a:ln/>
        </p:spPr>
        <p:txBody>
          <a:bodyPr wrap="square" lIns="0" tIns="0" rIns="0" bIns="0" rtlCol="0" anchor="t"/>
          <a:lstStyle/>
          <a:p>
            <a:pPr indent="0" marL="0">
              <a:lnSpc>
                <a:spcPct val="115000"/>
              </a:lnSpc>
              <a:buNone/>
            </a:pPr>
            <a:r>
              <a:rPr lang="en-US" sz="1050" b="1" spc="120" kern="0" dirty="0">
                <a:solidFill>
                  <a:srgbClr val="0C62FB"/>
                </a:solidFill>
                <a:latin typeface="Avenir Next LT Pro" pitchFamily="34" charset="0"/>
                <a:ea typeface="Avenir Next LT Pro" pitchFamily="34" charset="-122"/>
                <a:cs typeface="Avenir Next LT Pro" pitchFamily="34" charset="-120"/>
              </a:rPr>
              <a:t>THE ANCHOR QUESTION   </a:t>
            </a:r>
            <a:pPr indent="0" marL="0">
              <a:lnSpc>
                <a:spcPct val="115000"/>
              </a:lnSpc>
              <a:buNone/>
            </a:pPr>
            <a:r>
              <a:rPr lang="en-US" sz="1300" i="1" dirty="0">
                <a:solidFill>
                  <a:srgbClr val="000000"/>
                </a:solidFill>
                <a:latin typeface="Avenir Next LT Pro" pitchFamily="34" charset="0"/>
                <a:ea typeface="Avenir Next LT Pro" pitchFamily="34" charset="-122"/>
                <a:cs typeface="Avenir Next LT Pro" pitchFamily="34" charset="-120"/>
              </a:rPr>
              <a:t>What business outcome is this investment truly driving, what must change to achieve it, and how will we prove it occurred?</a:t>
            </a:r>
            <a:endParaRPr lang="en-US" sz="1050" dirty="0"/>
          </a:p>
        </p:txBody>
      </p:sp>
      <p:sp>
        <p:nvSpPr>
          <p:cNvPr id="25" name="Slide Number Placeholder 0"/>
          <p:cNvSpPr>
            <a:spLocks noGrp="1"/>
          </p:cNvSpPr>
          <p:nvPr>
            <p:ph type="sldNum" sz="quarter" idx="4294967295"/>
          </p:nvPr>
        </p:nvSpPr>
        <p:spPr>
          <a:xfrm>
            <a:off x="11475720" y="6473952"/>
            <a:ext cx="365760" cy="274320"/>
          </a:xfrm>
          <a:prstGeom prst="rect">
            <a:avLst/>
          </a:prstGeom>
          <a:extLst>
            <a:ext uri="{C572A759-6A51-4108-AA02-DFA0A04FC94B}">
              <ma14:wrappingTextBoxFlag xmlns:ma14="http://schemas.microsoft.com/office/mac/drawingml/2011/main" val="0"/>
            </a:ext>
          </a:extLst>
        </p:spPr>
        <p:txBody>
          <a:bodyPr/>
          <a:lstStyle>
            <a:lvl1pPr>
              <a:defRPr sz="800">
                <a:solidFill>
                  <a:srgbClr val="666666"/>
                </a:solidFill>
                <a:latin typeface="Avenir Next LT Pro"/>
                <a:ea typeface="Avenir Next LT Pro"/>
                <a:cs typeface="Avenir Next LT Pro"/>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indent="0" marL="0">
              <a:buNone/>
            </a:pPr>
            <a:r>
              <a:rPr lang="en-US" sz="1200" b="1" spc="150" kern="0" dirty="0">
                <a:solidFill>
                  <a:srgbClr val="0C62FB"/>
                </a:solidFill>
                <a:latin typeface="Avenir Next LT Pro" pitchFamily="34" charset="0"/>
                <a:ea typeface="Avenir Next LT Pro" pitchFamily="34" charset="-122"/>
                <a:cs typeface="Avenir Next LT Pro" pitchFamily="34" charset="-120"/>
              </a:rPr>
              <a:t>HOW WE HELP CLIENTS REALISE VALUE</a:t>
            </a:r>
            <a:endParaRPr lang="en-US" sz="1200" dirty="0"/>
          </a:p>
        </p:txBody>
      </p:sp>
      <p:sp>
        <p:nvSpPr>
          <p:cNvPr id="3" name="Text 1"/>
          <p:cNvSpPr/>
          <p:nvPr/>
        </p:nvSpPr>
        <p:spPr>
          <a:xfrm>
            <a:off x="548640" y="713232"/>
            <a:ext cx="11064240" cy="640080"/>
          </a:xfrm>
          <a:prstGeom prst="rect">
            <a:avLst/>
          </a:prstGeom>
          <a:noFill/>
          <a:ln/>
        </p:spPr>
        <p:txBody>
          <a:bodyPr wrap="square" lIns="0" tIns="0" rIns="0" bIns="0" rtlCol="0" anchor="t"/>
          <a:lstStyle/>
          <a:p>
            <a:pPr indent="0" marL="0">
              <a:lnSpc>
                <a:spcPct val="105000"/>
              </a:lnSpc>
              <a:buNone/>
            </a:pPr>
            <a:r>
              <a:rPr lang="en-US" sz="2600" b="1" dirty="0">
                <a:solidFill>
                  <a:srgbClr val="000000"/>
                </a:solidFill>
                <a:latin typeface="Avenir Next LT Pro (Headings)" pitchFamily="34" charset="0"/>
                <a:ea typeface="Avenir Next LT Pro (Headings)" pitchFamily="34" charset="-122"/>
                <a:cs typeface="Avenir Next LT Pro (Headings)" pitchFamily="34" charset="-120"/>
              </a:rPr>
              <a:t>We define the outcome, manage what must change and prove the value.</a:t>
            </a:r>
            <a:endParaRPr lang="en-US" sz="2600" dirty="0"/>
          </a:p>
        </p:txBody>
      </p:sp>
      <p:sp>
        <p:nvSpPr>
          <p:cNvPr id="4" name="Shape 2"/>
          <p:cNvSpPr/>
          <p:nvPr/>
        </p:nvSpPr>
        <p:spPr>
          <a:xfrm>
            <a:off x="548640" y="1783080"/>
            <a:ext cx="3584448" cy="3840480"/>
          </a:xfrm>
          <a:prstGeom prst="roundRect">
            <a:avLst>
              <a:gd name="adj" fmla="val 1531"/>
            </a:avLst>
          </a:prstGeom>
          <a:solidFill>
            <a:srgbClr val="E6E6E6"/>
          </a:solidFill>
          <a:ln/>
        </p:spPr>
      </p:sp>
      <p:sp>
        <p:nvSpPr>
          <p:cNvPr id="5" name="Shape 3"/>
          <p:cNvSpPr/>
          <p:nvPr/>
        </p:nvSpPr>
        <p:spPr>
          <a:xfrm>
            <a:off x="822960" y="2057400"/>
            <a:ext cx="402336" cy="402336"/>
          </a:xfrm>
          <a:prstGeom prst="ellipse">
            <a:avLst/>
          </a:prstGeom>
          <a:solidFill>
            <a:srgbClr val="0C62FB"/>
          </a:solidFill>
          <a:ln/>
        </p:spPr>
      </p:sp>
      <p:sp>
        <p:nvSpPr>
          <p:cNvPr id="6" name="Text 4"/>
          <p:cNvSpPr/>
          <p:nvPr/>
        </p:nvSpPr>
        <p:spPr>
          <a:xfrm>
            <a:off x="822960" y="205740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Avenir Next LT Pro" pitchFamily="34" charset="0"/>
                <a:ea typeface="Avenir Next LT Pro" pitchFamily="34" charset="-122"/>
                <a:cs typeface="Avenir Next LT Pro" pitchFamily="34" charset="-120"/>
              </a:rPr>
              <a:t>1</a:t>
            </a:r>
            <a:endParaRPr lang="en-US" sz="1400" dirty="0"/>
          </a:p>
        </p:txBody>
      </p:sp>
      <p:sp>
        <p:nvSpPr>
          <p:cNvPr id="7" name="Text 5"/>
          <p:cNvSpPr/>
          <p:nvPr/>
        </p:nvSpPr>
        <p:spPr>
          <a:xfrm>
            <a:off x="822960" y="2651760"/>
            <a:ext cx="3108960" cy="731520"/>
          </a:xfrm>
          <a:prstGeom prst="rect">
            <a:avLst/>
          </a:prstGeom>
          <a:noFill/>
          <a:ln/>
        </p:spPr>
        <p:txBody>
          <a:bodyPr wrap="square" lIns="0" tIns="0" rIns="0" bIns="0" rtlCol="0" anchor="ctr"/>
          <a:lstStyle/>
          <a:p>
            <a:pPr indent="0" marL="0">
              <a:buNone/>
            </a:pPr>
            <a:r>
              <a:rPr lang="en-US" sz="1550" b="1" dirty="0">
                <a:solidFill>
                  <a:srgbClr val="000000"/>
                </a:solidFill>
                <a:latin typeface="Avenir Next LT Pro (Headings)" pitchFamily="34" charset="0"/>
                <a:ea typeface="Avenir Next LT Pro (Headings)" pitchFamily="34" charset="-122"/>
                <a:cs typeface="Avenir Next LT Pro (Headings)" pitchFamily="34" charset="-120"/>
              </a:rPr>
              <a:t>Define the outcome.</a:t>
            </a:r>
            <a:endParaRPr lang="en-US" sz="1550" dirty="0"/>
          </a:p>
        </p:txBody>
      </p:sp>
      <p:sp>
        <p:nvSpPr>
          <p:cNvPr id="8" name="Text 6"/>
          <p:cNvSpPr/>
          <p:nvPr/>
        </p:nvSpPr>
        <p:spPr>
          <a:xfrm>
            <a:off x="822960" y="3429000"/>
            <a:ext cx="3108960" cy="2103120"/>
          </a:xfrm>
          <a:prstGeom prst="rect">
            <a:avLst/>
          </a:prstGeom>
          <a:noFill/>
          <a:ln/>
        </p:spPr>
        <p:txBody>
          <a:bodyPr wrap="square" lIns="0" tIns="0" rIns="0" bIns="0" rtlCol="0" anchor="t"/>
          <a:lstStyle/>
          <a:p>
            <a:pPr indent="0" marL="0">
              <a:lnSpc>
                <a:spcPct val="112000"/>
              </a:lnSpc>
              <a:spcAft>
                <a:spcPts val="800"/>
              </a:spcAft>
              <a:buNone/>
            </a:pPr>
            <a:r>
              <a:rPr lang="en-US" sz="1150" dirty="0">
                <a:solidFill>
                  <a:srgbClr val="000000"/>
                </a:solidFill>
                <a:latin typeface="Avenir Next LT Pro" pitchFamily="34" charset="0"/>
                <a:ea typeface="Avenir Next LT Pro" pitchFamily="34" charset="-122"/>
                <a:cs typeface="Avenir Next LT Pro" pitchFamily="34" charset="-120"/>
              </a:rPr>
              <a:t>What must improve, by how much and by when?</a:t>
            </a:r>
            <a:endParaRPr lang="en-US" sz="1150" dirty="0"/>
          </a:p>
          <a:p>
            <a:pPr indent="0" marL="0">
              <a:lnSpc>
                <a:spcPct val="112000"/>
              </a:lnSpc>
              <a:spcAft>
                <a:spcPts val="800"/>
              </a:spcAft>
              <a:buNone/>
            </a:pPr>
            <a:r>
              <a:rPr lang="en-US" sz="1150" dirty="0">
                <a:solidFill>
                  <a:srgbClr val="000000"/>
                </a:solidFill>
                <a:latin typeface="Avenir Next LT Pro" pitchFamily="34" charset="0"/>
                <a:ea typeface="Avenir Next LT Pro" pitchFamily="34" charset="-122"/>
                <a:cs typeface="Avenir Next LT Pro" pitchFamily="34" charset="-120"/>
              </a:rPr>
              <a:t>Who owns the outcome in the business?</a:t>
            </a:r>
            <a:endParaRPr lang="en-US" sz="1150" dirty="0"/>
          </a:p>
          <a:p>
            <a:pPr indent="0" marL="0">
              <a:lnSpc>
                <a:spcPct val="112000"/>
              </a:lnSpc>
              <a:spcAft>
                <a:spcPts val="800"/>
              </a:spcAft>
              <a:buNone/>
            </a:pPr>
            <a:r>
              <a:rPr lang="en-US" sz="1150" dirty="0">
                <a:solidFill>
                  <a:srgbClr val="000000"/>
                </a:solidFill>
                <a:latin typeface="Avenir Next LT Pro" pitchFamily="34" charset="0"/>
                <a:ea typeface="Avenir Next LT Pro" pitchFamily="34" charset="-122"/>
                <a:cs typeface="Avenir Next LT Pro" pitchFamily="34" charset="-120"/>
              </a:rPr>
              <a:t>The baseline, target and value drivers are set before funding.</a:t>
            </a:r>
            <a:endParaRPr lang="en-US" sz="1150" dirty="0"/>
          </a:p>
        </p:txBody>
      </p:sp>
      <p:sp>
        <p:nvSpPr>
          <p:cNvPr id="9" name="Shape 7"/>
          <p:cNvSpPr/>
          <p:nvPr/>
        </p:nvSpPr>
        <p:spPr>
          <a:xfrm>
            <a:off x="4361688" y="1783080"/>
            <a:ext cx="3584448" cy="3840480"/>
          </a:xfrm>
          <a:prstGeom prst="roundRect">
            <a:avLst>
              <a:gd name="adj" fmla="val 1531"/>
            </a:avLst>
          </a:prstGeom>
          <a:solidFill>
            <a:srgbClr val="E6E6E6"/>
          </a:solidFill>
          <a:ln/>
        </p:spPr>
      </p:sp>
      <p:sp>
        <p:nvSpPr>
          <p:cNvPr id="10" name="Shape 8"/>
          <p:cNvSpPr/>
          <p:nvPr/>
        </p:nvSpPr>
        <p:spPr>
          <a:xfrm>
            <a:off x="4636008" y="2057400"/>
            <a:ext cx="402336" cy="402336"/>
          </a:xfrm>
          <a:prstGeom prst="ellipse">
            <a:avLst/>
          </a:prstGeom>
          <a:solidFill>
            <a:srgbClr val="0C62FB"/>
          </a:solidFill>
          <a:ln/>
        </p:spPr>
      </p:sp>
      <p:sp>
        <p:nvSpPr>
          <p:cNvPr id="11" name="Text 9"/>
          <p:cNvSpPr/>
          <p:nvPr/>
        </p:nvSpPr>
        <p:spPr>
          <a:xfrm>
            <a:off x="4636008" y="205740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Avenir Next LT Pro" pitchFamily="34" charset="0"/>
                <a:ea typeface="Avenir Next LT Pro" pitchFamily="34" charset="-122"/>
                <a:cs typeface="Avenir Next LT Pro" pitchFamily="34" charset="-120"/>
              </a:rPr>
              <a:t>2</a:t>
            </a:r>
            <a:endParaRPr lang="en-US" sz="1400" dirty="0"/>
          </a:p>
        </p:txBody>
      </p:sp>
      <p:sp>
        <p:nvSpPr>
          <p:cNvPr id="12" name="Text 10"/>
          <p:cNvSpPr/>
          <p:nvPr/>
        </p:nvSpPr>
        <p:spPr>
          <a:xfrm>
            <a:off x="4636008" y="2651760"/>
            <a:ext cx="3108960" cy="731520"/>
          </a:xfrm>
          <a:prstGeom prst="rect">
            <a:avLst/>
          </a:prstGeom>
          <a:noFill/>
          <a:ln/>
        </p:spPr>
        <p:txBody>
          <a:bodyPr wrap="square" lIns="0" tIns="0" rIns="0" bIns="0" rtlCol="0" anchor="ctr"/>
          <a:lstStyle/>
          <a:p>
            <a:pPr indent="0" marL="0">
              <a:buNone/>
            </a:pPr>
            <a:r>
              <a:rPr lang="en-US" sz="1550" b="1" dirty="0">
                <a:solidFill>
                  <a:srgbClr val="000000"/>
                </a:solidFill>
                <a:latin typeface="Avenir Next LT Pro (Headings)" pitchFamily="34" charset="0"/>
                <a:ea typeface="Avenir Next LT Pro (Headings)" pitchFamily="34" charset="-122"/>
                <a:cs typeface="Avenir Next LT Pro (Headings)" pitchFamily="34" charset="-120"/>
              </a:rPr>
              <a:t>Manage what must change.</a:t>
            </a:r>
            <a:endParaRPr lang="en-US" sz="1550" dirty="0"/>
          </a:p>
        </p:txBody>
      </p:sp>
      <p:sp>
        <p:nvSpPr>
          <p:cNvPr id="13" name="Text 11"/>
          <p:cNvSpPr/>
          <p:nvPr/>
        </p:nvSpPr>
        <p:spPr>
          <a:xfrm>
            <a:off x="4636008" y="3429000"/>
            <a:ext cx="3108960" cy="2103120"/>
          </a:xfrm>
          <a:prstGeom prst="rect">
            <a:avLst/>
          </a:prstGeom>
          <a:noFill/>
          <a:ln/>
        </p:spPr>
        <p:txBody>
          <a:bodyPr wrap="square" lIns="0" tIns="0" rIns="0" bIns="0" rtlCol="0" anchor="t"/>
          <a:lstStyle/>
          <a:p>
            <a:pPr indent="0" marL="0">
              <a:lnSpc>
                <a:spcPct val="112000"/>
              </a:lnSpc>
              <a:spcAft>
                <a:spcPts val="800"/>
              </a:spcAft>
              <a:buNone/>
            </a:pPr>
            <a:r>
              <a:rPr lang="en-US" sz="1150" dirty="0">
                <a:solidFill>
                  <a:srgbClr val="000000"/>
                </a:solidFill>
                <a:latin typeface="Avenir Next LT Pro" pitchFamily="34" charset="0"/>
                <a:ea typeface="Avenir Next LT Pro" pitchFamily="34" charset="-122"/>
                <a:cs typeface="Avenir Next LT Pro" pitchFamily="34" charset="-120"/>
              </a:rPr>
              <a:t>The capabilities, processes and behaviours required.</a:t>
            </a:r>
            <a:endParaRPr lang="en-US" sz="1150" dirty="0"/>
          </a:p>
          <a:p>
            <a:pPr indent="0" marL="0">
              <a:lnSpc>
                <a:spcPct val="112000"/>
              </a:lnSpc>
              <a:spcAft>
                <a:spcPts val="800"/>
              </a:spcAft>
              <a:buNone/>
            </a:pPr>
            <a:r>
              <a:rPr lang="en-US" sz="1150" dirty="0">
                <a:solidFill>
                  <a:srgbClr val="000000"/>
                </a:solidFill>
                <a:latin typeface="Avenir Next LT Pro" pitchFamily="34" charset="0"/>
                <a:ea typeface="Avenir Next LT Pro" pitchFamily="34" charset="-122"/>
                <a:cs typeface="Avenir Next LT Pro" pitchFamily="34" charset="-120"/>
              </a:rPr>
              <a:t>The operating conditions that let the change hold.</a:t>
            </a:r>
            <a:endParaRPr lang="en-US" sz="1150" dirty="0"/>
          </a:p>
          <a:p>
            <a:pPr indent="0" marL="0">
              <a:lnSpc>
                <a:spcPct val="112000"/>
              </a:lnSpc>
              <a:spcAft>
                <a:spcPts val="800"/>
              </a:spcAft>
              <a:buNone/>
            </a:pPr>
            <a:r>
              <a:rPr lang="en-US" sz="1150" dirty="0">
                <a:solidFill>
                  <a:srgbClr val="000000"/>
                </a:solidFill>
                <a:latin typeface="Avenir Next LT Pro" pitchFamily="34" charset="0"/>
                <a:ea typeface="Avenir Next LT Pro" pitchFamily="34" charset="-122"/>
                <a:cs typeface="Avenir Next LT Pro" pitchFamily="34" charset="-120"/>
              </a:rPr>
              <a:t>Leading indicators tracked; intervention when progress is off track.</a:t>
            </a:r>
            <a:endParaRPr lang="en-US" sz="1150" dirty="0"/>
          </a:p>
        </p:txBody>
      </p:sp>
      <p:sp>
        <p:nvSpPr>
          <p:cNvPr id="14" name="Shape 12"/>
          <p:cNvSpPr/>
          <p:nvPr/>
        </p:nvSpPr>
        <p:spPr>
          <a:xfrm>
            <a:off x="8174736" y="1783080"/>
            <a:ext cx="3584448" cy="3840480"/>
          </a:xfrm>
          <a:prstGeom prst="roundRect">
            <a:avLst>
              <a:gd name="adj" fmla="val 1531"/>
            </a:avLst>
          </a:prstGeom>
          <a:solidFill>
            <a:srgbClr val="E6E6E6"/>
          </a:solidFill>
          <a:ln/>
        </p:spPr>
      </p:sp>
      <p:sp>
        <p:nvSpPr>
          <p:cNvPr id="15" name="Shape 13"/>
          <p:cNvSpPr/>
          <p:nvPr/>
        </p:nvSpPr>
        <p:spPr>
          <a:xfrm>
            <a:off x="8449056" y="2057400"/>
            <a:ext cx="402336" cy="402336"/>
          </a:xfrm>
          <a:prstGeom prst="ellipse">
            <a:avLst/>
          </a:prstGeom>
          <a:solidFill>
            <a:srgbClr val="0C62FB"/>
          </a:solidFill>
          <a:ln/>
        </p:spPr>
      </p:sp>
      <p:sp>
        <p:nvSpPr>
          <p:cNvPr id="16" name="Text 14"/>
          <p:cNvSpPr/>
          <p:nvPr/>
        </p:nvSpPr>
        <p:spPr>
          <a:xfrm>
            <a:off x="8449056" y="205740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Avenir Next LT Pro" pitchFamily="34" charset="0"/>
                <a:ea typeface="Avenir Next LT Pro" pitchFamily="34" charset="-122"/>
                <a:cs typeface="Avenir Next LT Pro" pitchFamily="34" charset="-120"/>
              </a:rPr>
              <a:t>3</a:t>
            </a:r>
            <a:endParaRPr lang="en-US" sz="1400" dirty="0"/>
          </a:p>
        </p:txBody>
      </p:sp>
      <p:sp>
        <p:nvSpPr>
          <p:cNvPr id="17" name="Text 15"/>
          <p:cNvSpPr/>
          <p:nvPr/>
        </p:nvSpPr>
        <p:spPr>
          <a:xfrm>
            <a:off x="8449056" y="2651760"/>
            <a:ext cx="3108960" cy="731520"/>
          </a:xfrm>
          <a:prstGeom prst="rect">
            <a:avLst/>
          </a:prstGeom>
          <a:noFill/>
          <a:ln/>
        </p:spPr>
        <p:txBody>
          <a:bodyPr wrap="square" lIns="0" tIns="0" rIns="0" bIns="0" rtlCol="0" anchor="ctr"/>
          <a:lstStyle/>
          <a:p>
            <a:pPr indent="0" marL="0">
              <a:buNone/>
            </a:pPr>
            <a:r>
              <a:rPr lang="en-US" sz="1550" b="1" dirty="0">
                <a:solidFill>
                  <a:srgbClr val="000000"/>
                </a:solidFill>
                <a:latin typeface="Avenir Next LT Pro (Headings)" pitchFamily="34" charset="0"/>
                <a:ea typeface="Avenir Next LT Pro (Headings)" pitchFamily="34" charset="-122"/>
                <a:cs typeface="Avenir Next LT Pro (Headings)" pitchFamily="34" charset="-120"/>
              </a:rPr>
              <a:t>Prove the value.</a:t>
            </a:r>
            <a:endParaRPr lang="en-US" sz="1550" dirty="0"/>
          </a:p>
        </p:txBody>
      </p:sp>
      <p:sp>
        <p:nvSpPr>
          <p:cNvPr id="18" name="Text 16"/>
          <p:cNvSpPr/>
          <p:nvPr/>
        </p:nvSpPr>
        <p:spPr>
          <a:xfrm>
            <a:off x="8449056" y="3429000"/>
            <a:ext cx="3108960" cy="2103120"/>
          </a:xfrm>
          <a:prstGeom prst="rect">
            <a:avLst/>
          </a:prstGeom>
          <a:noFill/>
          <a:ln/>
        </p:spPr>
        <p:txBody>
          <a:bodyPr wrap="square" lIns="0" tIns="0" rIns="0" bIns="0" rtlCol="0" anchor="t"/>
          <a:lstStyle/>
          <a:p>
            <a:pPr indent="0" marL="0">
              <a:lnSpc>
                <a:spcPct val="112000"/>
              </a:lnSpc>
              <a:spcAft>
                <a:spcPts val="800"/>
              </a:spcAft>
              <a:buNone/>
            </a:pPr>
            <a:r>
              <a:rPr lang="en-US" sz="1150" dirty="0">
                <a:solidFill>
                  <a:srgbClr val="000000"/>
                </a:solidFill>
                <a:latin typeface="Avenir Next LT Pro" pitchFamily="34" charset="0"/>
                <a:ea typeface="Avenir Next LT Pro" pitchFamily="34" charset="-122"/>
                <a:cs typeface="Avenir Next LT Pro" pitchFamily="34" charset="-120"/>
              </a:rPr>
              <a:t>Did the outcome improve, and was it attributable to the investment?</a:t>
            </a:r>
            <a:endParaRPr lang="en-US" sz="1150" dirty="0"/>
          </a:p>
          <a:p>
            <a:pPr indent="0" marL="0">
              <a:lnSpc>
                <a:spcPct val="112000"/>
              </a:lnSpc>
              <a:spcAft>
                <a:spcPts val="800"/>
              </a:spcAft>
              <a:buNone/>
            </a:pPr>
            <a:r>
              <a:rPr lang="en-US" sz="1150" dirty="0">
                <a:solidFill>
                  <a:srgbClr val="000000"/>
                </a:solidFill>
                <a:latin typeface="Avenir Next LT Pro" pitchFamily="34" charset="0"/>
                <a:ea typeface="Avenir Next LT Pro" pitchFamily="34" charset="-122"/>
                <a:cs typeface="Avenir Next LT Pro" pitchFamily="34" charset="-120"/>
              </a:rPr>
              <a:t>Were quality, cost and risk protected along the way?</a:t>
            </a:r>
            <a:endParaRPr lang="en-US" sz="1150" dirty="0"/>
          </a:p>
          <a:p>
            <a:pPr indent="0" marL="0">
              <a:lnSpc>
                <a:spcPct val="112000"/>
              </a:lnSpc>
              <a:spcAft>
                <a:spcPts val="800"/>
              </a:spcAft>
              <a:buNone/>
            </a:pPr>
            <a:r>
              <a:rPr lang="en-US" sz="1150" dirty="0">
                <a:solidFill>
                  <a:srgbClr val="000000"/>
                </a:solidFill>
                <a:latin typeface="Avenir Next LT Pro" pitchFamily="34" charset="0"/>
                <a:ea typeface="Avenir Next LT Pro" pitchFamily="34" charset="-122"/>
                <a:cs typeface="Avenir Next LT Pro" pitchFamily="34" charset="-120"/>
              </a:rPr>
              <a:t>Is the result accepted by finance and embedded in the business?</a:t>
            </a:r>
            <a:endParaRPr lang="en-US" sz="1150" dirty="0"/>
          </a:p>
        </p:txBody>
      </p:sp>
      <p:sp>
        <p:nvSpPr>
          <p:cNvPr id="19" name="Text 17"/>
          <p:cNvSpPr/>
          <p:nvPr/>
        </p:nvSpPr>
        <p:spPr>
          <a:xfrm>
            <a:off x="548640" y="5852160"/>
            <a:ext cx="11064240" cy="365760"/>
          </a:xfrm>
          <a:prstGeom prst="rect">
            <a:avLst/>
          </a:prstGeom>
          <a:noFill/>
          <a:ln/>
        </p:spPr>
        <p:txBody>
          <a:bodyPr wrap="square" lIns="0" tIns="0" rIns="0" bIns="0" rtlCol="0" anchor="ctr"/>
          <a:lstStyle/>
          <a:p>
            <a:pPr indent="0" marL="0">
              <a:buNone/>
            </a:pPr>
            <a:r>
              <a:rPr lang="en-US" sz="1200" i="1" dirty="0">
                <a:solidFill>
                  <a:srgbClr val="666666"/>
                </a:solidFill>
                <a:latin typeface="Avenir Next LT Pro" pitchFamily="34" charset="0"/>
                <a:ea typeface="Avenir Next LT Pro" pitchFamily="34" charset="-122"/>
                <a:cs typeface="Avenir Next LT Pro" pitchFamily="34" charset="-120"/>
              </a:rPr>
              <a:t>One structure, from the first conversation through delivery to business as usual.</a:t>
            </a:r>
            <a:endParaRPr lang="en-US" sz="1200" dirty="0"/>
          </a:p>
        </p:txBody>
      </p:sp>
      <p:sp>
        <p:nvSpPr>
          <p:cNvPr id="25" name="Slide Number Placeholder 0"/>
          <p:cNvSpPr>
            <a:spLocks noGrp="1"/>
          </p:cNvSpPr>
          <p:nvPr>
            <p:ph type="sldNum" sz="quarter" idx="4294967295"/>
          </p:nvPr>
        </p:nvSpPr>
        <p:spPr>
          <a:xfrm>
            <a:off x="11475720" y="6473952"/>
            <a:ext cx="365760" cy="274320"/>
          </a:xfrm>
          <a:prstGeom prst="rect">
            <a:avLst/>
          </a:prstGeom>
          <a:extLst>
            <a:ext uri="{C572A759-6A51-4108-AA02-DFA0A04FC94B}">
              <ma14:wrappingTextBoxFlag xmlns:ma14="http://schemas.microsoft.com/office/mac/drawingml/2011/main" val="0"/>
            </a:ext>
          </a:extLst>
        </p:spPr>
        <p:txBody>
          <a:bodyPr/>
          <a:lstStyle>
            <a:lvl1pPr>
              <a:defRPr sz="800">
                <a:solidFill>
                  <a:srgbClr val="666666"/>
                </a:solidFill>
                <a:latin typeface="Avenir Next LT Pro"/>
                <a:ea typeface="Avenir Next LT Pro"/>
                <a:cs typeface="Avenir Next LT Pro"/>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indent="0" marL="0">
              <a:buNone/>
            </a:pPr>
            <a:r>
              <a:rPr lang="en-US" sz="1200" b="1" spc="150" kern="0" dirty="0">
                <a:solidFill>
                  <a:srgbClr val="0C62FB"/>
                </a:solidFill>
                <a:latin typeface="Avenir Next LT Pro" pitchFamily="34" charset="0"/>
                <a:ea typeface="Avenir Next LT Pro" pitchFamily="34" charset="-122"/>
                <a:cs typeface="Avenir Next LT Pro" pitchFamily="34" charset="-120"/>
              </a:rPr>
              <a:t>HOW WE CHANGE THE CONVERSATION</a:t>
            </a:r>
            <a:endParaRPr lang="en-US" sz="1200" dirty="0"/>
          </a:p>
        </p:txBody>
      </p:sp>
      <p:sp>
        <p:nvSpPr>
          <p:cNvPr id="3" name="Text 1"/>
          <p:cNvSpPr/>
          <p:nvPr/>
        </p:nvSpPr>
        <p:spPr>
          <a:xfrm>
            <a:off x="548640" y="713232"/>
            <a:ext cx="11064240" cy="1234440"/>
          </a:xfrm>
          <a:prstGeom prst="rect">
            <a:avLst/>
          </a:prstGeom>
          <a:noFill/>
          <a:ln/>
        </p:spPr>
        <p:txBody>
          <a:bodyPr wrap="square" lIns="0" tIns="0" rIns="0" bIns="0" rtlCol="0" anchor="t"/>
          <a:lstStyle/>
          <a:p>
            <a:pPr indent="0" marL="0">
              <a:lnSpc>
                <a:spcPct val="105000"/>
              </a:lnSpc>
              <a:buNone/>
            </a:pPr>
            <a:r>
              <a:rPr lang="en-US" sz="2600" b="1" dirty="0">
                <a:solidFill>
                  <a:srgbClr val="000000"/>
                </a:solidFill>
                <a:latin typeface="Avenir Next LT Pro (Headings)" pitchFamily="34" charset="0"/>
                <a:ea typeface="Avenir Next LT Pro (Headings)" pitchFamily="34" charset="-122"/>
                <a:cs typeface="Avenir Next LT Pro (Headings)" pitchFamily="34" charset="-120"/>
              </a:rPr>
              <a:t>Value becomes the first question in the investment conversation and stays the priority through to business as usual.</a:t>
            </a:r>
            <a:endParaRPr lang="en-US" sz="2600" dirty="0"/>
          </a:p>
        </p:txBody>
      </p:sp>
      <p:sp>
        <p:nvSpPr>
          <p:cNvPr id="4" name="Shape 2"/>
          <p:cNvSpPr/>
          <p:nvPr/>
        </p:nvSpPr>
        <p:spPr>
          <a:xfrm>
            <a:off x="548640" y="2212848"/>
            <a:ext cx="11064240" cy="1600200"/>
          </a:xfrm>
          <a:prstGeom prst="roundRect">
            <a:avLst>
              <a:gd name="adj" fmla="val 3429"/>
            </a:avLst>
          </a:prstGeom>
          <a:solidFill>
            <a:srgbClr val="002FAF"/>
          </a:solidFill>
          <a:ln/>
        </p:spPr>
      </p:sp>
      <p:sp>
        <p:nvSpPr>
          <p:cNvPr id="5" name="Text 3"/>
          <p:cNvSpPr/>
          <p:nvPr/>
        </p:nvSpPr>
        <p:spPr>
          <a:xfrm>
            <a:off x="914400" y="2441448"/>
            <a:ext cx="10332720" cy="274320"/>
          </a:xfrm>
          <a:prstGeom prst="rect">
            <a:avLst/>
          </a:prstGeom>
          <a:noFill/>
          <a:ln/>
        </p:spPr>
        <p:txBody>
          <a:bodyPr wrap="square" lIns="0" tIns="0" rIns="0" bIns="0" rtlCol="0" anchor="ctr"/>
          <a:lstStyle/>
          <a:p>
            <a:pPr indent="0" marL="0">
              <a:buNone/>
            </a:pPr>
            <a:r>
              <a:rPr lang="en-US" sz="1050" b="1" spc="150" kern="0" dirty="0">
                <a:solidFill>
                  <a:srgbClr val="FFFFFF"/>
                </a:solidFill>
                <a:latin typeface="Avenir Next LT Pro" pitchFamily="34" charset="0"/>
                <a:ea typeface="Avenir Next LT Pro" pitchFamily="34" charset="-122"/>
                <a:cs typeface="Avenir Next LT Pro" pitchFamily="34" charset="-120"/>
              </a:rPr>
              <a:t>THE FIRST QUESTION, EVERY TIME</a:t>
            </a:r>
            <a:endParaRPr lang="en-US" sz="1050" dirty="0"/>
          </a:p>
        </p:txBody>
      </p:sp>
      <p:sp>
        <p:nvSpPr>
          <p:cNvPr id="6" name="Text 4"/>
          <p:cNvSpPr/>
          <p:nvPr/>
        </p:nvSpPr>
        <p:spPr>
          <a:xfrm>
            <a:off x="914400" y="2761488"/>
            <a:ext cx="10332720" cy="914400"/>
          </a:xfrm>
          <a:prstGeom prst="rect">
            <a:avLst/>
          </a:prstGeom>
          <a:noFill/>
          <a:ln/>
        </p:spPr>
        <p:txBody>
          <a:bodyPr wrap="square" lIns="0" tIns="0" rIns="0" bIns="0" rtlCol="0" anchor="t"/>
          <a:lstStyle/>
          <a:p>
            <a:pPr indent="0" marL="0">
              <a:lnSpc>
                <a:spcPct val="115000"/>
              </a:lnSpc>
              <a:buNone/>
            </a:pPr>
            <a:r>
              <a:rPr lang="en-US" sz="1700" i="1" dirty="0">
                <a:solidFill>
                  <a:srgbClr val="FFFFFF"/>
                </a:solidFill>
                <a:latin typeface="Avenir Next LT Pro" pitchFamily="34" charset="0"/>
                <a:ea typeface="Avenir Next LT Pro" pitchFamily="34" charset="-122"/>
                <a:cs typeface="Avenir Next LT Pro" pitchFamily="34" charset="-120"/>
              </a:rPr>
              <a:t>What business outcome is this investment truly driving, what must change to achieve it, and how will we prove it occurred?</a:t>
            </a:r>
            <a:endParaRPr lang="en-US" sz="1700" dirty="0"/>
          </a:p>
        </p:txBody>
      </p:sp>
      <p:sp>
        <p:nvSpPr>
          <p:cNvPr id="7" name="Text 5"/>
          <p:cNvSpPr/>
          <p:nvPr/>
        </p:nvSpPr>
        <p:spPr>
          <a:xfrm>
            <a:off x="548640" y="4224528"/>
            <a:ext cx="3474720" cy="274320"/>
          </a:xfrm>
          <a:prstGeom prst="rect">
            <a:avLst/>
          </a:prstGeom>
          <a:noFill/>
          <a:ln/>
        </p:spPr>
        <p:txBody>
          <a:bodyPr wrap="square" lIns="0" tIns="0" rIns="0" bIns="0" rtlCol="0" anchor="ctr"/>
          <a:lstStyle/>
          <a:p>
            <a:pPr indent="0" marL="0">
              <a:buNone/>
            </a:pPr>
            <a:r>
              <a:rPr lang="en-US" sz="1100" b="1" spc="120" kern="0" dirty="0">
                <a:solidFill>
                  <a:srgbClr val="0C62FB"/>
                </a:solidFill>
                <a:latin typeface="Avenir Next LT Pro" pitchFamily="34" charset="0"/>
                <a:ea typeface="Avenir Next LT Pro" pitchFamily="34" charset="-122"/>
                <a:cs typeface="Avenir Next LT Pro" pitchFamily="34" charset="-120"/>
              </a:rPr>
              <a:t>BEFORE INVESTMENT</a:t>
            </a:r>
            <a:endParaRPr lang="en-US" sz="1100" dirty="0"/>
          </a:p>
        </p:txBody>
      </p:sp>
      <p:sp>
        <p:nvSpPr>
          <p:cNvPr id="8" name="Text 6"/>
          <p:cNvSpPr/>
          <p:nvPr/>
        </p:nvSpPr>
        <p:spPr>
          <a:xfrm>
            <a:off x="548640" y="4590288"/>
            <a:ext cx="3474720" cy="1371600"/>
          </a:xfrm>
          <a:prstGeom prst="rect">
            <a:avLst/>
          </a:prstGeom>
          <a:noFill/>
          <a:ln/>
        </p:spPr>
        <p:txBody>
          <a:bodyPr wrap="square" lIns="0" tIns="0" rIns="0" bIns="0" rtlCol="0" anchor="t"/>
          <a:lstStyle/>
          <a:p>
            <a:pPr indent="0" marL="0">
              <a:lnSpc>
                <a:spcPct val="115000"/>
              </a:lnSpc>
              <a:buNone/>
            </a:pPr>
            <a:r>
              <a:rPr lang="en-US" sz="1250" dirty="0">
                <a:solidFill>
                  <a:srgbClr val="000000"/>
                </a:solidFill>
                <a:latin typeface="Avenir Next LT Pro" pitchFamily="34" charset="0"/>
                <a:ea typeface="Avenir Next LT Pro" pitchFamily="34" charset="-122"/>
                <a:cs typeface="Avenir Next LT Pro" pitchFamily="34" charset="-120"/>
              </a:rPr>
              <a:t>The question shapes the case: outcomes, baselines and owners are settled before scope is.</a:t>
            </a:r>
            <a:endParaRPr lang="en-US" sz="1250" dirty="0"/>
          </a:p>
        </p:txBody>
      </p:sp>
      <p:sp>
        <p:nvSpPr>
          <p:cNvPr id="9" name="Text 7"/>
          <p:cNvSpPr/>
          <p:nvPr/>
        </p:nvSpPr>
        <p:spPr>
          <a:xfrm>
            <a:off x="4434840" y="4224528"/>
            <a:ext cx="3474720" cy="274320"/>
          </a:xfrm>
          <a:prstGeom prst="rect">
            <a:avLst/>
          </a:prstGeom>
          <a:noFill/>
          <a:ln/>
        </p:spPr>
        <p:txBody>
          <a:bodyPr wrap="square" lIns="0" tIns="0" rIns="0" bIns="0" rtlCol="0" anchor="ctr"/>
          <a:lstStyle/>
          <a:p>
            <a:pPr indent="0" marL="0">
              <a:buNone/>
            </a:pPr>
            <a:r>
              <a:rPr lang="en-US" sz="1100" b="1" spc="120" kern="0" dirty="0">
                <a:solidFill>
                  <a:srgbClr val="0C62FB"/>
                </a:solidFill>
                <a:latin typeface="Avenir Next LT Pro" pitchFamily="34" charset="0"/>
                <a:ea typeface="Avenir Next LT Pro" pitchFamily="34" charset="-122"/>
                <a:cs typeface="Avenir Next LT Pro" pitchFamily="34" charset="-120"/>
              </a:rPr>
              <a:t>DURING DELIVERY</a:t>
            </a:r>
            <a:endParaRPr lang="en-US" sz="1100" dirty="0"/>
          </a:p>
        </p:txBody>
      </p:sp>
      <p:sp>
        <p:nvSpPr>
          <p:cNvPr id="10" name="Text 8"/>
          <p:cNvSpPr/>
          <p:nvPr/>
        </p:nvSpPr>
        <p:spPr>
          <a:xfrm>
            <a:off x="4434840" y="4590288"/>
            <a:ext cx="3474720" cy="1371600"/>
          </a:xfrm>
          <a:prstGeom prst="rect">
            <a:avLst/>
          </a:prstGeom>
          <a:noFill/>
          <a:ln/>
        </p:spPr>
        <p:txBody>
          <a:bodyPr wrap="square" lIns="0" tIns="0" rIns="0" bIns="0" rtlCol="0" anchor="t"/>
          <a:lstStyle/>
          <a:p>
            <a:pPr indent="0" marL="0">
              <a:lnSpc>
                <a:spcPct val="115000"/>
              </a:lnSpc>
              <a:buNone/>
            </a:pPr>
            <a:r>
              <a:rPr lang="en-US" sz="1250" dirty="0">
                <a:solidFill>
                  <a:srgbClr val="000000"/>
                </a:solidFill>
                <a:latin typeface="Avenir Next LT Pro" pitchFamily="34" charset="0"/>
                <a:ea typeface="Avenir Next LT Pro" pitchFamily="34" charset="-122"/>
                <a:cs typeface="Avenir Next LT Pro" pitchFamily="34" charset="-120"/>
              </a:rPr>
              <a:t>Governance answers it with evidence, and intervenes while the outcome can still be changed.</a:t>
            </a:r>
            <a:endParaRPr lang="en-US" sz="1250" dirty="0"/>
          </a:p>
        </p:txBody>
      </p:sp>
      <p:sp>
        <p:nvSpPr>
          <p:cNvPr id="11" name="Text 9"/>
          <p:cNvSpPr/>
          <p:nvPr/>
        </p:nvSpPr>
        <p:spPr>
          <a:xfrm>
            <a:off x="8321040" y="4224528"/>
            <a:ext cx="3474720" cy="274320"/>
          </a:xfrm>
          <a:prstGeom prst="rect">
            <a:avLst/>
          </a:prstGeom>
          <a:noFill/>
          <a:ln/>
        </p:spPr>
        <p:txBody>
          <a:bodyPr wrap="square" lIns="0" tIns="0" rIns="0" bIns="0" rtlCol="0" anchor="ctr"/>
          <a:lstStyle/>
          <a:p>
            <a:pPr indent="0" marL="0">
              <a:buNone/>
            </a:pPr>
            <a:r>
              <a:rPr lang="en-US" sz="1100" b="1" spc="120" kern="0" dirty="0">
                <a:solidFill>
                  <a:srgbClr val="0C62FB"/>
                </a:solidFill>
                <a:latin typeface="Avenir Next LT Pro" pitchFamily="34" charset="0"/>
                <a:ea typeface="Avenir Next LT Pro" pitchFamily="34" charset="-122"/>
                <a:cs typeface="Avenir Next LT Pro" pitchFamily="34" charset="-120"/>
              </a:rPr>
              <a:t>AFTER GO LIVE</a:t>
            </a:r>
            <a:endParaRPr lang="en-US" sz="1100" dirty="0"/>
          </a:p>
        </p:txBody>
      </p:sp>
      <p:sp>
        <p:nvSpPr>
          <p:cNvPr id="12" name="Text 10"/>
          <p:cNvSpPr/>
          <p:nvPr/>
        </p:nvSpPr>
        <p:spPr>
          <a:xfrm>
            <a:off x="8321040" y="4590288"/>
            <a:ext cx="3474720" cy="1371600"/>
          </a:xfrm>
          <a:prstGeom prst="rect">
            <a:avLst/>
          </a:prstGeom>
          <a:noFill/>
          <a:ln/>
        </p:spPr>
        <p:txBody>
          <a:bodyPr wrap="square" lIns="0" tIns="0" rIns="0" bIns="0" rtlCol="0" anchor="t"/>
          <a:lstStyle/>
          <a:p>
            <a:pPr indent="0" marL="0">
              <a:lnSpc>
                <a:spcPct val="115000"/>
              </a:lnSpc>
              <a:buNone/>
            </a:pPr>
            <a:r>
              <a:rPr lang="en-US" sz="1250" dirty="0">
                <a:solidFill>
                  <a:srgbClr val="000000"/>
                </a:solidFill>
                <a:latin typeface="Avenir Next LT Pro" pitchFamily="34" charset="0"/>
                <a:ea typeface="Avenir Next LT Pro" pitchFamily="34" charset="-122"/>
                <a:cs typeface="Avenir Next LT Pro" pitchFamily="34" charset="-120"/>
              </a:rPr>
              <a:t>The business answers it as its own scorecard; the result is accepted and embedded.</a:t>
            </a:r>
            <a:endParaRPr lang="en-US" sz="1250" dirty="0"/>
          </a:p>
        </p:txBody>
      </p:sp>
      <p:sp>
        <p:nvSpPr>
          <p:cNvPr id="25" name="Slide Number Placeholder 0"/>
          <p:cNvSpPr>
            <a:spLocks noGrp="1"/>
          </p:cNvSpPr>
          <p:nvPr>
            <p:ph type="sldNum" sz="quarter" idx="4294967295"/>
          </p:nvPr>
        </p:nvSpPr>
        <p:spPr>
          <a:xfrm>
            <a:off x="11475720" y="6473952"/>
            <a:ext cx="365760" cy="274320"/>
          </a:xfrm>
          <a:prstGeom prst="rect">
            <a:avLst/>
          </a:prstGeom>
          <a:extLst>
            <a:ext uri="{C572A759-6A51-4108-AA02-DFA0A04FC94B}">
              <ma14:wrappingTextBoxFlag xmlns:ma14="http://schemas.microsoft.com/office/mac/drawingml/2011/main" val="0"/>
            </a:ext>
          </a:extLst>
        </p:spPr>
        <p:txBody>
          <a:bodyPr/>
          <a:lstStyle>
            <a:lvl1pPr>
              <a:defRPr sz="800">
                <a:solidFill>
                  <a:srgbClr val="666666"/>
                </a:solidFill>
                <a:latin typeface="Avenir Next LT Pro"/>
                <a:ea typeface="Avenir Next LT Pro"/>
                <a:cs typeface="Avenir Next LT Pro"/>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indent="0" marL="0">
              <a:buNone/>
            </a:pPr>
            <a:r>
              <a:rPr lang="en-US" sz="1200" b="1" spc="150" kern="0" dirty="0">
                <a:solidFill>
                  <a:srgbClr val="0C62FB"/>
                </a:solidFill>
                <a:latin typeface="Avenir Next LT Pro" pitchFamily="34" charset="0"/>
                <a:ea typeface="Avenir Next LT Pro" pitchFamily="34" charset="-122"/>
                <a:cs typeface="Avenir Next LT Pro" pitchFamily="34" charset="-120"/>
              </a:rPr>
              <a:t>WHAT WE OFFER</a:t>
            </a:r>
            <a:endParaRPr lang="en-US" sz="1200" dirty="0"/>
          </a:p>
        </p:txBody>
      </p:sp>
      <p:sp>
        <p:nvSpPr>
          <p:cNvPr id="3" name="Text 1"/>
          <p:cNvSpPr/>
          <p:nvPr/>
        </p:nvSpPr>
        <p:spPr>
          <a:xfrm>
            <a:off x="548640" y="713232"/>
            <a:ext cx="11064240" cy="1234440"/>
          </a:xfrm>
          <a:prstGeom prst="rect">
            <a:avLst/>
          </a:prstGeom>
          <a:noFill/>
          <a:ln/>
        </p:spPr>
        <p:txBody>
          <a:bodyPr wrap="square" lIns="0" tIns="0" rIns="0" bIns="0" rtlCol="0" anchor="t"/>
          <a:lstStyle/>
          <a:p>
            <a:pPr indent="0" marL="0">
              <a:lnSpc>
                <a:spcPct val="105000"/>
              </a:lnSpc>
              <a:buNone/>
            </a:pPr>
            <a:r>
              <a:rPr lang="en-US" sz="2600" b="1" dirty="0">
                <a:solidFill>
                  <a:srgbClr val="000000"/>
                </a:solidFill>
                <a:latin typeface="Avenir Next LT Pro (Headings)" pitchFamily="34" charset="0"/>
                <a:ea typeface="Avenir Next LT Pro (Headings)" pitchFamily="34" charset="-122"/>
                <a:cs typeface="Avenir Next LT Pro (Headings)" pitchFamily="34" charset="-120"/>
              </a:rPr>
              <a:t>We help clients define value before investing, manage it during delivery and recover it from what is already live.</a:t>
            </a:r>
            <a:endParaRPr lang="en-US" sz="2600" dirty="0"/>
          </a:p>
        </p:txBody>
      </p:sp>
      <p:sp>
        <p:nvSpPr>
          <p:cNvPr id="4" name="Shape 2"/>
          <p:cNvSpPr/>
          <p:nvPr/>
        </p:nvSpPr>
        <p:spPr>
          <a:xfrm>
            <a:off x="548640" y="2240280"/>
            <a:ext cx="3584448" cy="3108960"/>
          </a:xfrm>
          <a:prstGeom prst="roundRect">
            <a:avLst>
              <a:gd name="adj" fmla="val 1765"/>
            </a:avLst>
          </a:prstGeom>
          <a:solidFill>
            <a:srgbClr val="FFFFFF"/>
          </a:solidFill>
          <a:ln w="19050">
            <a:solidFill>
              <a:srgbClr val="E6E6E6"/>
            </a:solidFill>
            <a:prstDash val="solid"/>
          </a:ln>
        </p:spPr>
      </p:sp>
      <p:sp>
        <p:nvSpPr>
          <p:cNvPr id="5" name="Text 3"/>
          <p:cNvSpPr/>
          <p:nvPr/>
        </p:nvSpPr>
        <p:spPr>
          <a:xfrm>
            <a:off x="822960" y="2514600"/>
            <a:ext cx="3063240" cy="274320"/>
          </a:xfrm>
          <a:prstGeom prst="rect">
            <a:avLst/>
          </a:prstGeom>
          <a:noFill/>
          <a:ln/>
        </p:spPr>
        <p:txBody>
          <a:bodyPr wrap="square" lIns="0" tIns="0" rIns="0" bIns="0" rtlCol="0" anchor="ctr"/>
          <a:lstStyle/>
          <a:p>
            <a:pPr indent="0" marL="0">
              <a:buNone/>
            </a:pPr>
            <a:r>
              <a:rPr lang="en-US" sz="1050" b="1" spc="120" kern="0" dirty="0">
                <a:solidFill>
                  <a:srgbClr val="666666"/>
                </a:solidFill>
                <a:latin typeface="Avenir Next LT Pro" pitchFamily="34" charset="0"/>
                <a:ea typeface="Avenir Next LT Pro" pitchFamily="34" charset="-122"/>
                <a:cs typeface="Avenir Next LT Pro" pitchFamily="34" charset="-120"/>
              </a:rPr>
              <a:t>BEFORE INVESTING</a:t>
            </a:r>
            <a:endParaRPr lang="en-US" sz="1050" dirty="0"/>
          </a:p>
        </p:txBody>
      </p:sp>
      <p:sp>
        <p:nvSpPr>
          <p:cNvPr id="6" name="Text 4"/>
          <p:cNvSpPr/>
          <p:nvPr/>
        </p:nvSpPr>
        <p:spPr>
          <a:xfrm>
            <a:off x="822960" y="2834640"/>
            <a:ext cx="3063240" cy="411480"/>
          </a:xfrm>
          <a:prstGeom prst="rect">
            <a:avLst/>
          </a:prstGeom>
          <a:noFill/>
          <a:ln/>
        </p:spPr>
        <p:txBody>
          <a:bodyPr wrap="square" lIns="0" tIns="0" rIns="0" bIns="0" rtlCol="0" anchor="ctr"/>
          <a:lstStyle/>
          <a:p>
            <a:pPr indent="0" marL="0">
              <a:buNone/>
            </a:pPr>
            <a:r>
              <a:rPr lang="en-US" sz="1700" b="1" dirty="0">
                <a:solidFill>
                  <a:srgbClr val="0C62FB"/>
                </a:solidFill>
                <a:latin typeface="Avenir Next LT Pro (Headings)" pitchFamily="34" charset="0"/>
                <a:ea typeface="Avenir Next LT Pro (Headings)" pitchFamily="34" charset="-122"/>
                <a:cs typeface="Avenir Next LT Pro (Headings)" pitchFamily="34" charset="-120"/>
              </a:rPr>
              <a:t>Define value</a:t>
            </a:r>
            <a:endParaRPr lang="en-US" sz="1700" dirty="0"/>
          </a:p>
        </p:txBody>
      </p:sp>
      <p:sp>
        <p:nvSpPr>
          <p:cNvPr id="7" name="Text 5"/>
          <p:cNvSpPr/>
          <p:nvPr/>
        </p:nvSpPr>
        <p:spPr>
          <a:xfrm>
            <a:off x="822960" y="3383280"/>
            <a:ext cx="3063240" cy="1737360"/>
          </a:xfrm>
          <a:prstGeom prst="rect">
            <a:avLst/>
          </a:prstGeom>
          <a:noFill/>
          <a:ln/>
        </p:spPr>
        <p:txBody>
          <a:bodyPr wrap="square" lIns="0" tIns="0" rIns="0" bIns="0" rtlCol="0" anchor="t"/>
          <a:lstStyle/>
          <a:p>
            <a:pPr indent="0" marL="0">
              <a:lnSpc>
                <a:spcPct val="115000"/>
              </a:lnSpc>
              <a:buNone/>
            </a:pPr>
            <a:r>
              <a:rPr lang="en-US" sz="1200" dirty="0">
                <a:solidFill>
                  <a:srgbClr val="000000"/>
                </a:solidFill>
                <a:latin typeface="Avenir Next LT Pro" pitchFamily="34" charset="0"/>
                <a:ea typeface="Avenir Next LT Pro" pitchFamily="34" charset="-122"/>
                <a:cs typeface="Avenir Next LT Pro" pitchFamily="34" charset="-120"/>
              </a:rPr>
              <a:t>Shape or reset the investment case so the outcomes, baselines and owners are set before the funding decision.</a:t>
            </a:r>
            <a:endParaRPr lang="en-US" sz="1200" dirty="0"/>
          </a:p>
        </p:txBody>
      </p:sp>
      <p:sp>
        <p:nvSpPr>
          <p:cNvPr id="8" name="Shape 6"/>
          <p:cNvSpPr/>
          <p:nvPr/>
        </p:nvSpPr>
        <p:spPr>
          <a:xfrm>
            <a:off x="4361688" y="2240280"/>
            <a:ext cx="3584448" cy="3108960"/>
          </a:xfrm>
          <a:prstGeom prst="roundRect">
            <a:avLst>
              <a:gd name="adj" fmla="val 1765"/>
            </a:avLst>
          </a:prstGeom>
          <a:solidFill>
            <a:srgbClr val="FFFFFF"/>
          </a:solidFill>
          <a:ln w="19050">
            <a:solidFill>
              <a:srgbClr val="E6E6E6"/>
            </a:solidFill>
            <a:prstDash val="solid"/>
          </a:ln>
        </p:spPr>
      </p:sp>
      <p:sp>
        <p:nvSpPr>
          <p:cNvPr id="9" name="Text 7"/>
          <p:cNvSpPr/>
          <p:nvPr/>
        </p:nvSpPr>
        <p:spPr>
          <a:xfrm>
            <a:off x="4636008" y="2514600"/>
            <a:ext cx="3063240" cy="274320"/>
          </a:xfrm>
          <a:prstGeom prst="rect">
            <a:avLst/>
          </a:prstGeom>
          <a:noFill/>
          <a:ln/>
        </p:spPr>
        <p:txBody>
          <a:bodyPr wrap="square" lIns="0" tIns="0" rIns="0" bIns="0" rtlCol="0" anchor="ctr"/>
          <a:lstStyle/>
          <a:p>
            <a:pPr indent="0" marL="0">
              <a:buNone/>
            </a:pPr>
            <a:r>
              <a:rPr lang="en-US" sz="1050" b="1" spc="120" kern="0" dirty="0">
                <a:solidFill>
                  <a:srgbClr val="666666"/>
                </a:solidFill>
                <a:latin typeface="Avenir Next LT Pro" pitchFamily="34" charset="0"/>
                <a:ea typeface="Avenir Next LT Pro" pitchFamily="34" charset="-122"/>
                <a:cs typeface="Avenir Next LT Pro" pitchFamily="34" charset="-120"/>
              </a:rPr>
              <a:t>DURING DELIVERY</a:t>
            </a:r>
            <a:endParaRPr lang="en-US" sz="1050" dirty="0"/>
          </a:p>
        </p:txBody>
      </p:sp>
      <p:sp>
        <p:nvSpPr>
          <p:cNvPr id="10" name="Text 8"/>
          <p:cNvSpPr/>
          <p:nvPr/>
        </p:nvSpPr>
        <p:spPr>
          <a:xfrm>
            <a:off x="4636008" y="2834640"/>
            <a:ext cx="3063240" cy="411480"/>
          </a:xfrm>
          <a:prstGeom prst="rect">
            <a:avLst/>
          </a:prstGeom>
          <a:noFill/>
          <a:ln/>
        </p:spPr>
        <p:txBody>
          <a:bodyPr wrap="square" lIns="0" tIns="0" rIns="0" bIns="0" rtlCol="0" anchor="ctr"/>
          <a:lstStyle/>
          <a:p>
            <a:pPr indent="0" marL="0">
              <a:buNone/>
            </a:pPr>
            <a:r>
              <a:rPr lang="en-US" sz="1700" b="1" dirty="0">
                <a:solidFill>
                  <a:srgbClr val="0C62FB"/>
                </a:solidFill>
                <a:latin typeface="Avenir Next LT Pro (Headings)" pitchFamily="34" charset="0"/>
                <a:ea typeface="Avenir Next LT Pro (Headings)" pitchFamily="34" charset="-122"/>
                <a:cs typeface="Avenir Next LT Pro (Headings)" pitchFamily="34" charset="-120"/>
              </a:rPr>
              <a:t>Manage value</a:t>
            </a:r>
            <a:endParaRPr lang="en-US" sz="1700" dirty="0"/>
          </a:p>
        </p:txBody>
      </p:sp>
      <p:sp>
        <p:nvSpPr>
          <p:cNvPr id="11" name="Text 9"/>
          <p:cNvSpPr/>
          <p:nvPr/>
        </p:nvSpPr>
        <p:spPr>
          <a:xfrm>
            <a:off x="4636008" y="3383280"/>
            <a:ext cx="3063240" cy="1737360"/>
          </a:xfrm>
          <a:prstGeom prst="rect">
            <a:avLst/>
          </a:prstGeom>
          <a:noFill/>
          <a:ln/>
        </p:spPr>
        <p:txBody>
          <a:bodyPr wrap="square" lIns="0" tIns="0" rIns="0" bIns="0" rtlCol="0" anchor="t"/>
          <a:lstStyle/>
          <a:p>
            <a:pPr indent="0" marL="0">
              <a:lnSpc>
                <a:spcPct val="115000"/>
              </a:lnSpc>
              <a:buNone/>
            </a:pPr>
            <a:r>
              <a:rPr lang="en-US" sz="1200" dirty="0">
                <a:solidFill>
                  <a:srgbClr val="000000"/>
                </a:solidFill>
                <a:latin typeface="Avenir Next LT Pro" pitchFamily="34" charset="0"/>
                <a:ea typeface="Avenir Next LT Pro" pitchFamily="34" charset="-122"/>
                <a:cs typeface="Avenir Next LT Pro" pitchFamily="34" charset="-120"/>
              </a:rPr>
              <a:t>Run the value discipline through delivery: current evidence, decision making governance and intervention while it matters.</a:t>
            </a:r>
            <a:endParaRPr lang="en-US" sz="1200" dirty="0"/>
          </a:p>
        </p:txBody>
      </p:sp>
      <p:sp>
        <p:nvSpPr>
          <p:cNvPr id="12" name="Shape 10"/>
          <p:cNvSpPr/>
          <p:nvPr/>
        </p:nvSpPr>
        <p:spPr>
          <a:xfrm>
            <a:off x="8174736" y="2240280"/>
            <a:ext cx="3584448" cy="3108960"/>
          </a:xfrm>
          <a:prstGeom prst="roundRect">
            <a:avLst>
              <a:gd name="adj" fmla="val 1765"/>
            </a:avLst>
          </a:prstGeom>
          <a:solidFill>
            <a:srgbClr val="FFFFFF"/>
          </a:solidFill>
          <a:ln w="19050">
            <a:solidFill>
              <a:srgbClr val="E6E6E6"/>
            </a:solidFill>
            <a:prstDash val="solid"/>
          </a:ln>
        </p:spPr>
      </p:sp>
      <p:sp>
        <p:nvSpPr>
          <p:cNvPr id="13" name="Text 11"/>
          <p:cNvSpPr/>
          <p:nvPr/>
        </p:nvSpPr>
        <p:spPr>
          <a:xfrm>
            <a:off x="8449056" y="2514600"/>
            <a:ext cx="3063240" cy="274320"/>
          </a:xfrm>
          <a:prstGeom prst="rect">
            <a:avLst/>
          </a:prstGeom>
          <a:noFill/>
          <a:ln/>
        </p:spPr>
        <p:txBody>
          <a:bodyPr wrap="square" lIns="0" tIns="0" rIns="0" bIns="0" rtlCol="0" anchor="ctr"/>
          <a:lstStyle/>
          <a:p>
            <a:pPr indent="0" marL="0">
              <a:buNone/>
            </a:pPr>
            <a:r>
              <a:rPr lang="en-US" sz="1050" b="1" spc="120" kern="0" dirty="0">
                <a:solidFill>
                  <a:srgbClr val="666666"/>
                </a:solidFill>
                <a:latin typeface="Avenir Next LT Pro" pitchFamily="34" charset="0"/>
                <a:ea typeface="Avenir Next LT Pro" pitchFamily="34" charset="-122"/>
                <a:cs typeface="Avenir Next LT Pro" pitchFamily="34" charset="-120"/>
              </a:rPr>
              <a:t>ALREADY LIVE</a:t>
            </a:r>
            <a:endParaRPr lang="en-US" sz="1050" dirty="0"/>
          </a:p>
        </p:txBody>
      </p:sp>
      <p:sp>
        <p:nvSpPr>
          <p:cNvPr id="14" name="Text 12"/>
          <p:cNvSpPr/>
          <p:nvPr/>
        </p:nvSpPr>
        <p:spPr>
          <a:xfrm>
            <a:off x="8449056" y="2834640"/>
            <a:ext cx="3063240" cy="411480"/>
          </a:xfrm>
          <a:prstGeom prst="rect">
            <a:avLst/>
          </a:prstGeom>
          <a:noFill/>
          <a:ln/>
        </p:spPr>
        <p:txBody>
          <a:bodyPr wrap="square" lIns="0" tIns="0" rIns="0" bIns="0" rtlCol="0" anchor="ctr"/>
          <a:lstStyle/>
          <a:p>
            <a:pPr indent="0" marL="0">
              <a:buNone/>
            </a:pPr>
            <a:r>
              <a:rPr lang="en-US" sz="1700" b="1" dirty="0">
                <a:solidFill>
                  <a:srgbClr val="0C62FB"/>
                </a:solidFill>
                <a:latin typeface="Avenir Next LT Pro (Headings)" pitchFamily="34" charset="0"/>
                <a:ea typeface="Avenir Next LT Pro (Headings)" pitchFamily="34" charset="-122"/>
                <a:cs typeface="Avenir Next LT Pro (Headings)" pitchFamily="34" charset="-120"/>
              </a:rPr>
              <a:t>Recover value</a:t>
            </a:r>
            <a:endParaRPr lang="en-US" sz="1700" dirty="0"/>
          </a:p>
        </p:txBody>
      </p:sp>
      <p:sp>
        <p:nvSpPr>
          <p:cNvPr id="15" name="Text 13"/>
          <p:cNvSpPr/>
          <p:nvPr/>
        </p:nvSpPr>
        <p:spPr>
          <a:xfrm>
            <a:off x="8449056" y="3383280"/>
            <a:ext cx="3063240" cy="1737360"/>
          </a:xfrm>
          <a:prstGeom prst="rect">
            <a:avLst/>
          </a:prstGeom>
          <a:noFill/>
          <a:ln/>
        </p:spPr>
        <p:txBody>
          <a:bodyPr wrap="square" lIns="0" tIns="0" rIns="0" bIns="0" rtlCol="0" anchor="t"/>
          <a:lstStyle/>
          <a:p>
            <a:pPr indent="0" marL="0">
              <a:lnSpc>
                <a:spcPct val="115000"/>
              </a:lnSpc>
              <a:buNone/>
            </a:pPr>
            <a:r>
              <a:rPr lang="en-US" sz="1200" dirty="0">
                <a:solidFill>
                  <a:srgbClr val="000000"/>
                </a:solidFill>
                <a:latin typeface="Avenir Next LT Pro" pitchFamily="34" charset="0"/>
                <a:ea typeface="Avenir Next LT Pro" pitchFamily="34" charset="-122"/>
                <a:cs typeface="Avenir Next LT Pro" pitchFamily="34" charset="-120"/>
              </a:rPr>
              <a:t>Find the value sitting unrealised in the platforms and programmes the client already owns, and release it.</a:t>
            </a:r>
            <a:endParaRPr lang="en-US" sz="1200" dirty="0"/>
          </a:p>
        </p:txBody>
      </p:sp>
      <p:sp>
        <p:nvSpPr>
          <p:cNvPr id="16" name="Text 14"/>
          <p:cNvSpPr/>
          <p:nvPr/>
        </p:nvSpPr>
        <p:spPr>
          <a:xfrm>
            <a:off x="548640" y="5623560"/>
            <a:ext cx="11064240" cy="411480"/>
          </a:xfrm>
          <a:prstGeom prst="rect">
            <a:avLst/>
          </a:prstGeom>
          <a:noFill/>
          <a:ln/>
        </p:spPr>
        <p:txBody>
          <a:bodyPr wrap="square" lIns="0" tIns="0" rIns="0" bIns="0" rtlCol="0" anchor="ctr"/>
          <a:lstStyle/>
          <a:p>
            <a:pPr indent="0" marL="0">
              <a:buNone/>
            </a:pPr>
            <a:r>
              <a:rPr lang="en-US" sz="1200" i="1" dirty="0">
                <a:solidFill>
                  <a:srgbClr val="666666"/>
                </a:solidFill>
                <a:latin typeface="Avenir Next LT Pro" pitchFamily="34" charset="0"/>
                <a:ea typeface="Avenir Next LT Pro" pitchFamily="34" charset="-122"/>
                <a:cs typeface="Avenir Next LT Pro" pitchFamily="34" charset="-120"/>
              </a:rPr>
              <a:t>This strengthens the work Slalom already performs; every proposal, every gate and every renewal is an entry point.</a:t>
            </a:r>
            <a:endParaRPr lang="en-US" sz="1200" dirty="0"/>
          </a:p>
        </p:txBody>
      </p:sp>
      <p:sp>
        <p:nvSpPr>
          <p:cNvPr id="25" name="Slide Number Placeholder 0"/>
          <p:cNvSpPr>
            <a:spLocks noGrp="1"/>
          </p:cNvSpPr>
          <p:nvPr>
            <p:ph type="sldNum" sz="quarter" idx="4294967295"/>
          </p:nvPr>
        </p:nvSpPr>
        <p:spPr>
          <a:xfrm>
            <a:off x="11475720" y="6473952"/>
            <a:ext cx="365760" cy="274320"/>
          </a:xfrm>
          <a:prstGeom prst="rect">
            <a:avLst/>
          </a:prstGeom>
          <a:extLst>
            <a:ext uri="{C572A759-6A51-4108-AA02-DFA0A04FC94B}">
              <ma14:wrappingTextBoxFlag xmlns:ma14="http://schemas.microsoft.com/office/mac/drawingml/2011/main" val="0"/>
            </a:ext>
          </a:extLst>
        </p:spPr>
        <p:txBody>
          <a:bodyPr/>
          <a:lstStyle>
            <a:lvl1pPr>
              <a:defRPr sz="800">
                <a:solidFill>
                  <a:srgbClr val="666666"/>
                </a:solidFill>
                <a:latin typeface="Avenir Next LT Pro"/>
                <a:ea typeface="Avenir Next LT Pro"/>
                <a:cs typeface="Avenir Next LT Pro"/>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384048"/>
            <a:ext cx="11064240" cy="274320"/>
          </a:xfrm>
          <a:prstGeom prst="rect">
            <a:avLst/>
          </a:prstGeom>
          <a:noFill/>
          <a:ln/>
        </p:spPr>
        <p:txBody>
          <a:bodyPr wrap="square" lIns="0" tIns="0" rIns="0" bIns="0" rtlCol="0" anchor="ctr"/>
          <a:lstStyle/>
          <a:p>
            <a:pPr indent="0" marL="0">
              <a:buNone/>
            </a:pPr>
            <a:r>
              <a:rPr lang="en-US" sz="1200" b="1" spc="150" kern="0" dirty="0">
                <a:solidFill>
                  <a:srgbClr val="0C62FB"/>
                </a:solidFill>
                <a:latin typeface="Avenir Next LT Pro" pitchFamily="34" charset="0"/>
                <a:ea typeface="Avenir Next LT Pro" pitchFamily="34" charset="-122"/>
                <a:cs typeface="Avenir Next LT Pro" pitchFamily="34" charset="-120"/>
              </a:rPr>
              <a:t>HOW WE TAKE IT TO MARKET</a:t>
            </a:r>
            <a:endParaRPr lang="en-US" sz="1200" dirty="0"/>
          </a:p>
        </p:txBody>
      </p:sp>
      <p:sp>
        <p:nvSpPr>
          <p:cNvPr id="3" name="Text 1"/>
          <p:cNvSpPr/>
          <p:nvPr/>
        </p:nvSpPr>
        <p:spPr>
          <a:xfrm>
            <a:off x="548640" y="713232"/>
            <a:ext cx="11064240" cy="640080"/>
          </a:xfrm>
          <a:prstGeom prst="rect">
            <a:avLst/>
          </a:prstGeom>
          <a:noFill/>
          <a:ln/>
        </p:spPr>
        <p:txBody>
          <a:bodyPr wrap="square" lIns="0" tIns="0" rIns="0" bIns="0" rtlCol="0" anchor="t"/>
          <a:lstStyle/>
          <a:p>
            <a:pPr indent="0" marL="0">
              <a:lnSpc>
                <a:spcPct val="105000"/>
              </a:lnSpc>
              <a:buNone/>
            </a:pPr>
            <a:r>
              <a:rPr lang="en-US" sz="2600" b="1" dirty="0">
                <a:solidFill>
                  <a:srgbClr val="000000"/>
                </a:solidFill>
                <a:latin typeface="Avenir Next LT Pro (Headings)" pitchFamily="34" charset="0"/>
                <a:ea typeface="Avenir Next LT Pro (Headings)" pitchFamily="34" charset="-122"/>
                <a:cs typeface="Avenir Next LT Pro (Headings)" pitchFamily="34" charset="-120"/>
              </a:rPr>
              <a:t>Start with one live investment, prove it with a focused Value Review, then expand on the evidence.</a:t>
            </a:r>
            <a:endParaRPr lang="en-US" sz="2600" dirty="0"/>
          </a:p>
        </p:txBody>
      </p:sp>
      <p:sp>
        <p:nvSpPr>
          <p:cNvPr id="4" name="Shape 2"/>
          <p:cNvSpPr/>
          <p:nvPr/>
        </p:nvSpPr>
        <p:spPr>
          <a:xfrm>
            <a:off x="548640" y="1874520"/>
            <a:ext cx="3474720" cy="2834640"/>
          </a:xfrm>
          <a:prstGeom prst="roundRect">
            <a:avLst>
              <a:gd name="adj" fmla="val 1613"/>
            </a:avLst>
          </a:prstGeom>
          <a:solidFill>
            <a:srgbClr val="E6E6E6"/>
          </a:solidFill>
          <a:ln/>
        </p:spPr>
      </p:sp>
      <p:sp>
        <p:nvSpPr>
          <p:cNvPr id="5" name="Text 3"/>
          <p:cNvSpPr/>
          <p:nvPr/>
        </p:nvSpPr>
        <p:spPr>
          <a:xfrm>
            <a:off x="804672" y="2121408"/>
            <a:ext cx="2971800" cy="274320"/>
          </a:xfrm>
          <a:prstGeom prst="rect">
            <a:avLst/>
          </a:prstGeom>
          <a:noFill/>
          <a:ln/>
        </p:spPr>
        <p:txBody>
          <a:bodyPr wrap="square" lIns="0" tIns="0" rIns="0" bIns="0" rtlCol="0" anchor="ctr"/>
          <a:lstStyle/>
          <a:p>
            <a:pPr indent="0" marL="0">
              <a:buNone/>
            </a:pPr>
            <a:r>
              <a:rPr lang="en-US" sz="1100" b="1" spc="120" kern="0" dirty="0">
                <a:solidFill>
                  <a:srgbClr val="0C62FB"/>
                </a:solidFill>
                <a:latin typeface="Avenir Next LT Pro" pitchFamily="34" charset="0"/>
                <a:ea typeface="Avenir Next LT Pro" pitchFamily="34" charset="-122"/>
                <a:cs typeface="Avenir Next LT Pro" pitchFamily="34" charset="-120"/>
              </a:rPr>
              <a:t>WHERE WE START</a:t>
            </a:r>
            <a:endParaRPr lang="en-US" sz="1100" dirty="0"/>
          </a:p>
        </p:txBody>
      </p:sp>
      <p:sp>
        <p:nvSpPr>
          <p:cNvPr id="6" name="Text 4"/>
          <p:cNvSpPr/>
          <p:nvPr/>
        </p:nvSpPr>
        <p:spPr>
          <a:xfrm>
            <a:off x="804672" y="2514600"/>
            <a:ext cx="2971800" cy="2011680"/>
          </a:xfrm>
          <a:prstGeom prst="rect">
            <a:avLst/>
          </a:prstGeom>
          <a:noFill/>
          <a:ln/>
        </p:spPr>
        <p:txBody>
          <a:bodyPr wrap="square" lIns="0" tIns="0" rIns="0" bIns="0" rtlCol="0" anchor="t"/>
          <a:lstStyle/>
          <a:p>
            <a:pPr indent="0" marL="0">
              <a:lnSpc>
                <a:spcPct val="115000"/>
              </a:lnSpc>
              <a:buNone/>
            </a:pPr>
            <a:r>
              <a:rPr lang="en-US" sz="1250" dirty="0">
                <a:solidFill>
                  <a:srgbClr val="000000"/>
                </a:solidFill>
                <a:latin typeface="Avenir Next LT Pro" pitchFamily="34" charset="0"/>
                <a:ea typeface="Avenir Next LT Pro" pitchFamily="34" charset="-122"/>
                <a:cs typeface="Avenir Next LT Pro" pitchFamily="34" charset="-120"/>
              </a:rPr>
              <a:t>One live investment where the client cannot confidently explain the intended outcome, or whether it is being realised.</a:t>
            </a:r>
            <a:endParaRPr lang="en-US" sz="1250" dirty="0"/>
          </a:p>
        </p:txBody>
      </p:sp>
      <p:sp>
        <p:nvSpPr>
          <p:cNvPr id="7" name="Text 5"/>
          <p:cNvSpPr/>
          <p:nvPr/>
        </p:nvSpPr>
        <p:spPr>
          <a:xfrm>
            <a:off x="4041648" y="3017520"/>
            <a:ext cx="384048" cy="411480"/>
          </a:xfrm>
          <a:prstGeom prst="rect">
            <a:avLst/>
          </a:prstGeom>
          <a:noFill/>
          <a:ln/>
        </p:spPr>
        <p:txBody>
          <a:bodyPr wrap="square" lIns="0" tIns="0" rIns="0" bIns="0" rtlCol="0" anchor="ctr"/>
          <a:lstStyle/>
          <a:p>
            <a:pPr algn="ctr" indent="0" marL="0">
              <a:buNone/>
            </a:pPr>
            <a:r>
              <a:rPr lang="en-US" sz="2000" dirty="0">
                <a:solidFill>
                  <a:srgbClr val="666666"/>
                </a:solidFill>
                <a:latin typeface="Avenir Next LT Pro" pitchFamily="34" charset="0"/>
                <a:ea typeface="Avenir Next LT Pro" pitchFamily="34" charset="-122"/>
                <a:cs typeface="Avenir Next LT Pro" pitchFamily="34" charset="-120"/>
              </a:rPr>
              <a:t>→</a:t>
            </a:r>
            <a:endParaRPr lang="en-US" sz="2000" dirty="0"/>
          </a:p>
        </p:txBody>
      </p:sp>
      <p:sp>
        <p:nvSpPr>
          <p:cNvPr id="8" name="Shape 6"/>
          <p:cNvSpPr/>
          <p:nvPr/>
        </p:nvSpPr>
        <p:spPr>
          <a:xfrm>
            <a:off x="4434840" y="1874520"/>
            <a:ext cx="3474720" cy="2834640"/>
          </a:xfrm>
          <a:prstGeom prst="roundRect">
            <a:avLst>
              <a:gd name="adj" fmla="val 1613"/>
            </a:avLst>
          </a:prstGeom>
          <a:solidFill>
            <a:srgbClr val="E6E6E6"/>
          </a:solidFill>
          <a:ln/>
        </p:spPr>
      </p:sp>
      <p:sp>
        <p:nvSpPr>
          <p:cNvPr id="9" name="Text 7"/>
          <p:cNvSpPr/>
          <p:nvPr/>
        </p:nvSpPr>
        <p:spPr>
          <a:xfrm>
            <a:off x="4690872" y="2121408"/>
            <a:ext cx="2971800" cy="274320"/>
          </a:xfrm>
          <a:prstGeom prst="rect">
            <a:avLst/>
          </a:prstGeom>
          <a:noFill/>
          <a:ln/>
        </p:spPr>
        <p:txBody>
          <a:bodyPr wrap="square" lIns="0" tIns="0" rIns="0" bIns="0" rtlCol="0" anchor="ctr"/>
          <a:lstStyle/>
          <a:p>
            <a:pPr indent="0" marL="0">
              <a:buNone/>
            </a:pPr>
            <a:r>
              <a:rPr lang="en-US" sz="1100" b="1" spc="120" kern="0" dirty="0">
                <a:solidFill>
                  <a:srgbClr val="0C62FB"/>
                </a:solidFill>
                <a:latin typeface="Avenir Next LT Pro" pitchFamily="34" charset="0"/>
                <a:ea typeface="Avenir Next LT Pro" pitchFamily="34" charset="-122"/>
                <a:cs typeface="Avenir Next LT Pro" pitchFamily="34" charset="-120"/>
              </a:rPr>
              <a:t>THE VALUE REVIEW</a:t>
            </a:r>
            <a:endParaRPr lang="en-US" sz="1100" dirty="0"/>
          </a:p>
        </p:txBody>
      </p:sp>
      <p:sp>
        <p:nvSpPr>
          <p:cNvPr id="10" name="Text 8"/>
          <p:cNvSpPr/>
          <p:nvPr/>
        </p:nvSpPr>
        <p:spPr>
          <a:xfrm>
            <a:off x="4690872" y="2514600"/>
            <a:ext cx="2971800" cy="2011680"/>
          </a:xfrm>
          <a:prstGeom prst="rect">
            <a:avLst/>
          </a:prstGeom>
          <a:noFill/>
          <a:ln/>
        </p:spPr>
        <p:txBody>
          <a:bodyPr wrap="square" lIns="0" tIns="0" rIns="0" bIns="0" rtlCol="0" anchor="t"/>
          <a:lstStyle/>
          <a:p>
            <a:pPr indent="0" marL="0">
              <a:lnSpc>
                <a:spcPct val="115000"/>
              </a:lnSpc>
              <a:buNone/>
            </a:pPr>
            <a:r>
              <a:rPr lang="en-US" sz="1250" dirty="0">
                <a:solidFill>
                  <a:srgbClr val="000000"/>
                </a:solidFill>
                <a:latin typeface="Avenir Next LT Pro" pitchFamily="34" charset="0"/>
                <a:ea typeface="Avenir Next LT Pro" pitchFamily="34" charset="-122"/>
                <a:cs typeface="Avenir Next LT Pro" pitchFamily="34" charset="-120"/>
              </a:rPr>
              <a:t>A focused review of that single investment. It returns the outcome defined and baselined, an independent view of whether value is being realised, and the next decision.</a:t>
            </a:r>
            <a:endParaRPr lang="en-US" sz="1250" dirty="0"/>
          </a:p>
        </p:txBody>
      </p:sp>
      <p:sp>
        <p:nvSpPr>
          <p:cNvPr id="11" name="Text 9"/>
          <p:cNvSpPr/>
          <p:nvPr/>
        </p:nvSpPr>
        <p:spPr>
          <a:xfrm>
            <a:off x="7927848" y="3017520"/>
            <a:ext cx="384048" cy="411480"/>
          </a:xfrm>
          <a:prstGeom prst="rect">
            <a:avLst/>
          </a:prstGeom>
          <a:noFill/>
          <a:ln/>
        </p:spPr>
        <p:txBody>
          <a:bodyPr wrap="square" lIns="0" tIns="0" rIns="0" bIns="0" rtlCol="0" anchor="ctr"/>
          <a:lstStyle/>
          <a:p>
            <a:pPr algn="ctr" indent="0" marL="0">
              <a:buNone/>
            </a:pPr>
            <a:r>
              <a:rPr lang="en-US" sz="2000" dirty="0">
                <a:solidFill>
                  <a:srgbClr val="666666"/>
                </a:solidFill>
                <a:latin typeface="Avenir Next LT Pro" pitchFamily="34" charset="0"/>
                <a:ea typeface="Avenir Next LT Pro" pitchFamily="34" charset="-122"/>
                <a:cs typeface="Avenir Next LT Pro" pitchFamily="34" charset="-120"/>
              </a:rPr>
              <a:t>→</a:t>
            </a:r>
            <a:endParaRPr lang="en-US" sz="2000" dirty="0"/>
          </a:p>
        </p:txBody>
      </p:sp>
      <p:sp>
        <p:nvSpPr>
          <p:cNvPr id="12" name="Shape 10"/>
          <p:cNvSpPr/>
          <p:nvPr/>
        </p:nvSpPr>
        <p:spPr>
          <a:xfrm>
            <a:off x="8321040" y="1874520"/>
            <a:ext cx="3474720" cy="2834640"/>
          </a:xfrm>
          <a:prstGeom prst="roundRect">
            <a:avLst>
              <a:gd name="adj" fmla="val 1613"/>
            </a:avLst>
          </a:prstGeom>
          <a:solidFill>
            <a:srgbClr val="E6E6E6"/>
          </a:solidFill>
          <a:ln/>
        </p:spPr>
      </p:sp>
      <p:sp>
        <p:nvSpPr>
          <p:cNvPr id="13" name="Text 11"/>
          <p:cNvSpPr/>
          <p:nvPr/>
        </p:nvSpPr>
        <p:spPr>
          <a:xfrm>
            <a:off x="8577072" y="2121408"/>
            <a:ext cx="2971800" cy="274320"/>
          </a:xfrm>
          <a:prstGeom prst="rect">
            <a:avLst/>
          </a:prstGeom>
          <a:noFill/>
          <a:ln/>
        </p:spPr>
        <p:txBody>
          <a:bodyPr wrap="square" lIns="0" tIns="0" rIns="0" bIns="0" rtlCol="0" anchor="ctr"/>
          <a:lstStyle/>
          <a:p>
            <a:pPr indent="0" marL="0">
              <a:buNone/>
            </a:pPr>
            <a:r>
              <a:rPr lang="en-US" sz="1100" b="1" spc="120" kern="0" dirty="0">
                <a:solidFill>
                  <a:srgbClr val="0C62FB"/>
                </a:solidFill>
                <a:latin typeface="Avenir Next LT Pro" pitchFamily="34" charset="0"/>
                <a:ea typeface="Avenir Next LT Pro" pitchFamily="34" charset="-122"/>
                <a:cs typeface="Avenir Next LT Pro" pitchFamily="34" charset="-120"/>
              </a:rPr>
              <a:t>THEN EXPAND</a:t>
            </a:r>
            <a:endParaRPr lang="en-US" sz="1100" dirty="0"/>
          </a:p>
        </p:txBody>
      </p:sp>
      <p:sp>
        <p:nvSpPr>
          <p:cNvPr id="14" name="Text 12"/>
          <p:cNvSpPr/>
          <p:nvPr/>
        </p:nvSpPr>
        <p:spPr>
          <a:xfrm>
            <a:off x="8577072" y="2514600"/>
            <a:ext cx="2971800" cy="2011680"/>
          </a:xfrm>
          <a:prstGeom prst="rect">
            <a:avLst/>
          </a:prstGeom>
          <a:noFill/>
          <a:ln/>
        </p:spPr>
        <p:txBody>
          <a:bodyPr wrap="square" lIns="0" tIns="0" rIns="0" bIns="0" rtlCol="0" anchor="t"/>
          <a:lstStyle/>
          <a:p>
            <a:pPr indent="0" marL="0">
              <a:lnSpc>
                <a:spcPct val="115000"/>
              </a:lnSpc>
              <a:buNone/>
            </a:pPr>
            <a:r>
              <a:rPr lang="en-US" sz="1250" dirty="0">
                <a:solidFill>
                  <a:srgbClr val="000000"/>
                </a:solidFill>
                <a:latin typeface="Avenir Next LT Pro" pitchFamily="34" charset="0"/>
                <a:ea typeface="Avenir Next LT Pro" pitchFamily="34" charset="-122"/>
                <a:cs typeface="Avenir Next LT Pro" pitchFamily="34" charset="-120"/>
              </a:rPr>
              <a:t>Into define, manage or recover, following what the evidence shows rather than what the proposal hoped.</a:t>
            </a:r>
            <a:endParaRPr lang="en-US" sz="1250" dirty="0"/>
          </a:p>
        </p:txBody>
      </p:sp>
      <p:sp>
        <p:nvSpPr>
          <p:cNvPr id="15" name="Shape 13"/>
          <p:cNvSpPr/>
          <p:nvPr/>
        </p:nvSpPr>
        <p:spPr>
          <a:xfrm>
            <a:off x="548640" y="5074920"/>
            <a:ext cx="11064240" cy="914400"/>
          </a:xfrm>
          <a:prstGeom prst="roundRect">
            <a:avLst>
              <a:gd name="adj" fmla="val 5000"/>
            </a:avLst>
          </a:prstGeom>
          <a:solidFill>
            <a:srgbClr val="002FAF"/>
          </a:solidFill>
          <a:ln/>
        </p:spPr>
      </p:sp>
      <p:sp>
        <p:nvSpPr>
          <p:cNvPr id="16" name="Text 14"/>
          <p:cNvSpPr/>
          <p:nvPr/>
        </p:nvSpPr>
        <p:spPr>
          <a:xfrm>
            <a:off x="868680" y="5257800"/>
            <a:ext cx="10424160" cy="548640"/>
          </a:xfrm>
          <a:prstGeom prst="rect">
            <a:avLst/>
          </a:prstGeom>
          <a:noFill/>
          <a:ln/>
        </p:spPr>
        <p:txBody>
          <a:bodyPr wrap="square" lIns="0" tIns="0" rIns="0" bIns="0" rtlCol="0" anchor="t"/>
          <a:lstStyle/>
          <a:p>
            <a:pPr indent="0" marL="0">
              <a:buNone/>
            </a:pPr>
            <a:r>
              <a:rPr lang="en-US" sz="1500" b="1" dirty="0">
                <a:solidFill>
                  <a:srgbClr val="FFFFFF"/>
                </a:solidFill>
                <a:latin typeface="Avenir Next LT Pro" pitchFamily="34" charset="0"/>
                <a:ea typeface="Avenir Next LT Pro" pitchFamily="34" charset="-122"/>
                <a:cs typeface="Avenir Next LT Pro" pitchFamily="34" charset="-120"/>
              </a:rPr>
              <a:t>That question is the client conversation. Define, manage and prove is the practice.</a:t>
            </a:r>
            <a:endParaRPr lang="en-US" sz="1500" dirty="0"/>
          </a:p>
        </p:txBody>
      </p:sp>
      <p:sp>
        <p:nvSpPr>
          <p:cNvPr id="25" name="Slide Number Placeholder 0"/>
          <p:cNvSpPr>
            <a:spLocks noGrp="1"/>
          </p:cNvSpPr>
          <p:nvPr>
            <p:ph type="sldNum" sz="quarter" idx="4294967295"/>
          </p:nvPr>
        </p:nvSpPr>
        <p:spPr>
          <a:xfrm>
            <a:off x="11475720" y="6473952"/>
            <a:ext cx="365760" cy="274320"/>
          </a:xfrm>
          <a:prstGeom prst="rect">
            <a:avLst/>
          </a:prstGeom>
          <a:extLst>
            <a:ext uri="{C572A759-6A51-4108-AA02-DFA0A04FC94B}">
              <ma14:wrappingTextBoxFlag xmlns:ma14="http://schemas.microsoft.com/office/mac/drawingml/2011/main" val="0"/>
            </a:ext>
          </a:extLst>
        </p:spPr>
        <p:txBody>
          <a:bodyPr/>
          <a:lstStyle>
            <a:lvl1pPr>
              <a:defRPr sz="800">
                <a:solidFill>
                  <a:srgbClr val="666666"/>
                </a:solidFill>
                <a:latin typeface="Avenir Next LT Pro"/>
                <a:ea typeface="Avenir Next LT Pro"/>
                <a:cs typeface="Avenir Next LT Pro"/>
              </a:defRPr>
            </a:lvl1pPr>
          </a:lstStyle>
          <a:p>
            <a:pPr algn="l"/>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2026-08-20T07:32:43Z</dcterms:created>
  <dcterms:modified xsi:type="dcterms:W3CDTF">2026-08-20T07:32:43Z</dcterms:modified>
</cp:coreProperties>
</file>